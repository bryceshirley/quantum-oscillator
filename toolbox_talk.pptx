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7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647"/>
  </p:normalViewPr>
  <p:slideViewPr>
    <p:cSldViewPr snapToGrid="0">
      <p:cViewPr varScale="1">
        <p:scale>
          <a:sx n="149" d="100"/>
          <a:sy n="149" d="100"/>
        </p:scale>
        <p:origin x="19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39B283-0B1B-924B-8E2B-092496D70CE9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133767-D30A-024A-832D-68D048F69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926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3E53-89CB-E0CB-0EEE-D5778C4A3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53A63-2753-633E-3813-5F2370603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C635F-D551-0A66-6900-70E9F585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B3F2C-FD75-7544-3EC0-9BA0D1DE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9A404-5687-A32B-F1A3-DB4A979F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47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2A52-F8C8-344C-654A-377C4FDF7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D5199-BB58-C9CF-DA50-92A87373D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61416-558D-CBBB-C1D4-BD28B9B9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7BDC2-E59C-95DA-FDD7-0EC129E30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4802-F78D-3CCF-6720-0804B0DB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132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E850C-48BD-EDA5-86F7-488EC4454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FB983-E97D-E0BE-A635-2AC05B1C2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AE9EF-39E8-4B6C-EB2B-3B9E8AAB2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779D1-F6A7-0A3B-D35A-437C14C04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F78E-682E-A515-AB82-9010F4F1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75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B2404-7DA8-2737-312A-E76083EF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1D5D6-DD53-2959-D1EB-E4C95F3FE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4D9B5-26CD-E9F3-E65F-8E3E0FDB9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F28B3-2E0C-962F-729B-EF4109655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56E8F-6ECB-1A07-3F23-214449DB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1782D-9999-24FF-3A80-53B67F33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86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6AF86-7899-E5A8-AD21-A7107A251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1BC60-98B2-5547-47FC-33948741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2CEA-61FA-30DA-312E-2DE9E3736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812169-8BA8-E85C-234B-8345ADE67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7F217-037E-BA90-02D6-7A949BE6B0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C8FA26-0BD4-E63A-2806-A91ACFC0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84BF77-E57C-04FF-1880-49772D80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79B07B-28F4-A87F-F217-EFE440461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88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F5DC-F084-C79B-4B17-0E34838BB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5BCFC-4B8B-9BA6-83A2-B4CA80A00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FBE76-4D19-CF1F-67B0-76A1B3FA9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7836E3-8938-268A-44C6-8AC3332FA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80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57E7EC-1F2F-BC34-B0AA-D9DE8AC26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C0DB9-3F3A-6FC3-806C-10036237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E147F-F5A0-A455-C19A-2AE8897B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6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612E1-3E38-EAC1-621D-44FC57716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76B83-2F47-7F77-DC2B-267F708A1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200A6-0EB3-12BC-6EF2-C4B08FAC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D58BE-D822-C292-A001-C51C46762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832F6-4022-B959-7489-5D4B33B4C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D3CFD-D6F0-3958-0FF3-07558429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55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B40A-CFB9-CE77-8B89-18CCE9204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5B4C64-7EE0-5DC5-B177-AC59D6F78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A92B-3E03-B07E-2A22-15C3235FE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21C2E6-ED10-C2E1-A4D0-822C461EF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EEDB9-199C-6F8C-94E1-4E1AC2B5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E76E9-2D43-E8B7-3041-841B32CA7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49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8D2D8-9621-110B-D005-85277E417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76DD0-2ABD-362B-C764-BA6B692BE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9F3A4-5039-EF5E-E195-4EADBCBF5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38DF7-46D7-A510-E65A-C89C2B973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6B196-56DD-DF14-4B93-EA6DA2E2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95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9C1146-F0C9-99B5-AC65-341A71DD8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F8E42-F646-52BF-12E8-E568A9FF3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8CB28-5E4F-A7C7-E59D-46F44E8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CBD88-9F45-83D0-F218-9CBDDCA7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E25E4-468F-6293-DCEE-4F2FEC4C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663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2AF801-4DC4-C3DC-853F-52175AF9B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27CC6-D265-9E0B-803E-CFD42999E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9B98A-2163-E176-A6C9-EA361335C1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CF1B5-424D-5069-8C6E-54BCDC6B7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C9C0C-E460-346D-39BC-825758D23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371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6.png"/><Relationship Id="rId5" Type="http://schemas.openxmlformats.org/officeDocument/2006/relationships/image" Target="../media/image12.png"/><Relationship Id="rId10" Type="http://schemas.openxmlformats.org/officeDocument/2006/relationships/image" Target="../media/image5.png"/><Relationship Id="rId4" Type="http://schemas.openxmlformats.org/officeDocument/2006/relationships/image" Target="../media/image11.png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2F4D2-693E-76F3-CB7C-AE1190FD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Useful python tools for building a quantum harmonic oscillator to turn an image upside down and back up again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92A549-05C5-DFCB-F114-BBA0C95312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74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AC51-9611-53EB-AF10-BD063A699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Goal: turn Schrödinger’s horse upside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/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/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/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DE1249F8-B1C3-CC7F-A962-7E3E003B9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880" y="2358559"/>
            <a:ext cx="2989559" cy="28458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24B12C-1FE2-17D1-7B84-AF45E878B6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58"/>
          <a:stretch>
            <a:fillRect/>
          </a:stretch>
        </p:blipFill>
        <p:spPr>
          <a:xfrm>
            <a:off x="4541827" y="2358559"/>
            <a:ext cx="2880699" cy="2845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7B3DA65-DEF4-8C63-732E-741E18D24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97" y="2358559"/>
            <a:ext cx="2989559" cy="2845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532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FAFA5-0D5C-7F16-97F9-736EAF6B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AF665-E019-CF05-5B63-82D899581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Schrödinger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Solving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defined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ˆ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real potential (depends on position) defined by the infinite well 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kinetic operator (depends on momentum)  defined by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initial state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(=🐴)</m:t>
                      </m:r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US" dirty="0"/>
                  <a:t>and periodic boundary conditions,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4"/>
                <a:stretch>
                  <a:fillRect l="-241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3d_well_sim_cat_state.mp4">
            <a:hlinkClick r:id="" action="ppaction://media"/>
            <a:extLst>
              <a:ext uri="{FF2B5EF4-FFF2-40B4-BE49-F238E27FC236}">
                <a16:creationId xmlns:a16="http://schemas.microsoft.com/office/drawing/2014/main" id="{9A3A72CD-5CE1-A0EB-CBE9-583A46C7F7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05800" y="2209800"/>
            <a:ext cx="30480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24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8B6D5-43E9-23E1-16D3-037EA672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9F65-45A9-F9EF-0C68-5CA1B69FE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Equation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Verification</a:t>
                </a:r>
              </a:p>
              <a:p>
                <a:pPr marL="0" indent="0">
                  <a:buNone/>
                </a:pPr>
                <a:r>
                  <a:rPr lang="en-US" dirty="0"/>
                  <a:t>LHS: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RHS: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5473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393BE-AE1C-AB60-49D4-C340947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E5CD-7444-EC2A-E486-842727A5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equations: A rotation in phase space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4D9A7-F117-5675-648B-4BE2ED9C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7864" y="1800912"/>
            <a:ext cx="55292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4B6DD5-9490-F6E8-C12D-EE761AF99053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3417864" y="3976581"/>
            <a:ext cx="5529266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F71517-D3C6-4497-2DAF-CF535A2CB654}"/>
              </a:ext>
            </a:extLst>
          </p:cNvPr>
          <p:cNvCxnSpPr>
            <a:cxnSpLocks/>
            <a:stCxn id="4" idx="2"/>
            <a:endCxn id="4" idx="0"/>
          </p:cNvCxnSpPr>
          <p:nvPr/>
        </p:nvCxnSpPr>
        <p:spPr>
          <a:xfrm flipV="1">
            <a:off x="6182497" y="1800912"/>
            <a:ext cx="0" cy="435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5982BCA-B0E2-C4A4-B2B9-FCB8BAC13E43}"/>
              </a:ext>
            </a:extLst>
          </p:cNvPr>
          <p:cNvSpPr/>
          <p:nvPr/>
        </p:nvSpPr>
        <p:spPr>
          <a:xfrm>
            <a:off x="5236199" y="3038257"/>
            <a:ext cx="1892596" cy="18766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/>
              <p:nvPr/>
            </p:nvSpPr>
            <p:spPr>
              <a:xfrm>
                <a:off x="8947130" y="3976580"/>
                <a:ext cx="354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7130" y="3976580"/>
                <a:ext cx="35458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/>
              <p:nvPr/>
            </p:nvSpPr>
            <p:spPr>
              <a:xfrm>
                <a:off x="6182497" y="1605851"/>
                <a:ext cx="372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497" y="1605851"/>
                <a:ext cx="372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DE7-2146-31B4-F7CC-C45D605EF336}"/>
              </a:ext>
            </a:extLst>
          </p:cNvPr>
          <p:cNvCxnSpPr/>
          <p:nvPr/>
        </p:nvCxnSpPr>
        <p:spPr>
          <a:xfrm flipH="1">
            <a:off x="6483156" y="2512464"/>
            <a:ext cx="481666" cy="241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2AD795-1F1C-7872-156B-F4CB136F4EA4}"/>
              </a:ext>
            </a:extLst>
          </p:cNvPr>
          <p:cNvSpPr txBox="1"/>
          <p:nvPr/>
        </p:nvSpPr>
        <p:spPr>
          <a:xfrm>
            <a:off x="6177273" y="1968027"/>
            <a:ext cx="335700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momentum-space </a:t>
            </a:r>
          </a:p>
          <a:p>
            <a:pPr algn="ctr"/>
            <a:r>
              <a:rPr lang="en-US" sz="1100" dirty="0"/>
              <a:t>(Fourier Transform of horse)</a:t>
            </a:r>
          </a:p>
          <a:p>
            <a:pPr algn="ctr"/>
            <a:r>
              <a:rPr lang="en-US" sz="1100" dirty="0"/>
              <a:t>Modulus what amount of each frequency in (</a:t>
            </a:r>
            <a:r>
              <a:rPr lang="en-US" sz="1100" dirty="0" err="1"/>
              <a:t>k_x,k_y</a:t>
            </a:r>
            <a:r>
              <a:rPr lang="en-US" sz="1100" dirty="0"/>
              <a:t>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2FFA0DB-AA60-A981-7101-C0AF0B7A26ED}"/>
              </a:ext>
            </a:extLst>
          </p:cNvPr>
          <p:cNvCxnSpPr>
            <a:cxnSpLocks/>
          </p:cNvCxnSpPr>
          <p:nvPr/>
        </p:nvCxnSpPr>
        <p:spPr>
          <a:xfrm flipH="1" flipV="1">
            <a:off x="7403777" y="4275911"/>
            <a:ext cx="292017" cy="391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41650E5-C035-9DF3-DF56-AE69D414448D}"/>
              </a:ext>
            </a:extLst>
          </p:cNvPr>
          <p:cNvSpPr txBox="1"/>
          <p:nvPr/>
        </p:nvSpPr>
        <p:spPr>
          <a:xfrm>
            <a:off x="6930398" y="4667148"/>
            <a:ext cx="2509020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position-space </a:t>
            </a:r>
          </a:p>
          <a:p>
            <a:pPr algn="ctr"/>
            <a:r>
              <a:rPr lang="en-US" sz="1100" dirty="0"/>
              <a:t>(horse)</a:t>
            </a:r>
          </a:p>
          <a:p>
            <a:pPr algn="ctr"/>
            <a:r>
              <a:rPr lang="en-US" sz="1100" dirty="0"/>
              <a:t>Modulus is how much of light is in (</a:t>
            </a:r>
            <a:r>
              <a:rPr lang="en-US" sz="1100" dirty="0" err="1"/>
              <a:t>x,y</a:t>
            </a:r>
            <a:r>
              <a:rPr lang="en-US" sz="1100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/>
              <p:nvPr/>
            </p:nvSpPr>
            <p:spPr>
              <a:xfrm>
                <a:off x="7226210" y="3717101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6210" y="3717101"/>
                <a:ext cx="848882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/>
              <p:nvPr/>
            </p:nvSpPr>
            <p:spPr>
              <a:xfrm>
                <a:off x="5229804" y="2542180"/>
                <a:ext cx="848882" cy="406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9804" y="2542180"/>
                <a:ext cx="848882" cy="40607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/>
              <p:nvPr/>
            </p:nvSpPr>
            <p:spPr>
              <a:xfrm>
                <a:off x="4457174" y="3429000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7174" y="3429000"/>
                <a:ext cx="848882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/>
              <p:nvPr/>
            </p:nvSpPr>
            <p:spPr>
              <a:xfrm>
                <a:off x="5192276" y="4914904"/>
                <a:ext cx="848882" cy="453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2276" y="4914904"/>
                <a:ext cx="848882" cy="45397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/>
              <p:nvPr/>
            </p:nvSpPr>
            <p:spPr>
              <a:xfrm>
                <a:off x="7271353" y="3956107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353" y="3956107"/>
                <a:ext cx="84888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0EA5E561-BC81-E045-30BD-476122B104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2656" y="3707523"/>
            <a:ext cx="618550" cy="58881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F07F69B-D8AD-2A3E-86AB-9BC8DA40DE1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5958"/>
          <a:stretch>
            <a:fillRect/>
          </a:stretch>
        </p:blipFill>
        <p:spPr>
          <a:xfrm>
            <a:off x="4961217" y="3669883"/>
            <a:ext cx="634128" cy="62645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0F50DA8-331A-BB07-606E-AC7A376DD5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6272" y="2768611"/>
            <a:ext cx="557240" cy="5888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1BEF1A92-4404-D2B5-A3B5-314130E7365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16084" y="4637919"/>
            <a:ext cx="598248" cy="6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9577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F47-9B05-6510-F1D1-6EA9D999E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Forward Euler.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Computing the exponential of a matrix is hard. Taking the taylor expansion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Truncating at first order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forward Euler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ˆ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to be sufficiently small for stability.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3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758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ADB29-5809-E687-5EA9-85E50297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Crank Nicolson.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 err="1"/>
                  <a:t>taylor</a:t>
                </a:r>
                <a:r>
                  <a:rPr lang="en-US" dirty="0"/>
                  <a:t> series can be approximated using rational function know as a Pade approximant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⋯≈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gives the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Crank Nicolson/ Cayley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stable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but requires an implicit solve and is second order accurate.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  <a:blipFill>
                <a:blip r:embed="rId3"/>
                <a:stretch>
                  <a:fillRect l="-724" t="-2426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0351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0D76-2CAC-FA33-3DE0-03484DBD3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922C-ACC3-D3C6-7AFC-080D1CA7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Exponential of a diagonal operator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exponential of a diagonal matrix is simply the exponential of it’s diagonal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/>
                                  <m:e/>
                                </m:mr>
                                <m:mr>
                                  <m:e/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/>
                                </m:mr>
                                <m:mr>
                                  <m:e/>
                                  <m:e/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Hence, if we can diagonalize a matrix say via an eigenvalue decomposition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iT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(Equivalent to Taylor series definition – can be shown via substitution).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2"/>
                <a:stretch>
                  <a:fillRect l="-1089" t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7108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166C-AFB5-D442-5741-4A6DFA86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Operator Splitting.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our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Hence, we can write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acc>
                        <m:accPr>
                          <m:chr m:val="ˆ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))≈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GB" dirty="0"/>
                  <a:t>The potential operator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acts on position so is diagonal, and the kinetic operator is dense but given we applied periodic boundary condition it is diagonal in Fourier space. This method has a first order commutator error dependent on step size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 Hence, we can compute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stable and unitary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3"/>
                <a:stretch>
                  <a:fillRect l="-1089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3261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F0EBF-281B-6729-4CA9-3C94D9B6E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exactly (to machine precision)? Arnoldi Iteration.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2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2AC80-2408-9A60-98FC-6A5B3BF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598" y="1726595"/>
            <a:ext cx="11653619" cy="4691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project the Hamiltonian operator into a smaller space to capture low frequency components of the operator applied to the initial state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D53CADA5-30AC-958D-29FF-B484D4AB21BA}"/>
              </a:ext>
            </a:extLst>
          </p:cNvPr>
          <p:cNvGrpSpPr/>
          <p:nvPr/>
        </p:nvGrpSpPr>
        <p:grpSpPr>
          <a:xfrm>
            <a:off x="1167240" y="2707282"/>
            <a:ext cx="4085475" cy="2655820"/>
            <a:chOff x="1167240" y="2707282"/>
            <a:chExt cx="4085475" cy="2655820"/>
          </a:xfrm>
        </p:grpSpPr>
        <p:pic>
          <p:nvPicPr>
            <p:cNvPr id="7" name="Picture 2 1 2" descr="organic blob shapes hand drawn illustration 9668831 PNG">
              <a:extLst>
                <a:ext uri="{FF2B5EF4-FFF2-40B4-BE49-F238E27FC236}">
                  <a16:creationId xmlns:a16="http://schemas.microsoft.com/office/drawing/2014/main" id="{B5BC9808-919D-4B85-AAE5-507D8FF7B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2250896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8" name="TextBox 20">
              <a:extLst>
                <a:ext uri="{FF2B5EF4-FFF2-40B4-BE49-F238E27FC236}">
                  <a16:creationId xmlns:a16="http://schemas.microsoft.com/office/drawing/2014/main" id="{46B390D1-699D-4339-B912-980352D8E601}"/>
                </a:ext>
              </a:extLst>
            </p:cNvPr>
            <p:cNvSpPr txBox="1"/>
            <p:nvPr/>
          </p:nvSpPr>
          <p:spPr>
            <a:xfrm>
              <a:off x="1167240" y="4901440"/>
              <a:ext cx="4085475" cy="461662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1440" tIns="45720" rIns="91440" bIns="4572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400" b="0" i="0" u="none" strike="noStrike" kern="1200" cap="none" spc="0" baseline="0" dirty="0">
                  <a:solidFill>
                    <a:srgbClr val="000000"/>
                  </a:solidFill>
                  <a:uFillTx/>
                  <a:latin typeface="CMU Bright" pitchFamily="2"/>
                  <a:ea typeface="CMU Bright" pitchFamily="2"/>
                  <a:cs typeface="CMU Bright" pitchFamily="2"/>
                </a:rPr>
                <a:t>All possible states</a:t>
              </a:r>
              <a:endParaRPr lang="nl-NL" sz="2400" b="0" i="0" u="none" strike="noStrike" kern="1200" cap="none" spc="0" baseline="0" dirty="0">
                <a:solidFill>
                  <a:srgbClr val="000000"/>
                </a:solidFill>
                <a:uFillTx/>
                <a:latin typeface="CMU Bright" pitchFamily="2"/>
                <a:ea typeface="CMU Bright" pitchFamily="2"/>
                <a:cs typeface="CMU Bright" pitchFamily="2"/>
              </a:endParaRPr>
            </a:p>
          </p:txBody>
        </p:sp>
        <p:pic>
          <p:nvPicPr>
            <p:cNvPr id="9" name="Picture 23">
              <a:extLst>
                <a:ext uri="{FF2B5EF4-FFF2-40B4-BE49-F238E27FC236}">
                  <a16:creationId xmlns:a16="http://schemas.microsoft.com/office/drawing/2014/main" id="{2E1349FE-0D22-3405-B881-DBC5D2C95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82644" y="3459522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  <p:sp>
        <p:nvSpPr>
          <p:cNvPr id="10" name="TextBox 25">
            <a:extLst>
              <a:ext uri="{FF2B5EF4-FFF2-40B4-BE49-F238E27FC236}">
                <a16:creationId xmlns:a16="http://schemas.microsoft.com/office/drawing/2014/main" id="{E2D4E5D6-F426-A265-D452-077B78AA9965}"/>
              </a:ext>
            </a:extLst>
          </p:cNvPr>
          <p:cNvSpPr txBox="1"/>
          <p:nvPr/>
        </p:nvSpPr>
        <p:spPr>
          <a:xfrm>
            <a:off x="7315200" y="4901440"/>
            <a:ext cx="3939701" cy="1569659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1200" cap="none" spc="0" baseline="0" dirty="0">
                <a:solidFill>
                  <a:srgbClr val="000000"/>
                </a:solidFill>
                <a:uFillTx/>
                <a:latin typeface="CMU Bright" pitchFamily="2"/>
                <a:ea typeface="CMU Bright" pitchFamily="2"/>
                <a:cs typeface="CMU Bright" pitchFamily="2"/>
              </a:rPr>
              <a:t>A small subset of the </a:t>
            </a:r>
            <a:r>
              <a:rPr lang="en-US" sz="2400" b="0" i="0" u="none" strike="noStrike" kern="0" cap="none" spc="0" baseline="0" dirty="0">
                <a:solidFill>
                  <a:srgbClr val="000000"/>
                </a:solidFill>
                <a:uFillTx/>
                <a:latin typeface="CMU Bright" pitchFamily="2"/>
                <a:ea typeface="CMU Bright" pitchFamily="2"/>
                <a:cs typeface="CMU Bright" pitchFamily="2"/>
              </a:rPr>
              <a:t>images</a:t>
            </a: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2400" b="0" i="0" u="none" strike="noStrike" kern="0" cap="none" spc="0" baseline="0" dirty="0">
              <a:solidFill>
                <a:srgbClr val="000000"/>
              </a:solidFill>
              <a:uFillTx/>
              <a:latin typeface="CMU Bright" pitchFamily="2"/>
              <a:ea typeface="CMU Bright" pitchFamily="2"/>
              <a:cs typeface="CMU Bright" pitchFamily="2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400" b="0" i="0" u="none" strike="noStrike" kern="0" cap="none" spc="0" baseline="0" dirty="0">
                <a:solidFill>
                  <a:srgbClr val="747474"/>
                </a:solidFill>
                <a:uFillTx/>
                <a:latin typeface="CMU Bright" pitchFamily="2"/>
                <a:ea typeface="CMU Bright" pitchFamily="2"/>
                <a:cs typeface="CMU Bright" pitchFamily="2"/>
              </a:rPr>
              <a:t>(spanned </a:t>
            </a:r>
            <a:r>
              <a:rPr lang="en-US" sz="2400" b="0" i="0" u="none" strike="noStrike" kern="1200" cap="none" spc="0" baseline="0" dirty="0">
                <a:solidFill>
                  <a:srgbClr val="747474"/>
                </a:solidFill>
                <a:uFillTx/>
                <a:latin typeface="CMU Bright" pitchFamily="2"/>
                <a:ea typeface="CMU Bright" pitchFamily="2"/>
                <a:cs typeface="CMU Bright" pitchFamily="2"/>
              </a:rPr>
              <a:t>by low-frequency components of the operator)</a:t>
            </a:r>
            <a:endParaRPr lang="nl-NL" sz="2400" b="0" i="0" u="none" strike="noStrike" kern="1200" cap="none" spc="0" baseline="0" dirty="0">
              <a:solidFill>
                <a:srgbClr val="747474"/>
              </a:solidFill>
              <a:uFillTx/>
              <a:latin typeface="CMU Bright" pitchFamily="2"/>
              <a:ea typeface="CMU Bright" pitchFamily="2"/>
              <a:cs typeface="CMU Bright" pitchFamily="2"/>
            </a:endParaRPr>
          </a:p>
        </p:txBody>
      </p:sp>
      <p:grpSp>
        <p:nvGrpSpPr>
          <p:cNvPr id="11" name="Group 5">
            <a:extLst>
              <a:ext uri="{FF2B5EF4-FFF2-40B4-BE49-F238E27FC236}">
                <a16:creationId xmlns:a16="http://schemas.microsoft.com/office/drawing/2014/main" id="{04AF971E-6CAC-F317-E37B-A426E265C439}"/>
              </a:ext>
            </a:extLst>
          </p:cNvPr>
          <p:cNvGrpSpPr/>
          <p:nvPr/>
        </p:nvGrpSpPr>
        <p:grpSpPr>
          <a:xfrm>
            <a:off x="7876193" y="2707282"/>
            <a:ext cx="2057546" cy="2059457"/>
            <a:chOff x="7876193" y="2707282"/>
            <a:chExt cx="2057546" cy="2059457"/>
          </a:xfrm>
        </p:grpSpPr>
        <p:pic>
          <p:nvPicPr>
            <p:cNvPr id="12" name="Picture 2 1 1" descr="organic blob shapes hand drawn illustration 9668831 PNG">
              <a:extLst>
                <a:ext uri="{FF2B5EF4-FFF2-40B4-BE49-F238E27FC236}">
                  <a16:creationId xmlns:a16="http://schemas.microsoft.com/office/drawing/2014/main" id="{FEC95126-C3AA-6194-4C71-773CC1382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7876193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3" name="Picture 2 3" descr="organic blob shapes hand drawn illustration 9668831 PNG">
              <a:extLst>
                <a:ext uri="{FF2B5EF4-FFF2-40B4-BE49-F238E27FC236}">
                  <a16:creationId xmlns:a16="http://schemas.microsoft.com/office/drawing/2014/main" id="{77B130DD-0D95-DE79-A93E-4F1D24A41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 rot="6207436">
              <a:off x="8085998" y="3750269"/>
              <a:ext cx="895636" cy="89646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4" name="Picture 41">
              <a:extLst>
                <a:ext uri="{FF2B5EF4-FFF2-40B4-BE49-F238E27FC236}">
                  <a16:creationId xmlns:a16="http://schemas.microsoft.com/office/drawing/2014/main" id="{BD6B3404-619C-6F8E-058D-FB86C81F9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40416" y="4033500"/>
              <a:ext cx="433846" cy="32999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5" name="Picture 37">
              <a:extLst>
                <a:ext uri="{FF2B5EF4-FFF2-40B4-BE49-F238E27FC236}">
                  <a16:creationId xmlns:a16="http://schemas.microsoft.com/office/drawing/2014/main" id="{0D6D9A50-3FD6-E105-8EA8-CE28C9FD4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11379" y="3060670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93762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741</Words>
  <Application>Microsoft Macintosh PowerPoint</Application>
  <PresentationFormat>Widescreen</PresentationFormat>
  <Paragraphs>84</Paragraphs>
  <Slides>10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CMU Bright</vt:lpstr>
      <vt:lpstr>Office Theme</vt:lpstr>
      <vt:lpstr>Useful python tools for building a quantum harmonic oscillator to turn an image upside down and back up again</vt:lpstr>
      <vt:lpstr>Our Goal: turn Schrödinger’s horse upside</vt:lpstr>
      <vt:lpstr>Using the Schrödinger Equation</vt:lpstr>
      <vt:lpstr>Solution to equations</vt:lpstr>
      <vt:lpstr>Solution to equations: A rotation in phase space</vt:lpstr>
      <vt:lpstr>How to compute exp(iH ˆt)? Forward Euler. </vt:lpstr>
      <vt:lpstr>How to compute exp(iH ˆt)? Crank Nicolson. </vt:lpstr>
      <vt:lpstr>Exponential of a diagonal operator </vt:lpstr>
      <vt:lpstr>How to compute exp(iH ˆt)? Operator Splitting. </vt:lpstr>
      <vt:lpstr>How to compute exp(iH ˆt)exactly (to machine precision)? Arnoldi Iteration.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Bryce Shirley</dc:creator>
  <cp:lastModifiedBy>Bryce Shirley</cp:lastModifiedBy>
  <cp:revision>1</cp:revision>
  <dcterms:created xsi:type="dcterms:W3CDTF">2026-08-10T15:09:54Z</dcterms:created>
  <dcterms:modified xsi:type="dcterms:W3CDTF">2026-08-10T21:18:12Z</dcterms:modified>
</cp:coreProperties>
</file>