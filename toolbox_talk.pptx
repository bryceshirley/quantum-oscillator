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4"/>
  </p:notesMasterIdLst>
  <p:sldIdLst>
    <p:sldId id="256" r:id="rId2"/>
    <p:sldId id="268" r:id="rId3"/>
    <p:sldId id="258" r:id="rId4"/>
    <p:sldId id="269" r:id="rId5"/>
    <p:sldId id="259" r:id="rId6"/>
    <p:sldId id="260" r:id="rId7"/>
    <p:sldId id="267" r:id="rId8"/>
    <p:sldId id="261" r:id="rId9"/>
    <p:sldId id="262" r:id="rId10"/>
    <p:sldId id="264" r:id="rId11"/>
    <p:sldId id="265" r:id="rId12"/>
    <p:sldId id="266" r:id="rId13"/>
    <p:sldId id="270" r:id="rId14"/>
    <p:sldId id="271" r:id="rId15"/>
    <p:sldId id="272" r:id="rId16"/>
    <p:sldId id="273" r:id="rId17"/>
    <p:sldId id="274" r:id="rId18"/>
    <p:sldId id="280" r:id="rId19"/>
    <p:sldId id="276" r:id="rId20"/>
    <p:sldId id="277" r:id="rId21"/>
    <p:sldId id="278" r:id="rId22"/>
    <p:sldId id="279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F6D"/>
    <a:srgbClr val="E9E1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58"/>
  </p:normalViewPr>
  <p:slideViewPr>
    <p:cSldViewPr snapToGrid="0">
      <p:cViewPr varScale="1">
        <p:scale>
          <a:sx n="120" d="100"/>
          <a:sy n="120" d="100"/>
        </p:scale>
        <p:origin x="87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39B283-0B1B-924B-8E2B-092496D70CE9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133767-D30A-024A-832D-68D048F69A2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9268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23E53-89CB-E0CB-0EEE-D5778C4A37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5253A63-2753-633E-3813-5F23706033E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C635F-D551-0A66-6900-70E9F585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EB3F2C-FD75-7544-3EC0-9BA0D1DE7C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89A404-5687-A32B-F1A3-DB4A979F4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47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452A52-F8C8-344C-654A-377C4FDF7D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1248" y="292608"/>
            <a:ext cx="10515600" cy="841248"/>
          </a:xfrm>
        </p:spPr>
        <p:txBody>
          <a:bodyPr lIns="0" rIns="0" anchor="t">
            <a:normAutofit/>
          </a:bodyPr>
          <a:lstStyle>
            <a:lvl1pPr>
              <a:defRPr sz="2600" b="1">
                <a:solidFill>
                  <a:srgbClr val="1B0C41"/>
                </a:solidFill>
                <a:latin typeface="Cambria"/>
              </a:defRPr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AD5199-BB58-C9CF-DA50-92A87373D5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561416-558D-CBBB-C1D4-BD28B9B9D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037BDC2-E59C-95DA-FDD7-0EC129E30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2C4802-F78D-3CCF-6720-0804B0DB26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21321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E850C-48BD-EDA5-86F7-488EC44545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BFB983-E97D-E0BE-A635-2AC05B1C2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AE9EF-39E8-4B6C-EB2B-3B9E8AAB2A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A779D1-F6A7-0A3B-D35A-437C14C045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EF78E-682E-A515-AB82-9010F4F1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03758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8B2404-7DA8-2737-312A-E76083EFE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1D5D6-DD53-2959-D1EB-E4C95F3FEE4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334D9B5-26CD-E9F3-E65F-8E3E0FDB911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1F28B3-2E0C-962F-729B-EF4109655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FC56E8F-6ECB-1A07-3F23-214449DBAA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321782D-9999-24FF-3A80-53B67F333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19869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96AF86-7899-E5A8-AD21-A7107A251F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C1BC60-98B2-5547-47FC-339487414C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322CEA-61FA-30DA-312E-2DE9E37360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3812169-8BA8-E85C-234B-8345ADE6751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87F217-037E-BA90-02D6-7A949BE6B0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C8FA26-0BD4-E63A-2806-A91ACFC0A4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84BF77-E57C-04FF-1880-49772D80F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79B07B-28F4-A87F-F217-EFE440461C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7688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F5DC-F084-C79B-4B17-0E34838BB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245BCFC-4B8B-9BA6-83A2-B4CA80A006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73FBE76-4D19-CF1F-67B0-76A1B3FA9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7836E3-8938-268A-44C6-8AC3332FAD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9802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757E7EC-1F2F-BC34-B0AA-D9DE8AC26F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B3C0DB9-3F3A-6FC3-806C-10036237E9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7E147F-F5A0-A455-C19A-2AE8897B0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268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1612E1-3E38-EAC1-621D-44FC577161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C76B83-2F47-7F77-DC2B-267F708A1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69200A6-0EB3-12BC-6EF2-C4B08FAC99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8D58BE-D822-C292-A001-C51C467626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9832F6-4022-B959-7489-5D4B33B4C9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DDD3CFD-D6F0-3958-0FF3-075584299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25524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A1B40A-CFB9-CE77-8B89-18CCE9204B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65B4C64-7EE0-5DC5-B177-AC59D6F78D4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16EA92B-3E03-B07E-2A22-15C3235FEAB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21C2E6-ED10-C2E1-A4D0-822C461EF5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2EEDB9-199C-6F8C-94E1-4E1AC2B5B7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0E76E9-2D43-E8B7-3041-841B32CA73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8049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8D2D8-9621-110B-D005-85277E4175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7476DD0-2ABD-362B-C764-BA6B692BE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D9F3A4-5039-EF5E-E195-4EADBCBF53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638DF7-46D7-A510-E65A-C89C2B973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A6B196-56DD-DF14-4B93-EA6DA2E2BF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5955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E9C1146-F0C9-99B5-AC65-341A71DD8F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EF8E42-F646-52BF-12E8-E568A9FF32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D8CB28-5E4F-A7C7-E59D-46F44E88DD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0CBD88-9F45-83D0-F218-9CBDDCA759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AE25E4-468F-6293-DCEE-4F2FEC4C2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6636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E2AF801-4DC4-C3DC-853F-52175AF9B4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E27CC6-D265-9E0B-803E-CFD42999E1E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F9B98A-2163-E176-A6C9-EA361335C1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B0F80E8-45C8-9749-9FBC-76DCC15AB3BE}" type="datetimeFigureOut">
              <a:rPr lang="en-US" smtClean="0"/>
              <a:t>8/10/26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BFCF1B5-424D-5069-8C6E-54BCDC6B79F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A5C9C0C-E460-346D-39BC-825758D23B1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F8B0E-C1F1-B24D-A915-8A6A4A0EDFC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371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13" Type="http://schemas.openxmlformats.org/officeDocument/2006/relationships/image" Target="../media/image16.png"/><Relationship Id="rId18" Type="http://schemas.openxmlformats.org/officeDocument/2006/relationships/image" Target="../media/image21.png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2.png"/><Relationship Id="rId12" Type="http://schemas.openxmlformats.org/officeDocument/2006/relationships/image" Target="../media/image5.png"/><Relationship Id="rId17" Type="http://schemas.openxmlformats.org/officeDocument/2006/relationships/image" Target="../media/image20.png"/><Relationship Id="rId2" Type="http://schemas.openxmlformats.org/officeDocument/2006/relationships/video" Target="../media/media2.mp4"/><Relationship Id="rId16" Type="http://schemas.openxmlformats.org/officeDocument/2006/relationships/image" Target="../media/image19.png"/><Relationship Id="rId1" Type="http://schemas.microsoft.com/office/2007/relationships/media" Target="../media/media2.mp4"/><Relationship Id="rId6" Type="http://schemas.openxmlformats.org/officeDocument/2006/relationships/image" Target="../media/image11.png"/><Relationship Id="rId11" Type="http://schemas.openxmlformats.org/officeDocument/2006/relationships/image" Target="../media/image4.png"/><Relationship Id="rId5" Type="http://schemas.openxmlformats.org/officeDocument/2006/relationships/image" Target="../media/image10.png"/><Relationship Id="rId15" Type="http://schemas.openxmlformats.org/officeDocument/2006/relationships/image" Target="../media/image18.png"/><Relationship Id="rId10" Type="http://schemas.openxmlformats.org/officeDocument/2006/relationships/image" Target="../media/image15.png"/><Relationship Id="rId19" Type="http://schemas.openxmlformats.org/officeDocument/2006/relationships/image" Target="../media/image22.png"/><Relationship Id="rId4" Type="http://schemas.openxmlformats.org/officeDocument/2006/relationships/image" Target="../media/image9.png"/><Relationship Id="rId9" Type="http://schemas.openxmlformats.org/officeDocument/2006/relationships/image" Target="../media/image14.png"/><Relationship Id="rId1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0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0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051560" y="1572768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A TOOLBOX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51560" y="2057400"/>
            <a:ext cx="987552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 dirty="0">
                <a:solidFill>
                  <a:srgbClr val="FFFFFF"/>
                </a:solidFill>
                <a:latin typeface="Cambria"/>
              </a:rPr>
              <a:t>Useful Python tools for building a quantum harmonic oscillator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1560" y="3977639"/>
            <a:ext cx="987552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0" i="1">
                <a:solidFill>
                  <a:srgbClr val="FE9F6D"/>
                </a:solidFill>
                <a:latin typeface="Calibri"/>
              </a:rPr>
              <a:t>… to turn an image upside down, and back up again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498348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uv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ruff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ty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pre-commit</a:t>
            </a:r>
            <a:r>
              <a:rPr sz="1500" b="1" i="0">
                <a:solidFill>
                  <a:srgbClr val="8C2981"/>
                </a:solidFill>
                <a:latin typeface="Calibri"/>
              </a:rPr>
              <a:t>  ·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array-api-compat</a:t>
            </a:r>
          </a:p>
        </p:txBody>
      </p:sp>
    </p:spTree>
    <p:extLst>
      <p:ext uri="{BB962C8B-B14F-4D97-AF65-F5344CB8AC3E}">
        <p14:creationId xmlns:p14="http://schemas.microsoft.com/office/powerpoint/2010/main" val="1584743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Two talks in a trench coat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A small, real numerical project — used as an excuse to show the tooling that makes building it pleasant.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56231"/>
            <a:ext cx="5074920" cy="4160520"/>
          </a:xfrm>
          <a:prstGeom prst="roundRect">
            <a:avLst>
              <a:gd name="adj" fmla="val 5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161288" y="2130552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61288" y="2212848"/>
            <a:ext cx="475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73936" y="219456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B0C41"/>
                </a:solidFill>
                <a:latin typeface="Cambria"/>
              </a:rPr>
              <a:t>The physics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2994660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463040" y="289864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 2D quantum harmonic oscillator on a periodic grid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3631565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463040" y="353555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Four ways to compute exp(iHt), and why three of them lose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4268470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463040" y="417245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Split-operator + FFT: six lines, exactly unitary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4905375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463040" y="480936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The horse comes 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81928" y="1856231"/>
            <a:ext cx="5074920" cy="4160520"/>
          </a:xfrm>
          <a:prstGeom prst="roundRect">
            <a:avLst>
              <a:gd name="adj" fmla="val 5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601968" y="2130552"/>
            <a:ext cx="475488" cy="475488"/>
          </a:xfrm>
          <a:prstGeom prst="roundRect">
            <a:avLst>
              <a:gd name="adj" fmla="val 18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01968" y="2212848"/>
            <a:ext cx="475488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14616" y="2194560"/>
            <a:ext cx="384048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100" b="1" i="0">
                <a:solidFill>
                  <a:srgbClr val="1B0C41"/>
                </a:solidFill>
                <a:latin typeface="Cambria"/>
              </a:rPr>
              <a:t>The Python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29400" y="299466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903720" y="289864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 — project, interpreter, dependencies, lockfile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29400" y="3631565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903720" y="353555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ruff and ty — lint, format and type-check in Rust time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29400" y="4268470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03720" y="4172458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pre-commit — so nobody has to remember any of 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629400" y="4905375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03720" y="4809363"/>
            <a:ext cx="41605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array-api-compat — one algorithm, CPU or GPU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EAC51-9611-53EB-AF10-BD063A699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goal: turn Schrödinger's horse upside down — and back again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/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5A913EC-A5D5-5649-E28E-F43391CE2B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254159"/>
                <a:ext cx="2446921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/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9FC0891-0E31-BAB0-0B34-69BB1B5C52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8717" y="5254159"/>
                <a:ext cx="244692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/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2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3C363C9-3E70-B2B6-F5CB-2834572D6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5917" y="5254159"/>
                <a:ext cx="244692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5" name="Picture 14">
            <a:extLst>
              <a:ext uri="{FF2B5EF4-FFF2-40B4-BE49-F238E27FC236}">
                <a16:creationId xmlns:a16="http://schemas.microsoft.com/office/drawing/2014/main" id="{DE1249F8-B1C3-CC7F-A962-7E3E003B93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880" y="2358559"/>
            <a:ext cx="2989559" cy="284583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5724B12C-1FE2-17D1-7B84-AF45E878B6B5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r="5958"/>
          <a:stretch>
            <a:fillRect/>
          </a:stretch>
        </p:blipFill>
        <p:spPr>
          <a:xfrm>
            <a:off x="4541827" y="2358559"/>
            <a:ext cx="2880699" cy="284583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F7B3DA65-DEF4-8C63-732E-741E18D24B1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4597" y="2358559"/>
            <a:ext cx="2989559" cy="2845830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One image, one Hamiltonian, one period: at t = π the horse is inverted; at t = 2π it is exactly back where it started.</a:t>
            </a:r>
          </a:p>
        </p:txBody>
      </p:sp>
    </p:spTree>
    <p:extLst>
      <p:ext uri="{BB962C8B-B14F-4D97-AF65-F5344CB8AC3E}">
        <p14:creationId xmlns:p14="http://schemas.microsoft.com/office/powerpoint/2010/main" val="2823532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0160" y="2331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PART 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79476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BEE4"/>
                </a:solidFill>
                <a:latin typeface="Calibri"/>
              </a:rPr>
              <a:t>One Hamiltonian, one exponential, and four increasingly good ways to compute it.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FAFA5-0D5C-7F16-97F9-736EAF6BA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AF665-E019-CF05-5B63-82D899581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the Schrödinger Equation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10EBE7-4B98-997A-8AFD-3DE1738601B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550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Solving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t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t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Hamiltonian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defined by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acc>
                        <m:accPr>
                          <m:chr m:val="ˆ"/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with real potential (depends on position) defined by the infinite well 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𝒓</m:t>
                              </m:r>
                            </m:e>
                          </m:d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/>
                  <a:t>kinetic operator (depends on momentum)  defined by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𝛻</m:t>
                          </m:r>
                        </m:e>
                        <m:sup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initial state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(=🐴)</m:t>
                      </m:r>
                    </m:oMath>
                  </m:oMathPara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US" dirty="0"/>
                  <a:t>and periodic boundary conditions,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𝒓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m:rPr>
                        <m:sty m:val="p"/>
                      </m:rPr>
                      <a:rPr lang="en-GB" b="1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1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),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,0,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0,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L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E10EBE7-4B98-997A-8AFD-3DE1738601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4"/>
                <a:stretch>
                  <a:fillRect l="-241" t="-17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3d_well_sim_cat_state.mp4">
            <a:hlinkClick r:id="" action="ppaction://media"/>
            <a:extLst>
              <a:ext uri="{FF2B5EF4-FFF2-40B4-BE49-F238E27FC236}">
                <a16:creationId xmlns:a16="http://schemas.microsoft.com/office/drawing/2014/main" id="{9A3A72CD-5CE1-A0EB-CBE9-583A46C7F77E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8305800" y="2220433"/>
            <a:ext cx="3048000" cy="243840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Everything that follows is this one line of physics: evolve Ψ under H = T + V in a 2D harmonic well, and watch what happens to the picture.</a:t>
            </a:r>
          </a:p>
        </p:txBody>
      </p:sp>
    </p:spTree>
    <p:extLst>
      <p:ext uri="{BB962C8B-B14F-4D97-AF65-F5344CB8AC3E}">
        <p14:creationId xmlns:p14="http://schemas.microsoft.com/office/powerpoint/2010/main" val="2440924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67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9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9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9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9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8B6D5-43E9-23E1-16D3-037EA6725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29F65-45A9-F9EF-0C68-5CA1B69FE6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E148BB-BA60-1541-547F-F55B3FEF656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Equation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US" b="0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US" dirty="0">
                    <a:latin typeface="Cambria Math" panose="02040503050406030204" pitchFamily="18" charset="0"/>
                  </a:rPr>
                  <a:t>Solution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Verification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LHS: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</a:rPr>
                          <m:t>Ψ</m:t>
                        </m:r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m:rPr>
                                <m:sty m:val="p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x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m:rPr>
                                <m:sty m:val="p"/>
                              </m:rPr>
                              <a:rPr lang="en-GB" b="0" i="1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</m:d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den>
                    </m:f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RHS: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</a:rPr>
                      <m:t>Ψ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x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</a:rPr>
                          <m:t>y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Ψ</m:t>
                        </m:r>
                      </m:e>
                      <m:sub>
                        <m:r>
                          <a:rPr lang="en-GB" b="1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x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y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DE148BB-BA60-1541-547F-F55B3FEF656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2"/>
                <a:stretch>
                  <a:fillRect l="-844" t="-290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H does not depend on time, so the solution is a single exponential. The whole numerical problem is: how do you compute exp(iHt) on a grid?</a:t>
            </a:r>
          </a:p>
        </p:txBody>
      </p:sp>
    </p:spTree>
    <p:extLst>
      <p:ext uri="{BB962C8B-B14F-4D97-AF65-F5344CB8AC3E}">
        <p14:creationId xmlns:p14="http://schemas.microsoft.com/office/powerpoint/2010/main" val="1655473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F393BE-AE1C-AB60-49D4-C340947606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D0E5CD-7444-EC2A-E486-842727A5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to equations: A rotation in phase space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14D9A7-F117-5675-648B-4BE2ED9CBE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904989"/>
            <a:ext cx="5529266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4B6DD5-9490-F6E8-C12D-EE761AF99053}"/>
              </a:ext>
            </a:extLst>
          </p:cNvPr>
          <p:cNvCxnSpPr>
            <a:cxnSpLocks/>
            <a:stCxn id="4" idx="1"/>
            <a:endCxn id="4" idx="3"/>
          </p:cNvCxnSpPr>
          <p:nvPr/>
        </p:nvCxnSpPr>
        <p:spPr>
          <a:xfrm>
            <a:off x="841248" y="4080658"/>
            <a:ext cx="5529266" cy="0"/>
          </a:xfrm>
          <a:prstGeom prst="straightConnector1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02F71517-D3C6-4497-2DAF-CF535A2CB654}"/>
              </a:ext>
            </a:extLst>
          </p:cNvPr>
          <p:cNvCxnSpPr>
            <a:cxnSpLocks/>
            <a:stCxn id="4" idx="2"/>
            <a:endCxn id="4" idx="0"/>
          </p:cNvCxnSpPr>
          <p:nvPr/>
        </p:nvCxnSpPr>
        <p:spPr>
          <a:xfrm flipV="1">
            <a:off x="3605881" y="1904989"/>
            <a:ext cx="0" cy="43513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>
            <a:extLst>
              <a:ext uri="{FF2B5EF4-FFF2-40B4-BE49-F238E27FC236}">
                <a16:creationId xmlns:a16="http://schemas.microsoft.com/office/drawing/2014/main" id="{75982BCA-B0E2-C4A4-B2B9-FCB8BAC13E43}"/>
              </a:ext>
            </a:extLst>
          </p:cNvPr>
          <p:cNvSpPr/>
          <p:nvPr/>
        </p:nvSpPr>
        <p:spPr>
          <a:xfrm>
            <a:off x="2659583" y="3142334"/>
            <a:ext cx="1892596" cy="1876647"/>
          </a:xfrm>
          <a:prstGeom prst="ellipse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/>
              <p:nvPr/>
            </p:nvSpPr>
            <p:spPr>
              <a:xfrm>
                <a:off x="6370514" y="4080657"/>
                <a:ext cx="3545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𝒓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DBAE6141-BA4D-3CA3-F5B5-F1566AD92C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0514" y="4080657"/>
                <a:ext cx="354584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/>
              <p:nvPr/>
            </p:nvSpPr>
            <p:spPr>
              <a:xfrm>
                <a:off x="3605881" y="1709928"/>
                <a:ext cx="37221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GB" b="1" i="1" smtClean="0">
                          <a:latin typeface="Cambria Math" panose="02040503050406030204" pitchFamily="18" charset="0"/>
                        </a:rPr>
                        <m:t>𝒌</m:t>
                      </m:r>
                    </m:oMath>
                  </m:oMathPara>
                </a14:m>
                <a:endParaRPr lang="en-US" b="1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EA420AF8-E063-9EC4-8A2B-139FE11EA1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5881" y="1709928"/>
                <a:ext cx="372217" cy="369332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2138ADE7-2146-31B4-F7CC-C45D605EF336}"/>
              </a:ext>
            </a:extLst>
          </p:cNvPr>
          <p:cNvCxnSpPr/>
          <p:nvPr/>
        </p:nvCxnSpPr>
        <p:spPr>
          <a:xfrm flipH="1">
            <a:off x="3906540" y="2737190"/>
            <a:ext cx="481666" cy="24129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AD2AD795-1F1C-7872-156B-F4CB136F4EA4}"/>
              </a:ext>
            </a:extLst>
          </p:cNvPr>
          <p:cNvSpPr txBox="1"/>
          <p:nvPr/>
        </p:nvSpPr>
        <p:spPr>
          <a:xfrm>
            <a:off x="4349116" y="2445427"/>
            <a:ext cx="1879040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Pure momentum-space </a:t>
            </a:r>
          </a:p>
          <a:p>
            <a:pPr algn="ctr"/>
            <a:r>
              <a:rPr lang="en-US" sz="1100" dirty="0"/>
              <a:t>(Fourier Transform of horse)</a:t>
            </a: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2FFA0DB-AA60-A981-7101-C0AF0B7A26ED}"/>
              </a:ext>
            </a:extLst>
          </p:cNvPr>
          <p:cNvCxnSpPr>
            <a:cxnSpLocks/>
          </p:cNvCxnSpPr>
          <p:nvPr/>
        </p:nvCxnSpPr>
        <p:spPr>
          <a:xfrm flipH="1" flipV="1">
            <a:off x="4827161" y="4379988"/>
            <a:ext cx="292017" cy="3912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941650E5-C035-9DF3-DF56-AE69D414448D}"/>
              </a:ext>
            </a:extLst>
          </p:cNvPr>
          <p:cNvSpPr txBox="1"/>
          <p:nvPr/>
        </p:nvSpPr>
        <p:spPr>
          <a:xfrm>
            <a:off x="4889986" y="4771225"/>
            <a:ext cx="1436612" cy="4308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100" dirty="0"/>
              <a:t>Pure position-space </a:t>
            </a:r>
          </a:p>
          <a:p>
            <a:pPr algn="ctr"/>
            <a:r>
              <a:rPr lang="en-US" sz="1100" dirty="0"/>
              <a:t>(horse)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/>
              <p:nvPr/>
            </p:nvSpPr>
            <p:spPr>
              <a:xfrm>
                <a:off x="4649594" y="3821178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E7085370-5089-0425-360B-23B336AFA0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49594" y="3821178"/>
                <a:ext cx="848882" cy="276999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/>
              <p:nvPr/>
            </p:nvSpPr>
            <p:spPr>
              <a:xfrm>
                <a:off x="2623793" y="2817719"/>
                <a:ext cx="848882" cy="40607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9515128-0B63-D4EB-8FB8-B3452D1E5B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23793" y="2817719"/>
                <a:ext cx="848882" cy="406073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/>
              <p:nvPr/>
            </p:nvSpPr>
            <p:spPr>
              <a:xfrm>
                <a:off x="1880558" y="3533077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4CC48959-3060-A4E4-96B0-BCC967BA44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80558" y="3533077"/>
                <a:ext cx="848882" cy="276999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/>
              <p:nvPr/>
            </p:nvSpPr>
            <p:spPr>
              <a:xfrm>
                <a:off x="2615660" y="5018981"/>
                <a:ext cx="848882" cy="45397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sz="12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</m:num>
                        <m:den>
                          <m:r>
                            <a:rPr lang="en-GB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0F095C0-901F-807A-74F1-C15152B9E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15660" y="5018981"/>
                <a:ext cx="848882" cy="45397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/>
              <p:nvPr/>
            </p:nvSpPr>
            <p:spPr>
              <a:xfrm>
                <a:off x="4694737" y="4060184"/>
                <a:ext cx="848882" cy="2769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20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</a:rPr>
                        <m:t>=2</m:t>
                      </m:r>
                      <m:r>
                        <a:rPr lang="en-GB" sz="12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</m:oMath>
                  </m:oMathPara>
                </a14:m>
                <a:endParaRPr lang="en-US" sz="1200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66466A88-A51E-62FF-22F3-306A5F60F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94737" y="4060184"/>
                <a:ext cx="848882" cy="276999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8" name="Picture 37">
            <a:extLst>
              <a:ext uri="{FF2B5EF4-FFF2-40B4-BE49-F238E27FC236}">
                <a16:creationId xmlns:a16="http://schemas.microsoft.com/office/drawing/2014/main" id="{0EA5E561-BC81-E045-30BD-476122B10497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186040" y="3811600"/>
            <a:ext cx="618550" cy="58881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CF07F69B-D8AD-2A3E-86AB-9BC8DA40DE1B}"/>
              </a:ext>
            </a:extLst>
          </p:cNvPr>
          <p:cNvPicPr>
            <a:picLocks noChangeAspect="1"/>
          </p:cNvPicPr>
          <p:nvPr/>
        </p:nvPicPr>
        <p:blipFill>
          <a:blip r:embed="rId12"/>
          <a:srcRect r="5958"/>
          <a:stretch>
            <a:fillRect/>
          </a:stretch>
        </p:blipFill>
        <p:spPr>
          <a:xfrm>
            <a:off x="2384601" y="3773960"/>
            <a:ext cx="634128" cy="626452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50F50DA8-331A-BB07-606E-AC7A376DD501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349656" y="2872688"/>
            <a:ext cx="557240" cy="588812"/>
          </a:xfrm>
          <a:prstGeom prst="rect">
            <a:avLst/>
          </a:prstGeom>
        </p:spPr>
      </p:pic>
      <p:pic>
        <p:nvPicPr>
          <p:cNvPr id="45" name="Picture 44">
            <a:extLst>
              <a:ext uri="{FF2B5EF4-FFF2-40B4-BE49-F238E27FC236}">
                <a16:creationId xmlns:a16="http://schemas.microsoft.com/office/drawing/2014/main" id="{1BEF1A92-4404-D2B5-A3B5-314130E7365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339468" y="4741996"/>
            <a:ext cx="598248" cy="609913"/>
          </a:xfrm>
          <a:prstGeom prst="rect">
            <a:avLst/>
          </a:prstGeom>
        </p:spPr>
      </p:pic>
      <p:sp>
        <p:nvSpPr>
          <p:cNvPr id="46" name="Rounded Rectangle 45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oscillator rotates position into momentum. A quarter turn is the Fourier transform; a half turn is the image, inverted.</a:t>
            </a:r>
          </a:p>
        </p:txBody>
      </p:sp>
      <p:pic>
        <p:nvPicPr>
          <p:cNvPr id="3" name="3d_well_sim_horse.mp4">
            <a:hlinkClick r:id="" action="ppaction://media"/>
            <a:extLst>
              <a:ext uri="{FF2B5EF4-FFF2-40B4-BE49-F238E27FC236}">
                <a16:creationId xmlns:a16="http://schemas.microsoft.com/office/drawing/2014/main" id="{EBDF85FA-01DD-F35F-7207-59DC5B0950A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15"/>
          <a:stretch>
            <a:fillRect/>
          </a:stretch>
        </p:blipFill>
        <p:spPr>
          <a:xfrm>
            <a:off x="7373732" y="2347354"/>
            <a:ext cx="4282073" cy="342565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9A2E77-A6C3-F234-10FC-E4681C0F66D5}"/>
                  </a:ext>
                </a:extLst>
              </p:cNvPr>
              <p:cNvSpPr txBox="1"/>
              <p:nvPr/>
            </p:nvSpPr>
            <p:spPr>
              <a:xfrm>
                <a:off x="4388206" y="3485923"/>
                <a:ext cx="556994" cy="33855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sz="16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6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6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E09A2E77-A6C3-F234-10FC-E4681C0F66D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88206" y="3485923"/>
                <a:ext cx="556994" cy="338554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D3C439-8CA6-3797-5F30-D7ED0D97986B}"/>
                  </a:ext>
                </a:extLst>
              </p:cNvPr>
              <p:cNvSpPr txBox="1"/>
              <p:nvPr/>
            </p:nvSpPr>
            <p:spPr>
              <a:xfrm>
                <a:off x="2886360" y="2390852"/>
                <a:ext cx="1483832" cy="318998"/>
              </a:xfrm>
              <a:prstGeom prst="rect">
                <a:avLst/>
              </a:prstGeom>
              <a:solidFill>
                <a:schemeClr val="bg1"/>
              </a:solidFill>
              <a:effectLst>
                <a:softEdge rad="31750"/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/2)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4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6D3C439-8CA6-3797-5F30-D7ED0D9798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86360" y="2390852"/>
                <a:ext cx="1483832" cy="318998"/>
              </a:xfrm>
              <a:prstGeom prst="rect">
                <a:avLst/>
              </a:prstGeom>
              <a:blipFill>
                <a:blip r:embed="rId17"/>
                <a:stretch>
                  <a:fillRect t="-11538" b="-7692"/>
                </a:stretch>
              </a:blipFill>
              <a:effectLst>
                <a:softEdge rad="3175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81E17F6-3FC1-AC61-3F2D-E41D8E0DC8CE}"/>
                  </a:ext>
                </a:extLst>
              </p:cNvPr>
              <p:cNvSpPr txBox="1"/>
              <p:nvPr/>
            </p:nvSpPr>
            <p:spPr>
              <a:xfrm>
                <a:off x="931167" y="4110702"/>
                <a:ext cx="1390609" cy="318998"/>
              </a:xfrm>
              <a:prstGeom prst="rect">
                <a:avLst/>
              </a:prstGeom>
              <a:solidFill>
                <a:schemeClr val="bg1"/>
              </a:solidFill>
              <a:effectLst>
                <a:softEdge rad="31750"/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4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81E17F6-3FC1-AC61-3F2D-E41D8E0DC8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167" y="4110702"/>
                <a:ext cx="1390609" cy="318998"/>
              </a:xfrm>
              <a:prstGeom prst="rect">
                <a:avLst/>
              </a:prstGeom>
              <a:blipFill>
                <a:blip r:embed="rId18"/>
                <a:stretch>
                  <a:fillRect t="-7692" b="-7692"/>
                </a:stretch>
              </a:blipFill>
              <a:effectLst>
                <a:softEdge rad="3175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5D2022-D026-BD2A-B26A-C9E3EF017244}"/>
                  </a:ext>
                </a:extLst>
              </p:cNvPr>
              <p:cNvSpPr txBox="1"/>
              <p:nvPr/>
            </p:nvSpPr>
            <p:spPr>
              <a:xfrm>
                <a:off x="2949865" y="5553984"/>
                <a:ext cx="1390609" cy="318998"/>
              </a:xfrm>
              <a:prstGeom prst="rect">
                <a:avLst/>
              </a:prstGeom>
              <a:solidFill>
                <a:schemeClr val="bg1"/>
              </a:solidFill>
              <a:effectLst>
                <a:softEdge rad="31750"/>
              </a:effectLst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1400" i="1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GB" sz="14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GB" sz="1400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14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r>
                        <a:rPr lang="en-GB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/2</m:t>
                      </m:r>
                      <m:r>
                        <a:rPr lang="en-GB" sz="1400" i="1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400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sz="1400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sz="28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1F5D2022-D026-BD2A-B26A-C9E3EF01724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949865" y="5553984"/>
                <a:ext cx="1390609" cy="318998"/>
              </a:xfrm>
              <a:prstGeom prst="rect">
                <a:avLst/>
              </a:prstGeom>
              <a:blipFill>
                <a:blip r:embed="rId19"/>
                <a:stretch>
                  <a:fillRect t="-11538" b="-7692"/>
                </a:stretch>
              </a:blipFill>
              <a:effectLst>
                <a:softEdge rad="31750"/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0957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367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418F47-9B05-6510-F1D1-6EA9D999E4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9BFD10F-9988-9506-9034-9C2C63BC45EB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Forward Euler.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19BFD10F-9988-9506-9034-9C2C63BC45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930" t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835B1EA-DB27-9A7C-1DE7-942845749A9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Computing the exponential of a matrix is hard. Taking the taylor expansion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Truncating at first order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Rearranging we observe this is simply the forward Euler method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f>
                        <m:f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  <m:d>
                            <m:d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GB" b="1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requires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‖"/>
                        <m:endChr m:val="‖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acc>
                          <m:accPr>
                            <m:chr m:val="ˆ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𝐻</m:t>
                            </m:r>
                          </m:e>
                        </m:acc>
                      </m:e>
                    </m:d>
                  </m:oMath>
                </a14:m>
                <a:r>
                  <a:rPr lang="en-US" dirty="0"/>
                  <a:t> to be sufficiently small for stability.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E835B1EA-DB27-9A7C-1DE7-942845749A9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2"/>
                <a:ext cx="10515600" cy="4351338"/>
              </a:xfrm>
              <a:blipFill>
                <a:blip r:embed="rId3"/>
                <a:stretch>
                  <a:fillRect l="-844" t="-203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One line of code and it works — until it does not. Only conditionally stable, and it quietly leaks probability at every step.</a:t>
            </a:r>
          </a:p>
        </p:txBody>
      </p:sp>
    </p:spTree>
    <p:extLst>
      <p:ext uri="{BB962C8B-B14F-4D97-AF65-F5344CB8AC3E}">
        <p14:creationId xmlns:p14="http://schemas.microsoft.com/office/powerpoint/2010/main" val="287583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ADB29-5809-E687-5EA9-85E502970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56EF0F-8F74-CDF8-2087-3A411289EC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Crank Nicolson.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E56EF0F-8F74-CDF8-2087-3A411289EC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930" t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37BFC8-DF7F-D618-5C49-3E205133878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924697" y="1800911"/>
                <a:ext cx="10515600" cy="4691963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The </a:t>
                </a:r>
                <a:r>
                  <a:rPr lang="en-US" dirty="0" err="1"/>
                  <a:t>taylor</a:t>
                </a:r>
                <a:r>
                  <a:rPr lang="en-US" dirty="0"/>
                  <a:t> series can be approximated using rational function know as a Pade approximant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)=1+</m:t>
                      </m:r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2!</m:t>
                          </m:r>
                        </m:den>
                      </m:f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⋯≈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gives the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1−</m:t>
                          </m:r>
                          <m:f>
                            <m:f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GB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acc>
                            <m:accPr>
                              <m:chr m:val="ˆ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Rearranging we observe this is simply the Crank Nicolson/ Cayley method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1−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US" i="1" smtClean="0">
                          <a:latin typeface="Cambria Math" panose="02040503050406030204" pitchFamily="18" charset="0"/>
                        </a:rPr>
                        <m:t>Ψ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x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y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1+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acc>
                        <m:accPr>
                          <m:chr m:val="ˆ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Ψ</m:t>
                          </m:r>
                        </m:e>
                        <m:sub>
                          <m:r>
                            <a:rPr lang="en-GB" b="1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This is stable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but requires an implicit solve and is second order accurate.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E37BFC8-DF7F-D618-5C49-3E20513387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24697" y="1800911"/>
                <a:ext cx="10515600" cy="4691963"/>
              </a:xfrm>
              <a:blipFill>
                <a:blip r:embed="rId3"/>
                <a:stretch>
                  <a:fillRect l="-724" t="-2426" b="-53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Second-order accurate and stable at any Δt, but you pay for it: every step now needs an implicit solve.</a:t>
            </a:r>
          </a:p>
        </p:txBody>
      </p:sp>
    </p:spTree>
    <p:extLst>
      <p:ext uri="{BB962C8B-B14F-4D97-AF65-F5344CB8AC3E}">
        <p14:creationId xmlns:p14="http://schemas.microsoft.com/office/powerpoint/2010/main" val="136035148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F0D76-2CAC-FA33-3DE0-03484DBD39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1922C-ACC3-D3C6-7AFC-080D1CA70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Exponential of a diagonal operator</a:t>
            </a:r>
            <a:br>
              <a:rPr lang="en-US" dirty="0"/>
            </a:b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18957B-AC4F-55DB-B1ED-4880E45F2CE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The exponential of a diagonal matrix is simply the exponential of it’s diagonal components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K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GB" sz="2400" b="0" i="1" smtClean="0">
                              <a:latin typeface="Cambria Math" panose="02040503050406030204" pitchFamily="18" charset="0"/>
                            </a:rPr>
                            <m:t>i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∆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d>
                            <m:dPr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US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</m:e>
                                  <m:e/>
                                  <m:e/>
                                </m:mr>
                                <m:mr>
                                  <m:e/>
                                  <m:e>
                                    <m:r>
                                      <a:rPr lang="en-US" sz="2400" b="0" i="1" smtClean="0">
                                        <a:latin typeface="Cambria Math" panose="02040503050406030204" pitchFamily="18" charset="0"/>
                                      </a:rPr>
                                      <m:t>⋱</m:t>
                                    </m:r>
                                  </m:e>
                                  <m:e/>
                                </m:mr>
                                <m:mr>
                                  <m:e/>
                                  <m:e/>
                                  <m:e>
                                    <m:sSub>
                                      <m:sSubPr>
                                        <m:ctrl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k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sty m:val="p"/>
                                          </m:rPr>
                                          <a:rPr lang="en-GB" sz="2400" b="0" i="1" smtClean="0">
                                            <a:latin typeface="Cambria Math" panose="02040503050406030204" pitchFamily="18" charset="0"/>
                                          </a:rPr>
                                          <m:t>N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d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2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sSub>
                                  <m:sSub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  <m:e/>
                              <m:e/>
                            </m:mr>
                            <m:mr>
                              <m:e/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/>
                            </m:mr>
                            <m:mr>
                              <m:e/>
                              <m:e/>
                              <m:e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e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  <m:r>
                                  <m:rPr>
                                    <m:sty m:val="p"/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p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m:rPr>
                                    <m:sty m:val="p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i</m:t>
                                </m:r>
                                <m:sSub>
                                  <m:sSubPr>
                                    <m:ctrl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k</m:t>
                                    </m:r>
                                  </m:e>
                                  <m:sub>
                                    <m:r>
                                      <m:rPr>
                                        <m:sty m:val="p"/>
                                      </m:rPr>
                                      <a:rPr lang="en-GB" sz="2400" b="0" i="1" smtClean="0">
                                        <a:latin typeface="Cambria Math" panose="02040503050406030204" pitchFamily="18" charset="0"/>
                                      </a:rPr>
                                      <m:t>N</m:t>
                                    </m:r>
                                  </m:sub>
                                </m:s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∆</m:t>
                                </m:r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m:rPr>
                                    <m:brk m:alnAt="7"/>
                                  </m:rPr>
                                  <a:rPr lang="en-GB" sz="24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Hence, if we can diagonalize a matrix say via an eigenvalue decomposition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iT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iK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F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(Equivalent to Taylor series definition – can be shown via substitution).</a:t>
                </a:r>
              </a:p>
              <a:p>
                <a:pPr marL="0" indent="0">
                  <a:buNone/>
                </a:pPr>
                <a:endParaRPr lang="en-US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E18957B-AC4F-55DB-B1ED-4880E45F2CE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  <a:blipFill>
                <a:blip r:embed="rId2"/>
                <a:stretch>
                  <a:fillRect l="-1089" t="-215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In the right basis the exponential is free — exponentiate the eigenvalues, not the matrix.</a:t>
            </a:r>
          </a:p>
        </p:txBody>
      </p:sp>
    </p:spTree>
    <p:extLst>
      <p:ext uri="{BB962C8B-B14F-4D97-AF65-F5344CB8AC3E}">
        <p14:creationId xmlns:p14="http://schemas.microsoft.com/office/powerpoint/2010/main" val="747108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65166C-AFB5-D442-5741-4A6DFA86E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2BF185A-66EE-6777-A5C3-D1417F90B98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? Operator Splitting.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82BF185A-66EE-6777-A5C3-D1417F90B98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930" t="-119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DA14EB1-4431-DB76-2572-3BD404D48A2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dirty="0"/>
                  <a:t>Recall our Hamiltonian </a:t>
                </a: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𝑉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x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GB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y</m:t>
                        </m:r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dirty="0"/>
                  <a:t> Hence, we can write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sz="2400" b="0" i="1" smtClean="0">
                          <a:latin typeface="Cambria Math" panose="02040503050406030204" pitchFamily="18" charset="0"/>
                        </a:rPr>
                        <m:t>𝑡</m:t>
                      </m:r>
                      <m:acc>
                        <m:accPr>
                          <m:chr m:val="ˆ"/>
                          <m:ctrlP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4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</m:t>
                          </m:r>
                        </m:e>
                      </m:acc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1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))≈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GB" dirty="0"/>
                  <a:t>The potential operator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V</m:t>
                    </m:r>
                  </m:oMath>
                </a14:m>
                <a:r>
                  <a:rPr lang="en-US" dirty="0"/>
                  <a:t> acts on position so is diagonal, and the kinetic operator is dense but given we applied periodic boundary condition it is diagonal in Fourier space. This method has a first order commutator error dependent on step size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 Hence, we can compute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)=</m:t>
                      </m:r>
                      <m:sSup>
                        <m:s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GB" b="0" i="1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iK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F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exp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i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∆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𝑡</m:t>
                      </m:r>
                      <m:r>
                        <m:rPr>
                          <m:sty m:val="p"/>
                        </m:rPr>
                        <a:rPr lang="en-GB" b="0" i="1" smtClean="0">
                          <a:latin typeface="Cambria Math" panose="02040503050406030204" pitchFamily="18" charset="0"/>
                        </a:rPr>
                        <m:t>V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stable and unitary for all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DA14EB1-4431-DB76-2572-3BD404D48A2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35598" y="1726595"/>
                <a:ext cx="11653619" cy="4691963"/>
              </a:xfrm>
              <a:blipFill>
                <a:blip r:embed="rId3"/>
                <a:stretch>
                  <a:fillRect l="-1089" t="-26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ounded Rectangle 4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V is diagonal in position, T is diagonal in momentum. FFT between the two and each half is free. This is the method we actually ship.</a:t>
            </a:r>
          </a:p>
        </p:txBody>
      </p:sp>
    </p:spTree>
    <p:extLst>
      <p:ext uri="{BB962C8B-B14F-4D97-AF65-F5344CB8AC3E}">
        <p14:creationId xmlns:p14="http://schemas.microsoft.com/office/powerpoint/2010/main" val="40623261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F0EBF-281B-6729-4CA9-3C94D9B6E4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9729CEE-4034-4D97-22E3-526FDF5BE18D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 fontScale="90000"/>
              </a:bodyPr>
              <a:lstStyle/>
              <a:p>
                <a:r>
                  <a:rPr lang="en-US" dirty="0"/>
                  <a:t>How to compute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exp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i</m:t>
                    </m:r>
                    <m:acc>
                      <m:accPr>
                        <m:chr m:val="ˆ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𝐻</m:t>
                        </m:r>
                      </m:e>
                    </m:acc>
                    <m:r>
                      <m:rPr>
                        <m:sty m:val="p"/>
                      </m:rPr>
                      <a:rPr lang="en-GB" b="0" i="1" smtClean="0">
                        <a:latin typeface="Cambria Math" panose="02040503050406030204" pitchFamily="18" charset="0"/>
                      </a:rPr>
                      <m:t>t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exactly (to machine precision)? Arnoldi Iteration.</a:t>
                </a:r>
                <a:br>
                  <a:rPr lang="en-US" dirty="0"/>
                </a:b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F9729CEE-4034-4D97-22E3-526FDF5BE18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2171" t="-295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012AC80-2408-9A60-98FC-6A5B3BF168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1248" y="1810512"/>
            <a:ext cx="10515600" cy="7315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0" i="0" dirty="0">
                <a:solidFill>
                  <a:srgbClr val="413A55"/>
                </a:solidFill>
                <a:latin typeface="Calibri"/>
              </a:rPr>
              <a:t>We project the Hamiltonian operator into a smaller space to capture low frequency components of the operator applied to the initial state</a:t>
            </a:r>
          </a:p>
        </p:txBody>
      </p:sp>
      <p:grpSp>
        <p:nvGrpSpPr>
          <p:cNvPr id="6" name="Group 4">
            <a:extLst>
              <a:ext uri="{FF2B5EF4-FFF2-40B4-BE49-F238E27FC236}">
                <a16:creationId xmlns:a16="http://schemas.microsoft.com/office/drawing/2014/main" id="{D53CADA5-30AC-958D-29FF-B484D4AB21BA}"/>
              </a:ext>
            </a:extLst>
          </p:cNvPr>
          <p:cNvGrpSpPr/>
          <p:nvPr/>
        </p:nvGrpSpPr>
        <p:grpSpPr>
          <a:xfrm>
            <a:off x="1042416" y="2707282"/>
            <a:ext cx="2682865" cy="1732617"/>
            <a:chOff x="977158" y="2707282"/>
            <a:chExt cx="4085475" cy="2778335"/>
          </a:xfrm>
        </p:grpSpPr>
        <p:pic>
          <p:nvPicPr>
            <p:cNvPr id="7" name="Picture 2 1 2" descr="organic blob shapes hand drawn illustration 9668831 PNG">
              <a:extLst>
                <a:ext uri="{FF2B5EF4-FFF2-40B4-BE49-F238E27FC236}">
                  <a16:creationId xmlns:a16="http://schemas.microsoft.com/office/drawing/2014/main" id="{B5BC9808-919D-4B85-AAE5-507D8FF7B6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2250896" y="2707282"/>
              <a:ext cx="2057546" cy="2059457"/>
            </a:xfrm>
            <a:prstGeom prst="rect">
              <a:avLst/>
            </a:prstGeom>
            <a:noFill/>
            <a:ln cap="flat">
              <a:noFill/>
            </a:ln>
          </p:spPr>
        </p:pic>
        <p:sp>
          <p:nvSpPr>
            <p:cNvPr id="8" name="TextBox 20">
              <a:extLst>
                <a:ext uri="{FF2B5EF4-FFF2-40B4-BE49-F238E27FC236}">
                  <a16:creationId xmlns:a16="http://schemas.microsoft.com/office/drawing/2014/main" id="{46B390D1-699D-4339-B912-980352D8E601}"/>
                </a:ext>
              </a:extLst>
            </p:cNvPr>
            <p:cNvSpPr txBox="1"/>
            <p:nvPr/>
          </p:nvSpPr>
          <p:spPr>
            <a:xfrm>
              <a:off x="977158" y="5023956"/>
              <a:ext cx="4085475" cy="461661"/>
            </a:xfrm>
            <a:prstGeom prst="rect">
              <a:avLst/>
            </a:prstGeom>
            <a:noFill/>
            <a:ln cap="flat">
              <a:noFill/>
            </a:ln>
          </p:spPr>
          <p:txBody>
            <a:bodyPr vert="horz" wrap="square" lIns="91440" tIns="45720" rIns="91440" bIns="45720" anchor="t" anchorCtr="1" compatLnSpc="1">
              <a:spAutoFit/>
            </a:bodyPr>
            <a:lstStyle/>
            <a:p>
              <a:pPr marL="0" marR="0" lvl="0" indent="0" algn="ctr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r>
                <a:rPr lang="en-US" sz="1300" b="0" i="0" u="none" strike="noStrike" kern="1200" cap="none" spc="0" baseline="0" dirty="0">
                  <a:solidFill>
                    <a:srgbClr val="6E6684"/>
                  </a:solidFill>
                  <a:uFillTx/>
                  <a:latin typeface="Calibri" pitchFamily="2"/>
                  <a:ea typeface="CMU Bright" pitchFamily="2"/>
                  <a:cs typeface="CMU Bright" pitchFamily="2"/>
                </a:rPr>
                <a:t>All possible states</a:t>
              </a:r>
              <a:endParaRPr lang="nl-NL" sz="2400" b="0" i="0" u="none" strike="noStrike" kern="1200" cap="none" spc="0" baseline="0" dirty="0">
                <a:solidFill>
                  <a:srgbClr val="000000"/>
                </a:solidFill>
                <a:uFillTx/>
                <a:latin typeface="CMU Bright" pitchFamily="2"/>
                <a:ea typeface="CMU Bright" pitchFamily="2"/>
                <a:cs typeface="CMU Bright" pitchFamily="2"/>
              </a:endParaRPr>
            </a:p>
          </p:txBody>
        </p:sp>
        <p:pic>
          <p:nvPicPr>
            <p:cNvPr id="9" name="Picture 23">
              <a:extLst>
                <a:ext uri="{FF2B5EF4-FFF2-40B4-BE49-F238E27FC236}">
                  <a16:creationId xmlns:a16="http://schemas.microsoft.com/office/drawing/2014/main" id="{2E1349FE-0D22-3405-B881-DBC5D2C9538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82644" y="3459522"/>
              <a:ext cx="594039" cy="365567"/>
            </a:xfrm>
            <a:prstGeom prst="rect">
              <a:avLst/>
            </a:prstGeom>
            <a:noFill/>
            <a:ln cap="flat">
              <a:noFill/>
            </a:ln>
          </p:spPr>
        </p:pic>
      </p:grpSp>
      <p:sp>
        <p:nvSpPr>
          <p:cNvPr id="10" name="TextBox 25">
            <a:extLst>
              <a:ext uri="{FF2B5EF4-FFF2-40B4-BE49-F238E27FC236}">
                <a16:creationId xmlns:a16="http://schemas.microsoft.com/office/drawing/2014/main" id="{E2D4E5D6-F426-A265-D452-077B78AA9965}"/>
              </a:ext>
            </a:extLst>
          </p:cNvPr>
          <p:cNvSpPr txBox="1"/>
          <p:nvPr/>
        </p:nvSpPr>
        <p:spPr>
          <a:xfrm>
            <a:off x="3443674" y="4122009"/>
            <a:ext cx="2652326" cy="292388"/>
          </a:xfrm>
          <a:prstGeom prst="rect">
            <a:avLst/>
          </a:prstGeom>
          <a:noFill/>
          <a:ln cap="flat">
            <a:noFill/>
          </a:ln>
        </p:spPr>
        <p:txBody>
          <a:bodyPr vert="horz" wrap="square" lIns="91440" tIns="45720" rIns="91440" bIns="45720" anchor="t" anchorCtr="1" compatLnSpc="1">
            <a:spAutoFit/>
          </a:bodyPr>
          <a:lstStyle/>
          <a:p>
            <a: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US" sz="1300" b="0" i="0" u="none" strike="noStrike" kern="1200" cap="none" spc="0" baseline="0" dirty="0">
                <a:solidFill>
                  <a:srgbClr val="6E6684"/>
                </a:solidFill>
                <a:uFillTx/>
                <a:latin typeface="Calibri" pitchFamily="2"/>
                <a:ea typeface="CMU Bright" pitchFamily="2"/>
                <a:cs typeface="CMU Bright" pitchFamily="2"/>
              </a:rPr>
              <a:t>A subset</a:t>
            </a:r>
            <a:r>
              <a:rPr lang="en-US" sz="1300" b="0" i="0" u="none" strike="noStrike" kern="1200" cap="none" spc="0" dirty="0">
                <a:solidFill>
                  <a:srgbClr val="6E6684"/>
                </a:solidFill>
                <a:uFillTx/>
                <a:latin typeface="Calibri" pitchFamily="2"/>
                <a:ea typeface="CMU Bright" pitchFamily="2"/>
                <a:cs typeface="CMU Bright" pitchFamily="2"/>
              </a:rPr>
              <a:t> of low frequency states</a:t>
            </a:r>
            <a:endParaRPr lang="en-US" sz="1300" kern="0" dirty="0">
              <a:solidFill>
                <a:srgbClr val="6E6684"/>
              </a:solidFill>
              <a:latin typeface="Calibri" pitchFamily="2"/>
              <a:ea typeface="CMU Bright" pitchFamily="2"/>
              <a:cs typeface="CMU Bright" pitchFamily="2"/>
            </a:endParaRPr>
          </a:p>
        </p:txBody>
      </p:sp>
      <p:grpSp>
        <p:nvGrpSpPr>
          <p:cNvPr id="11" name="Group 5">
            <a:extLst>
              <a:ext uri="{FF2B5EF4-FFF2-40B4-BE49-F238E27FC236}">
                <a16:creationId xmlns:a16="http://schemas.microsoft.com/office/drawing/2014/main" id="{04AF971E-6CAC-F317-E37B-A426E265C439}"/>
              </a:ext>
            </a:extLst>
          </p:cNvPr>
          <p:cNvGrpSpPr/>
          <p:nvPr/>
        </p:nvGrpSpPr>
        <p:grpSpPr>
          <a:xfrm>
            <a:off x="4039560" y="2782403"/>
            <a:ext cx="1356399" cy="1284312"/>
            <a:chOff x="7876193" y="2707282"/>
            <a:chExt cx="2057546" cy="2059457"/>
          </a:xfrm>
        </p:grpSpPr>
        <p:pic>
          <p:nvPicPr>
            <p:cNvPr id="12" name="Picture 2 1 1" descr="organic blob shapes hand drawn illustration 9668831 PNG">
              <a:extLst>
                <a:ext uri="{FF2B5EF4-FFF2-40B4-BE49-F238E27FC236}">
                  <a16:creationId xmlns:a16="http://schemas.microsoft.com/office/drawing/2014/main" id="{FEC95126-C3AA-6194-4C71-773CC13822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>
            <a:xfrm>
              <a:off x="7876193" y="2707282"/>
              <a:ext cx="2057546" cy="2059457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3" name="Picture 2 3" descr="organic blob shapes hand drawn illustration 9668831 PNG">
              <a:extLst>
                <a:ext uri="{FF2B5EF4-FFF2-40B4-BE49-F238E27FC236}">
                  <a16:creationId xmlns:a16="http://schemas.microsoft.com/office/drawing/2014/main" id="{77B130DD-0D95-DE79-A93E-4F1D24A41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>
            <a:xfrm rot="6207436">
              <a:off x="8085998" y="3750269"/>
              <a:ext cx="895636" cy="896468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4" name="Picture 41">
              <a:extLst>
                <a:ext uri="{FF2B5EF4-FFF2-40B4-BE49-F238E27FC236}">
                  <a16:creationId xmlns:a16="http://schemas.microsoft.com/office/drawing/2014/main" id="{BD6B3404-619C-6F8E-058D-FB86C81F965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340416" y="4033500"/>
              <a:ext cx="433846" cy="329997"/>
            </a:xfrm>
            <a:prstGeom prst="rect">
              <a:avLst/>
            </a:prstGeom>
            <a:noFill/>
            <a:ln cap="flat">
              <a:noFill/>
            </a:ln>
          </p:spPr>
        </p:pic>
        <p:pic>
          <p:nvPicPr>
            <p:cNvPr id="15" name="Picture 37">
              <a:extLst>
                <a:ext uri="{FF2B5EF4-FFF2-40B4-BE49-F238E27FC236}">
                  <a16:creationId xmlns:a16="http://schemas.microsoft.com/office/drawing/2014/main" id="{0D6D9A50-3FD6-E105-8EA8-CE28C9FD40B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711379" y="3060670"/>
              <a:ext cx="594039" cy="365567"/>
            </a:xfrm>
            <a:prstGeom prst="rect">
              <a:avLst/>
            </a:prstGeom>
            <a:noFill/>
            <a:ln cap="flat">
              <a:noFill/>
            </a:ln>
          </p:spPr>
        </p:pic>
      </p:grpSp>
      <p:sp>
        <p:nvSpPr>
          <p:cNvPr id="16" name="Rounded Rectangle 15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Build a small Krylov basis, exponentiate the little matrix exactly, project back. Accuracy without shrinking Δt.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Rounded Rectangle 19">
                <a:extLst>
                  <a:ext uri="{FF2B5EF4-FFF2-40B4-BE49-F238E27FC236}">
                    <a16:creationId xmlns:a16="http://schemas.microsoft.com/office/drawing/2014/main" id="{C1E2A8F9-3AE0-6E15-4A2D-B4A842DD2829}"/>
                  </a:ext>
                </a:extLst>
              </p:cNvPr>
              <p:cNvSpPr/>
              <p:nvPr/>
            </p:nvSpPr>
            <p:spPr>
              <a:xfrm>
                <a:off x="1319613" y="4642305"/>
                <a:ext cx="4776387" cy="798664"/>
              </a:xfrm>
              <a:custGeom>
                <a:avLst>
                  <a:gd name="f0" fmla="val 3600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solidFill>
                <a:srgbClr val="B4E5A2"/>
              </a:solidFill>
              <a:ln w="12701" cap="flat">
                <a:solidFill>
                  <a:srgbClr val="4EA72E"/>
                </a:solidFill>
                <a:prstDash val="solid"/>
                <a:miter/>
              </a:ln>
            </p:spPr>
            <p:txBody>
              <a:bodyPr vert="horz" wrap="square" lIns="91440" tIns="45720" rIns="91440" bIns="45720" anchor="ctr" anchorCtr="1" compatLnSpc="1">
                <a:noAutofit/>
              </a:bodyPr>
              <a:lstStyle/>
              <a:p>
                <a:pPr lvl="0" algn="ctr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𝒦</m:t>
                          </m:r>
                        </m:e>
                        <m:sub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ˆ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, </m:t>
                          </m:r>
                          <m:acc>
                            <m:accPr>
                              <m:chr m:val="ˆ"/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𝐻</m:t>
                              </m:r>
                            </m:e>
                          </m:acc>
                          <m:sSup>
                            <m:sSup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ˆ"/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1400" b="0" i="1" u="none" strike="noStrike" kern="1200" cap="none" spc="0" baseline="0" dirty="0">
                  <a:solidFill>
                    <a:srgbClr val="000000"/>
                  </a:solidFill>
                  <a:uFillTx/>
                  <a:latin typeface="Cambria Math" pitchFamily="18"/>
                </a:endParaRPr>
              </a:p>
              <a:p>
                <a:pPr lvl="0" algn="ctr">
                  <a:defRPr sz="1800" b="0" i="0" u="none" strike="noStrike" kern="0" cap="none" spc="0" baseline="0">
                    <a:solidFill>
                      <a:srgbClr val="000000"/>
                    </a:solidFill>
                    <a:uFillTx/>
                  </a:defRPr>
                </a:pPr>
                <a14:m>
                  <m:oMathPara xmlns:m="http://schemas.openxmlformats.org/officeDocument/2006/math">
                    <m:oMath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span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ˆ"/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Ψ</m:t>
                              </m:r>
                            </m:e>
                            <m:sub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, </m:t>
                          </m:r>
                          <m:d>
                            <m:d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acc>
                                    <m:accPr>
                                      <m:chr m:val="ˆ"/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</m:acc>
                                </m:e>
                                <m:sup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𝑇</m:t>
                                  </m:r>
                                </m:sup>
                              </m:sSup>
                              <m:acc>
                                <m:accPr>
                                  <m:chr m:val="ˆ"/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</m:d>
                          <m:sSup>
                            <m:sSup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ˆ"/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GB" b="0" i="0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 … </m:t>
                          </m:r>
                          <m:sSup>
                            <m:sSup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acc>
                                        <m:accPr>
                                          <m:chr m:val="ˆ"/>
                                          <m:ctrlP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en-US" b="0" i="0" smtClean="0">
                                              <a:latin typeface="Cambria Math" panose="02040503050406030204" pitchFamily="18" charset="0"/>
                                            </a:rPr>
                                            <m:t>𝐻</m:t>
                                          </m:r>
                                        </m:e>
                                      </m:acc>
                                    </m:e>
                                    <m:sup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𝑇</m:t>
                                      </m:r>
                                    </m:sup>
                                  </m:sSup>
                                  <m:acc>
                                    <m:accPr>
                                      <m:chr m:val="ˆ"/>
                                      <m:ctrlP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b="0" i="0" smtClean="0">
                                          <a:latin typeface="Cambria Math" panose="02040503050406030204" pitchFamily="18" charset="0"/>
                                        </a:rPr>
                                        <m:t>𝐻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sup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k</m:t>
                              </m:r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p>
                          </m:sSup>
                          <m:sSup>
                            <m:sSupPr>
                              <m:ctrl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acc>
                                <m:accPr>
                                  <m:chr m:val="ˆ"/>
                                  <m:ctrl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𝐻</m:t>
                                  </m:r>
                                </m:e>
                              </m:acc>
                            </m:e>
                            <m:sup>
                              <m: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sz="1800" b="0" i="0" u="none" strike="noStrike" kern="1200" cap="none" spc="0" baseline="0" dirty="0">
                  <a:solidFill>
                    <a:srgbClr val="000000"/>
                  </a:solidFill>
                  <a:uFillTx/>
                  <a:latin typeface="Aptos"/>
                </a:endParaRPr>
              </a:p>
            </p:txBody>
          </p:sp>
        </mc:Choice>
        <mc:Fallback>
          <p:sp>
            <p:nvSpPr>
              <p:cNvPr id="3" name="Rounded Rectangle 19">
                <a:extLst>
                  <a:ext uri="{FF2B5EF4-FFF2-40B4-BE49-F238E27FC236}">
                    <a16:creationId xmlns:a16="http://schemas.microsoft.com/office/drawing/2014/main" id="{C1E2A8F9-3AE0-6E15-4A2D-B4A842DD28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19613" y="4642305"/>
                <a:ext cx="4776387" cy="798664"/>
              </a:xfrm>
              <a:custGeom>
                <a:avLst>
                  <a:gd name="f0" fmla="val 3600"/>
                </a:avLst>
                <a:gdLst>
                  <a:gd name="f1" fmla="val 10800000"/>
                  <a:gd name="f2" fmla="val 5400000"/>
                  <a:gd name="f3" fmla="val 16200000"/>
                  <a:gd name="f4" fmla="val w"/>
                  <a:gd name="f5" fmla="val h"/>
                  <a:gd name="f6" fmla="val ss"/>
                  <a:gd name="f7" fmla="val 0"/>
                  <a:gd name="f8" fmla="*/ 5419351 1 1725033"/>
                  <a:gd name="f9" fmla="val 45"/>
                  <a:gd name="f10" fmla="val 10800"/>
                  <a:gd name="f11" fmla="val -2147483647"/>
                  <a:gd name="f12" fmla="val 2147483647"/>
                  <a:gd name="f13" fmla="abs f4"/>
                  <a:gd name="f14" fmla="abs f5"/>
                  <a:gd name="f15" fmla="abs f6"/>
                  <a:gd name="f16" fmla="*/ f8 1 180"/>
                  <a:gd name="f17" fmla="pin 0 f0 10800"/>
                  <a:gd name="f18" fmla="+- 0 0 f2"/>
                  <a:gd name="f19" fmla="?: f13 f4 1"/>
                  <a:gd name="f20" fmla="?: f14 f5 1"/>
                  <a:gd name="f21" fmla="?: f15 f6 1"/>
                  <a:gd name="f22" fmla="*/ f9 f16 1"/>
                  <a:gd name="f23" fmla="+- f7 f17 0"/>
                  <a:gd name="f24" fmla="*/ f19 1 21600"/>
                  <a:gd name="f25" fmla="*/ f20 1 21600"/>
                  <a:gd name="f26" fmla="*/ 21600 f19 1"/>
                  <a:gd name="f27" fmla="*/ 21600 f20 1"/>
                  <a:gd name="f28" fmla="+- 0 0 f22"/>
                  <a:gd name="f29" fmla="min f25 f24"/>
                  <a:gd name="f30" fmla="*/ f26 1 f21"/>
                  <a:gd name="f31" fmla="*/ f27 1 f21"/>
                  <a:gd name="f32" fmla="*/ f28 f1 1"/>
                  <a:gd name="f33" fmla="*/ f32 1 f8"/>
                  <a:gd name="f34" fmla="+- f31 0 f17"/>
                  <a:gd name="f35" fmla="+- f30 0 f17"/>
                  <a:gd name="f36" fmla="*/ f17 f29 1"/>
                  <a:gd name="f37" fmla="*/ f7 f29 1"/>
                  <a:gd name="f38" fmla="*/ f23 f29 1"/>
                  <a:gd name="f39" fmla="*/ f31 f29 1"/>
                  <a:gd name="f40" fmla="*/ f30 f29 1"/>
                  <a:gd name="f41" fmla="+- f33 0 f2"/>
                  <a:gd name="f42" fmla="+- f37 0 f38"/>
                  <a:gd name="f43" fmla="+- f38 0 f37"/>
                  <a:gd name="f44" fmla="*/ f34 f29 1"/>
                  <a:gd name="f45" fmla="*/ f35 f29 1"/>
                  <a:gd name="f46" fmla="cos 1 f41"/>
                  <a:gd name="f47" fmla="abs f42"/>
                  <a:gd name="f48" fmla="abs f43"/>
                  <a:gd name="f49" fmla="?: f42 f18 f2"/>
                  <a:gd name="f50" fmla="?: f42 f2 f18"/>
                  <a:gd name="f51" fmla="?: f42 f3 f2"/>
                  <a:gd name="f52" fmla="?: f42 f2 f3"/>
                  <a:gd name="f53" fmla="+- f39 0 f44"/>
                  <a:gd name="f54" fmla="?: f43 f18 f2"/>
                  <a:gd name="f55" fmla="?: f43 f2 f18"/>
                  <a:gd name="f56" fmla="+- f40 0 f45"/>
                  <a:gd name="f57" fmla="+- f44 0 f39"/>
                  <a:gd name="f58" fmla="+- f45 0 f40"/>
                  <a:gd name="f59" fmla="?: f42 0 f1"/>
                  <a:gd name="f60" fmla="?: f42 f1 0"/>
                  <a:gd name="f61" fmla="+- 0 0 f46"/>
                  <a:gd name="f62" fmla="?: f42 f52 f51"/>
                  <a:gd name="f63" fmla="?: f42 f51 f52"/>
                  <a:gd name="f64" fmla="?: f43 f50 f49"/>
                  <a:gd name="f65" fmla="abs f53"/>
                  <a:gd name="f66" fmla="?: f53 0 f1"/>
                  <a:gd name="f67" fmla="?: f53 f1 0"/>
                  <a:gd name="f68" fmla="?: f53 f54 f55"/>
                  <a:gd name="f69" fmla="abs f56"/>
                  <a:gd name="f70" fmla="abs f57"/>
                  <a:gd name="f71" fmla="?: f56 f18 f2"/>
                  <a:gd name="f72" fmla="?: f56 f2 f18"/>
                  <a:gd name="f73" fmla="?: f56 f3 f2"/>
                  <a:gd name="f74" fmla="?: f56 f2 f3"/>
                  <a:gd name="f75" fmla="abs f58"/>
                  <a:gd name="f76" fmla="?: f58 f18 f2"/>
                  <a:gd name="f77" fmla="?: f58 f2 f18"/>
                  <a:gd name="f78" fmla="?: f58 f60 f59"/>
                  <a:gd name="f79" fmla="?: f58 f59 f60"/>
                  <a:gd name="f80" fmla="*/ f17 f61 1"/>
                  <a:gd name="f81" fmla="?: f43 f63 f62"/>
                  <a:gd name="f82" fmla="?: f43 f67 f66"/>
                  <a:gd name="f83" fmla="?: f43 f66 f67"/>
                  <a:gd name="f84" fmla="?: f56 f74 f73"/>
                  <a:gd name="f85" fmla="?: f56 f73 f74"/>
                  <a:gd name="f86" fmla="?: f57 f72 f71"/>
                  <a:gd name="f87" fmla="?: f42 f78 f79"/>
                  <a:gd name="f88" fmla="?: f42 f76 f77"/>
                  <a:gd name="f89" fmla="*/ f80 3163 1"/>
                  <a:gd name="f90" fmla="?: f53 f82 f83"/>
                  <a:gd name="f91" fmla="?: f57 f85 f84"/>
                  <a:gd name="f92" fmla="*/ f89 1 7636"/>
                  <a:gd name="f93" fmla="+- f7 f92 0"/>
                  <a:gd name="f94" fmla="+- f30 0 f92"/>
                  <a:gd name="f95" fmla="+- f31 0 f92"/>
                  <a:gd name="f96" fmla="*/ f93 f29 1"/>
                  <a:gd name="f97" fmla="*/ f94 f29 1"/>
                  <a:gd name="f98" fmla="*/ f95 f29 1"/>
                </a:gdLst>
                <a:ahLst>
                  <a:ahXY gdRefX="f0" minX="f7" maxX="f10">
                    <a:pos x="f36" y="f37"/>
                  </a:ahXY>
                </a:ahLst>
                <a:cxnLst>
                  <a:cxn ang="3cd4">
                    <a:pos x="hc" y="t"/>
                  </a:cxn>
                  <a:cxn ang="0">
                    <a:pos x="r" y="vc"/>
                  </a:cxn>
                  <a:cxn ang="cd4">
                    <a:pos x="hc" y="b"/>
                  </a:cxn>
                  <a:cxn ang="cd2">
                    <a:pos x="l" y="vc"/>
                  </a:cxn>
                </a:cxnLst>
                <a:rect l="f96" t="f96" r="f97" b="f98"/>
                <a:pathLst>
                  <a:path>
                    <a:moveTo>
                      <a:pt x="f38" y="f37"/>
                    </a:moveTo>
                    <a:arcTo wR="f47" hR="f48" stAng="f81" swAng="f64"/>
                    <a:lnTo>
                      <a:pt x="f37" y="f44"/>
                    </a:lnTo>
                    <a:arcTo wR="f48" hR="f65" stAng="f90" swAng="f68"/>
                    <a:lnTo>
                      <a:pt x="f45" y="f39"/>
                    </a:lnTo>
                    <a:arcTo wR="f69" hR="f70" stAng="f91" swAng="f86"/>
                    <a:lnTo>
                      <a:pt x="f40" y="f38"/>
                    </a:lnTo>
                    <a:arcTo wR="f75" hR="f47" stAng="f87" swAng="f88"/>
                    <a:close/>
                  </a:path>
                </a:pathLst>
              </a:custGeom>
              <a:blipFill>
                <a:blip r:embed="rId7"/>
                <a:stretch>
                  <a:fillRect t="-3077"/>
                </a:stretch>
              </a:blipFill>
              <a:ln w="12701" cap="flat">
                <a:solidFill>
                  <a:srgbClr val="4EA72E"/>
                </a:solidFill>
                <a:prstDash val="solid"/>
                <a:miter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37620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280160" y="2331720"/>
            <a:ext cx="96012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PART TWO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280160" y="2743200"/>
            <a:ext cx="960120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mbria"/>
              </a:rPr>
              <a:t>The Python toolbox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794760"/>
            <a:ext cx="96012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C9BEE4"/>
                </a:solidFill>
                <a:latin typeface="Calibri"/>
              </a:rPr>
              <a:t>uv · ruff · ty · pre-commit · array-api-compat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The toolchain at a glance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Four of these keep the repo honest. The fifth is what lets the same maths run on a laptop CPU and on a GPU.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920240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1042416" y="2093976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2176272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066544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uv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18488" y="2350008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Project, interpreter, dependencies, lockfile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13448" y="2176272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uv sync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41248" y="2770632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1042416" y="2944368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1042416" y="3026664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2916936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ruff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18488" y="3200400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Linter and formatter — replaces flake8, isort, black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13448" y="3026664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ruff check --fix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41248" y="3621024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1042416" y="3794760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042416" y="3877056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1B0C41"/>
                </a:solidFill>
                <a:latin typeface="Cambria"/>
              </a:rPr>
              <a:t>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3767328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18488" y="4050792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Type checker, same team, same speed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13448" y="3877056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ty check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" y="4471416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1042416" y="4645152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42416" y="4727448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18488" y="4617720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pre-commit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18488" y="4901184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Runs all of the above on every commit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13448" y="4727448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pre-commit install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" y="5321808"/>
            <a:ext cx="10515600" cy="749808"/>
          </a:xfrm>
          <a:prstGeom prst="roundRect">
            <a:avLst>
              <a:gd name="adj" fmla="val 12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1042416" y="5495544"/>
            <a:ext cx="402336" cy="402336"/>
          </a:xfrm>
          <a:prstGeom prst="roundRect">
            <a:avLst>
              <a:gd name="adj" fmla="val 20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1042416" y="5577840"/>
            <a:ext cx="40233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mbria"/>
              </a:rPr>
              <a:t>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18488" y="5468112"/>
            <a:ext cx="2743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B0C41"/>
                </a:solidFill>
                <a:latin typeface="Courier New"/>
              </a:rPr>
              <a:t>array-api-compat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18488" y="5751576"/>
            <a:ext cx="5120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0" i="0">
                <a:solidFill>
                  <a:srgbClr val="6E6684"/>
                </a:solidFill>
                <a:latin typeface="Calibri"/>
              </a:rPr>
              <a:t>One algorithm; NumPy, PyTorch or CuPy underneath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13448" y="5577840"/>
            <a:ext cx="411480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3B0F70"/>
                </a:solidFill>
                <a:latin typeface="Courier New"/>
              </a:rPr>
              <a:t>xp = array_namespace(psi)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uv — the project, the Python, and the lockfile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git clone → uv sync → running. One binary replaces pip, pip-tools, pipx, virtualenv, pyenv and poetry.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260604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150041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init</a:t>
            </a:r>
            <a:r>
              <a:rPr lang="en-GB" sz="1250" dirty="0">
                <a:solidFill>
                  <a:srgbClr val="E8E1F5"/>
                </a:solidFill>
                <a:latin typeface="Courier New"/>
              </a:rPr>
              <a:t> --package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toolbox-talk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# 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pyproject.toml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, .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venv</a:t>
            </a:r>
            <a:endParaRPr sz="12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endParaRPr lang="en-GB" sz="1250" b="0" i="0" dirty="0">
              <a:solidFill>
                <a:srgbClr val="DE4968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add 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numpy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matplotlib array-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api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-</a:t>
            </a:r>
            <a:r>
              <a:rPr sz="1250" b="0" i="0" dirty="0" err="1">
                <a:solidFill>
                  <a:srgbClr val="E8E1F5"/>
                </a:solidFill>
                <a:latin typeface="Courier New"/>
              </a:rPr>
              <a:t>compat</a:t>
            </a:r>
            <a:endParaRPr sz="12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add --dev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ty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pre-commit</a:t>
            </a:r>
          </a:p>
          <a:p>
            <a:pPr>
              <a:spcAft>
                <a:spcPts val="150"/>
              </a:spcAft>
            </a:pPr>
            <a:r>
              <a:rPr lang="en-GB" sz="1250" dirty="0">
                <a:solidFill>
                  <a:srgbClr val="DE4968"/>
                </a:solidFill>
                <a:latin typeface="Courier New"/>
              </a:rPr>
              <a:t>$</a:t>
            </a:r>
            <a:endParaRPr sz="12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sync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           # exact env from </a:t>
            </a:r>
            <a:r>
              <a:rPr sz="1250" b="0" i="0" dirty="0" err="1">
                <a:solidFill>
                  <a:srgbClr val="9C8FC0"/>
                </a:solidFill>
                <a:latin typeface="Courier New"/>
              </a:rPr>
              <a:t>uv.lock</a:t>
            </a:r>
            <a:endParaRPr sz="12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 err="1">
                <a:solidFill>
                  <a:srgbClr val="FE9F6D"/>
                </a:solidFill>
                <a:latin typeface="Courier New"/>
              </a:rPr>
              <a:t>uv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check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</a:t>
            </a:r>
            <a:r>
              <a:rPr lang="en-GB" sz="1250" b="0" i="0" dirty="0">
                <a:solidFill>
                  <a:srgbClr val="9C8FC0"/>
                </a:solidFill>
                <a:latin typeface="Courier New"/>
              </a:rPr>
              <a:t>.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   # run a tool, install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553712"/>
            <a:ext cx="6720840" cy="160020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46725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pyproject.toml — written for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4956048"/>
            <a:ext cx="6318503" cy="106984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[project]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dependencies = [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"numpy"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"matplotlib"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"array-api-compat"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FE9F6D"/>
                </a:solidFill>
                <a:latin typeface="Courier New"/>
              </a:rPr>
              <a:t>[dependency-groups]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dev = [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"ruff"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"ty"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"pre-commit"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Resolves and installs 10–100× faster than pip — fast enough that deleting .venv stops being scary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927848" y="304876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202168" y="295275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uv.lock is universal: the same resolution on my Mac and on the CI runner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27848" y="391267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02168" y="381666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uv run activates nothing and forgets nothing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27848" y="4562284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02168" y="44662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It manages the interpreter too, so “which Python?” stops being a question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ruff — lint and format in one pass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formatter is not configurable enough to argue about, which is the entire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035040" cy="214884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56327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pyproject.toml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5632703" cy="1618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FE9F6D"/>
                </a:solidFill>
                <a:latin typeface="Courier New"/>
              </a:rPr>
              <a:t>[tool.ruff]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line-length = 88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target-version =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"py313"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FE9F6D"/>
                </a:solidFill>
                <a:latin typeface="Courier New"/>
              </a:rPr>
              <a:t>[tool.ruff.lint]</a:t>
            </a:r>
          </a:p>
          <a:p>
            <a:pPr algn="l">
              <a:spcAft>
                <a:spcPts val="150"/>
              </a:spcAft>
            </a:pPr>
            <a:r>
              <a:rPr sz="1250" b="0" i="0">
                <a:solidFill>
                  <a:srgbClr val="E8E1F5"/>
                </a:solidFill>
                <a:latin typeface="Courier New"/>
              </a:rPr>
              <a:t>select = [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"E"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"F"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"I"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"UP"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"B"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"NPY"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, </a:t>
            </a:r>
            <a:r>
              <a:rPr sz="1250" b="0" i="0">
                <a:solidFill>
                  <a:srgbClr val="FCFDBF"/>
                </a:solidFill>
                <a:latin typeface="Courier New"/>
              </a:rPr>
              <a:t>"SIM"</a:t>
            </a:r>
            <a:r>
              <a:rPr sz="1250" b="0" i="0">
                <a:solidFill>
                  <a:srgbClr val="E8E1F5"/>
                </a:solidFill>
                <a:latin typeface="Courier New"/>
              </a:rPr>
              <a:t>]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1248" y="4187952"/>
            <a:ext cx="6035040" cy="118872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42416" y="4306824"/>
            <a:ext cx="56327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6" y="4590288"/>
            <a:ext cx="5632703" cy="41036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check</a:t>
            </a:r>
            <a:r>
              <a:rPr lang="en-GB" sz="1250" b="0" i="0" dirty="0">
                <a:solidFill>
                  <a:srgbClr val="E8E1F5"/>
                </a:solidFill>
                <a:latin typeface="Courier New"/>
              </a:rPr>
              <a:t> .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--fix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# lint, and fix what it can</a:t>
            </a:r>
          </a:p>
          <a:p>
            <a:pPr algn="l">
              <a:spcAft>
                <a:spcPts val="150"/>
              </a:spcAft>
            </a:pPr>
            <a:r>
              <a:rPr sz="1250" b="0" i="0" dirty="0">
                <a:solidFill>
                  <a:srgbClr val="DE4968"/>
                </a:solidFill>
                <a:latin typeface="Courier New"/>
              </a:rPr>
              <a:t>$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250" b="0" i="0" dirty="0">
                <a:solidFill>
                  <a:srgbClr val="FE9F6D"/>
                </a:solidFill>
                <a:latin typeface="Courier New"/>
              </a:rPr>
              <a:t>ruff</a:t>
            </a:r>
            <a:r>
              <a:rPr sz="1250" b="0" i="0" dirty="0">
                <a:solidFill>
                  <a:srgbClr val="E8E1F5"/>
                </a:solidFill>
                <a:latin typeface="Courier New"/>
              </a:rPr>
              <a:t> format</a:t>
            </a:r>
            <a:r>
              <a:rPr lang="en-GB" sz="1250" b="0" i="0" dirty="0">
                <a:solidFill>
                  <a:srgbClr val="E8E1F5"/>
                </a:solidFill>
                <a:latin typeface="Courier New"/>
              </a:rPr>
              <a:t> .</a:t>
            </a:r>
            <a:r>
              <a:rPr sz="1250" b="0" i="0" dirty="0">
                <a:solidFill>
                  <a:srgbClr val="9C8FC0"/>
                </a:solidFill>
                <a:latin typeface="Courier New"/>
              </a:rPr>
              <a:t>          # formatting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42048" y="1970532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516368" y="187452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One tool instead of flake8 + isort + pyupgrade + pydocstyle + black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42048" y="2620137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516368" y="2524125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NPY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rules catch legacy NumPy patterns — useful when half the repo is array code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42048" y="3484054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16368" y="3388042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Fixes are applied, not just reported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42048" y="4133659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516368" y="4037647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Fast enough to run on save, so the diff never contains formatting noise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ty — type checking without the wait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Types are documentation the machine checks — most valuable exactly where the array type has become a moving target.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242316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TERMINAL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18928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DE4968"/>
                </a:solidFill>
                <a:latin typeface="Courier New"/>
              </a:rPr>
              <a:t>$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uv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add --dev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ty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DE4968"/>
                </a:solidFill>
                <a:latin typeface="Courier New"/>
              </a:rPr>
              <a:t>$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200" b="0" i="0">
                <a:solidFill>
                  <a:srgbClr val="FE9F6D"/>
                </a:solidFill>
                <a:latin typeface="Courier New"/>
              </a:rPr>
              <a:t>ty</a:t>
            </a:r>
            <a:r>
              <a:rPr sz="1200" b="0" i="0">
                <a:solidFill>
                  <a:srgbClr val="E8E1F5"/>
                </a:solidFill>
                <a:latin typeface="Courier New"/>
              </a:rPr>
              <a:t> check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error[invalid-argument-type]: argument to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 `split_operator_step` is incorrect: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 expected `Array`, found `ndarray | None`</a:t>
            </a:r>
          </a:p>
          <a:p>
            <a:pPr algn="l">
              <a:spcAft>
                <a:spcPts val="150"/>
              </a:spcAft>
            </a:pPr>
            <a:r>
              <a:rPr sz="1200" b="0" i="0">
                <a:solidFill>
                  <a:srgbClr val="E8E1F5"/>
                </a:solidFill>
                <a:latin typeface="Courier New"/>
              </a:rPr>
              <a:t> --&gt; src/toolbox_talk/physics.py:48:22</a:t>
            </a:r>
          </a:p>
        </p:txBody>
      </p:sp>
      <p:sp>
        <p:nvSpPr>
          <p:cNvPr id="8" name="Rectangle 7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Rust-based, 10–100× faster than mypy on a cold check, and incremental in the editor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7848" y="2834449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2168" y="273843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Beta on the 0.x line — pin the version anywhere it gates CI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7848" y="3484054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02168" y="338804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Checks unannotated function bodies by default, unlike mypy: expect a pile of findings on day one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7848" y="4562284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2168" y="446627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Gradual guarantee — annotating working code should not invent new errors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pre-commit — make it all automatic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point is not the hooks. The point is that nobody has to remember: the rules run themselves.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10512"/>
            <a:ext cx="6720840" cy="4529107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29384"/>
            <a:ext cx="63185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.pre-commit-config.yaml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12848"/>
            <a:ext cx="6318503" cy="412677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repos:</a:t>
            </a:r>
            <a:r>
              <a:rPr lang="en-GB" sz="1150" b="0" i="0" dirty="0">
                <a:solidFill>
                  <a:srgbClr val="FE9F6D"/>
                </a:solidFill>
                <a:latin typeface="Courier New"/>
              </a:rPr>
              <a:t> </a:t>
            </a:r>
            <a:endParaRPr lang="en-GB" sz="1150" dirty="0">
              <a:solidFill>
                <a:srgbClr val="FE9F6D"/>
              </a:solidFill>
              <a:latin typeface="Courier New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- repo: https://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github.com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/astral-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-pre-commit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rev: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0.12.3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hooks: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- </a:t>
            </a:r>
            <a:r>
              <a:rPr lang="en-GB" sz="1150" dirty="0">
                <a:solidFill>
                  <a:srgbClr val="FF9F6D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id: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uv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-lock</a:t>
            </a:r>
          </a:p>
          <a:p>
            <a:pPr algn="l">
              <a:spcAft>
                <a:spcPts val="150"/>
              </a:spcAft>
            </a:pPr>
            <a:endParaRPr sz="1150" b="0" i="0" dirty="0">
              <a:solidFill>
                <a:srgbClr val="FE9F6D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- repo: https://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github.com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/astral-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sh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/ruff-pre-commit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rev:</a:t>
            </a:r>
            <a:r>
              <a:rPr lang="en-GB" sz="1150" b="0" i="0" dirty="0">
                <a:solidFill>
                  <a:srgbClr val="E8E1F5"/>
                </a:solidFill>
                <a:latin typeface="Courier New"/>
              </a:rPr>
              <a:t> v0.16.2</a:t>
            </a:r>
            <a:endParaRPr sz="1150" b="0" i="0" dirty="0">
              <a:solidFill>
                <a:srgbClr val="9C8FC0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hooks: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  - id: ruff-check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</a:t>
            </a:r>
            <a:r>
              <a:rPr sz="1150" b="0" i="0" dirty="0" err="1">
                <a:solidFill>
                  <a:srgbClr val="FE9F6D"/>
                </a:solidFill>
                <a:latin typeface="Courier New"/>
              </a:rPr>
              <a:t>args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[--fix]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  - id: ruff-format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- repo: local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hooks: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  - id: ty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name: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ty check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entry: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uv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run ty check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language: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system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        types: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[python]</a:t>
            </a:r>
            <a:endParaRPr lang="en-GB" sz="11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endParaRPr sz="1150" b="0" i="0" dirty="0">
              <a:solidFill>
                <a:srgbClr val="E8E1F5"/>
              </a:solidFill>
              <a:latin typeface="Courier New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7927848" y="1970532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202168" y="1874520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pre-commit install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once — then every commit is linted, formatted and type-checked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7848" y="283444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202168" y="273843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3B0F70"/>
                </a:solidFill>
                <a:latin typeface="Calibri"/>
              </a:rPr>
              <a:t>pre-commit run --all-files</a:t>
            </a:r>
            <a:r>
              <a:rPr sz="1350" b="0" i="0">
                <a:solidFill>
                  <a:srgbClr val="413A55"/>
                </a:solidFill>
                <a:latin typeface="Calibri"/>
              </a:rPr>
              <a:t> for the first, big cleanup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927848" y="3484054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202168" y="3388042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The same config runs in CI, so local and CI cannot disagree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7848" y="4133659"/>
            <a:ext cx="100584" cy="10058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02168" y="4037647"/>
            <a:ext cx="329184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50" b="0" i="0">
                <a:solidFill>
                  <a:srgbClr val="413A55"/>
                </a:solidFill>
                <a:latin typeface="Calibri"/>
              </a:rPr>
              <a:t>autoupdate bumps the pinned tool versions for you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array-api-compat — one algorithm, every backend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The maths never changes. Only the array you hand it does.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2313432"/>
            <a:ext cx="3749039" cy="1371600"/>
          </a:xfrm>
          <a:prstGeom prst="roundRect">
            <a:avLst>
              <a:gd name="adj" fmla="val 5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2587752"/>
            <a:ext cx="32918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FCFDBF"/>
                </a:solidFill>
                <a:latin typeface="Courier New"/>
              </a:rPr>
              <a:t>split_operator_step()</a:t>
            </a:r>
          </a:p>
          <a:p>
            <a:pPr algn="l">
              <a:spcBef>
                <a:spcPts val="600"/>
              </a:spcBef>
            </a:pPr>
            <a:r>
              <a:rPr sz="1200" b="0" i="0">
                <a:solidFill>
                  <a:srgbClr val="9C8FC0"/>
                </a:solidFill>
                <a:latin typeface="Calibri"/>
              </a:rPr>
              <a:t>your maths, written once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27448" y="2633472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00" b="1" i="0">
                <a:solidFill>
                  <a:srgbClr val="3B0F70"/>
                </a:solidFill>
                <a:latin typeface="Courier New"/>
              </a:rPr>
              <a:t>array_namespace(psi)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864608" y="2944368"/>
            <a:ext cx="1463040" cy="201168"/>
          </a:xfrm>
          <a:prstGeom prst="rightArrow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647688" y="1901952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6812279" y="2048256"/>
            <a:ext cx="182880" cy="182880"/>
          </a:xfrm>
          <a:prstGeom prst="ellipse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150607" y="2020824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NumPy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19488" y="2039112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CPU, float64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47688" y="2468880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Oval 13"/>
          <p:cNvSpPr/>
          <p:nvPr/>
        </p:nvSpPr>
        <p:spPr>
          <a:xfrm>
            <a:off x="6812279" y="2615184"/>
            <a:ext cx="182880" cy="182880"/>
          </a:xfrm>
          <a:prstGeom prst="ellipse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50607" y="2587752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PyTorch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19488" y="2606040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CPU / MPS / CUDA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47688" y="3035808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6812279" y="3182112"/>
            <a:ext cx="182880" cy="182880"/>
          </a:xfrm>
          <a:prstGeom prst="ellipse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50607" y="3154680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CuPy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19488" y="3172968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CUDA, ROCm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47688" y="3602736"/>
            <a:ext cx="4709160" cy="475488"/>
          </a:xfrm>
          <a:prstGeom prst="roundRect">
            <a:avLst>
              <a:gd name="adj" fmla="val 14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6812279" y="3749039"/>
            <a:ext cx="182880" cy="182880"/>
          </a:xfrm>
          <a:prstGeom prst="ellipse">
            <a:avLst/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50607" y="3721608"/>
            <a:ext cx="23774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B0C41"/>
                </a:solidFill>
                <a:latin typeface="Calibri"/>
              </a:rPr>
              <a:t>Dask, JAX, ndonnx, sparse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19488" y="3739896"/>
            <a:ext cx="16459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6E6684"/>
                </a:solidFill>
                <a:latin typeface="Calibri"/>
              </a:rPr>
              <a:t>and the rest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4124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15568" y="4535424"/>
            <a:ext cx="146304" cy="146304"/>
          </a:xfrm>
          <a:prstGeom prst="rect">
            <a:avLst/>
          </a:prstGeom>
          <a:solidFill>
            <a:srgbClr val="8C2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40817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A common surface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xp.exp, xp.abs, xp.fft.fft2 — the standard fixes the names and the semantics, so the algorithm reads the same everywhere.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0740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681728" y="4535424"/>
            <a:ext cx="146304" cy="14630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97433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Seven backends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8172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NumPy, CuPy, PyTorch, Dask, JAX, ndonnx and sparse, all wrapped against the 2024.12 version of the spec.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973568" y="4325112"/>
            <a:ext cx="3383280" cy="1463040"/>
          </a:xfrm>
          <a:prstGeom prst="roundRect">
            <a:avLst>
              <a:gd name="adj" fmla="val 6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8247888" y="4535424"/>
            <a:ext cx="146304" cy="146304"/>
          </a:xfrm>
          <a:prstGeom prst="rect">
            <a:avLst/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540496" y="4489704"/>
            <a:ext cx="2651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B0C41"/>
                </a:solidFill>
                <a:latin typeface="Calibri"/>
              </a:rPr>
              <a:t>The data decides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47888" y="4846320"/>
            <a:ext cx="283464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413A55"/>
                </a:solidFill>
                <a:latin typeface="Calibri"/>
              </a:rPr>
              <a:t>The namespace comes from the array you were handed — so there is no global backend switch to get wrong.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The same step function, everywhere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Two characters change: np becomes xp — and xp comes from the data.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" y="1856229"/>
            <a:ext cx="5120640" cy="2903221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42416" y="1975103"/>
            <a:ext cx="47183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BEFORE — NUMPY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" y="2258568"/>
            <a:ext cx="5286195" cy="184665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import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numpy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as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np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def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split_operator_step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(psi, V, K, dt):</a:t>
            </a:r>
          </a:p>
          <a:p>
            <a:r>
              <a:rPr lang="en-GB" sz="1150" b="0" i="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Kinetic phase shift in momentum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np.fft.ifft2(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(-1j * K * dt) 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* np.fft.fft2(psi))</a:t>
            </a:r>
          </a:p>
          <a:p>
            <a:endParaRPr lang="en-GB" sz="1150" dirty="0">
              <a:solidFill>
                <a:srgbClr val="E9E1F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Potential wave phase shift in real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/>
              </a:rPr>
              <a:t>return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psi *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dt * V)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36208" y="1856230"/>
            <a:ext cx="5120640" cy="2903222"/>
          </a:xfrm>
          <a:prstGeom prst="roundRect">
            <a:avLst>
              <a:gd name="adj" fmla="val 4000"/>
            </a:avLst>
          </a:prstGeom>
          <a:solidFill>
            <a:srgbClr val="3B0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37376" y="1975103"/>
            <a:ext cx="4718303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AFTER — ANY BACKEND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37376" y="2258568"/>
            <a:ext cx="4718303" cy="245451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from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array_api_compat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>
                <a:solidFill>
                  <a:srgbClr val="FE9F6D"/>
                </a:solidFill>
                <a:latin typeface="Courier New"/>
              </a:rPr>
              <a:t>import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array_namespace</a:t>
            </a:r>
            <a:endParaRPr sz="1150" b="0" i="0" dirty="0">
              <a:solidFill>
                <a:srgbClr val="E8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FE9F6D"/>
                </a:solidFill>
                <a:latin typeface="Courier New"/>
              </a:rPr>
              <a:t>def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 dirty="0" err="1">
                <a:solidFill>
                  <a:srgbClr val="E8E1F5"/>
                </a:solidFill>
                <a:latin typeface="Courier New"/>
              </a:rPr>
              <a:t>split_operator_step</a:t>
            </a:r>
            <a:r>
              <a:rPr sz="1150" b="0" i="0" dirty="0">
                <a:solidFill>
                  <a:srgbClr val="E8E1F5"/>
                </a:solidFill>
                <a:latin typeface="Courier New"/>
              </a:rPr>
              <a:t>(psi, V, K, dt):</a:t>
            </a:r>
            <a:r>
              <a:rPr lang="en-GB" sz="1150" b="0" i="0" dirty="0">
                <a:solidFill>
                  <a:srgbClr val="E8E1F5"/>
                </a:solidFill>
                <a:latin typeface="Courier New"/>
              </a:rPr>
              <a:t> </a:t>
            </a:r>
          </a:p>
          <a:p>
            <a:pPr>
              <a:spcAft>
                <a:spcPts val="150"/>
              </a:spcAft>
            </a:pPr>
            <a:r>
              <a:rPr lang="en-GB" sz="115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Get the appropriate array namespace</a:t>
            </a:r>
            <a:endParaRPr sz="1150" b="0" i="0" dirty="0">
              <a:solidFill>
                <a:srgbClr val="E9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r>
              <a:rPr sz="1150" b="0" i="0" dirty="0">
                <a:solidFill>
                  <a:srgbClr val="E8E1F5"/>
                </a:solidFill>
                <a:latin typeface="Courier New"/>
              </a:rPr>
              <a:t>    </a:t>
            </a:r>
            <a:r>
              <a:rPr sz="1150" b="0" i="0" dirty="0" err="1">
                <a:solidFill>
                  <a:srgbClr val="E9E1F5"/>
                </a:solidFill>
                <a:latin typeface="Courier New"/>
              </a:rPr>
              <a:t>xp</a:t>
            </a:r>
            <a:r>
              <a:rPr sz="1150" b="0" i="0" dirty="0">
                <a:solidFill>
                  <a:srgbClr val="E9E1F5"/>
                </a:solidFill>
                <a:latin typeface="Courier New"/>
              </a:rPr>
              <a:t> = </a:t>
            </a:r>
            <a:r>
              <a:rPr sz="1150" b="0" i="0" dirty="0" err="1">
                <a:solidFill>
                  <a:srgbClr val="E9E1F5"/>
                </a:solidFill>
                <a:latin typeface="Courier New"/>
              </a:rPr>
              <a:t>array_namespace</a:t>
            </a:r>
            <a:r>
              <a:rPr sz="1150" b="0" i="0" dirty="0">
                <a:solidFill>
                  <a:srgbClr val="E9E1F5"/>
                </a:solidFill>
                <a:latin typeface="Courier New"/>
              </a:rPr>
              <a:t>(psi)</a:t>
            </a:r>
            <a:endParaRPr lang="en-GB" sz="1150" b="0" i="0" dirty="0">
              <a:solidFill>
                <a:srgbClr val="E9E1F5"/>
              </a:solidFill>
              <a:latin typeface="Courier New"/>
            </a:endParaRPr>
          </a:p>
          <a:p>
            <a:pPr algn="l">
              <a:spcAft>
                <a:spcPts val="150"/>
              </a:spcAft>
            </a:pPr>
            <a:endParaRPr sz="1150" b="0" i="0" dirty="0">
              <a:solidFill>
                <a:srgbClr val="E9E1F5"/>
              </a:solidFill>
              <a:latin typeface="Courier New"/>
            </a:endParaRPr>
          </a:p>
          <a:p>
            <a:r>
              <a:rPr sz="1150" b="0" i="0" dirty="0">
                <a:solidFill>
                  <a:srgbClr val="E9E1F5"/>
                </a:solidFill>
                <a:latin typeface="Courier New"/>
              </a:rPr>
              <a:t>    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# Kinetic phase shift in momentum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psi = xp.fft.ifft2(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(-1j * K * dt) 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    * xp.fft.fft2(psi))</a:t>
            </a:r>
          </a:p>
          <a:p>
            <a:endParaRPr lang="en-GB" sz="1150" dirty="0">
              <a:solidFill>
                <a:srgbClr val="E9E1F5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# Potential wave phase shift in real space</a:t>
            </a:r>
          </a:p>
          <a:p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en-GB" sz="1150" dirty="0">
                <a:solidFill>
                  <a:srgbClr val="FF9F6D"/>
                </a:solidFill>
                <a:latin typeface="Courier New"/>
              </a:rPr>
              <a:t>return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psi * </a:t>
            </a:r>
            <a:r>
              <a:rPr lang="en-GB" sz="1150" dirty="0" err="1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xp.exp</a:t>
            </a:r>
            <a:r>
              <a:rPr lang="en-GB" sz="1150" dirty="0">
                <a:solidFill>
                  <a:srgbClr val="E9E1F5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(1j * dt * V)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5038342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115568" y="4942330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array-api-compat ships fft wrappers for NumPy, CuPy and PyTorch — which is the whole ballgame for a split-operator 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633972"/>
            <a:ext cx="100584" cy="100584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15568" y="5537959"/>
            <a:ext cx="1024128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 dirty="0">
                <a:solidFill>
                  <a:srgbClr val="413A55"/>
                </a:solidFill>
                <a:latin typeface="Calibri"/>
              </a:rPr>
              <a:t>No if backend == … branches in the physics: the backend lives at the edges, in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get_initial_state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() and </a:t>
            </a:r>
            <a:r>
              <a:rPr sz="1300" b="0" i="0" dirty="0" err="1">
                <a:solidFill>
                  <a:srgbClr val="413A55"/>
                </a:solidFill>
                <a:latin typeface="Calibri"/>
              </a:rPr>
              <a:t>to_host</a:t>
            </a:r>
            <a:r>
              <a:rPr sz="1300" b="0" i="0" dirty="0">
                <a:solidFill>
                  <a:srgbClr val="413A55"/>
                </a:solidFill>
                <a:latin typeface="Calibri"/>
              </a:rPr>
              <a:t>()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292608"/>
            <a:ext cx="10515600" cy="8412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600" b="1" i="0">
                <a:solidFill>
                  <a:srgbClr val="1B0C41"/>
                </a:solidFill>
                <a:latin typeface="Cambria"/>
              </a:rPr>
              <a:t>Where it actually runs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41248" y="1170432"/>
            <a:ext cx="10515600" cy="502920"/>
          </a:xfrm>
          <a:prstGeom prst="roundRect">
            <a:avLst>
              <a:gd name="adj" fmla="val 10000"/>
            </a:avLst>
          </a:prstGeom>
          <a:solidFill>
            <a:srgbClr val="F2EF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42416" y="1170432"/>
            <a:ext cx="10113264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0" i="1">
                <a:solidFill>
                  <a:srgbClr val="3B0F70"/>
                </a:solidFill>
                <a:latin typeface="Calibri"/>
              </a:rPr>
              <a:t>This is why torch is the GPU path on this laptop: CuPy has no Metal backend, and Metal has no float64.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41248" y="1856231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17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Device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Precision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50" b="1" i="0">
                          <a:solidFill>
                            <a:srgbClr val="FFFFFF"/>
                          </a:solidFill>
                          <a:latin typeface="Calibri"/>
                        </a:rPr>
                        <a:t>On this Mac?</a:t>
                      </a:r>
                    </a:p>
                  </a:txBody>
                  <a:tcPr marL="128016" marT="36576" marB="36576" anchor="ctr">
                    <a:solidFill>
                      <a:srgbClr val="1B0C4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numpy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CPU, BLAS threads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 — the reference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(cpu)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Multithreaded CPU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(mps)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Apple GPU, Metal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complex64 only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Yes — the GPU path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torch (cuda)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NVIDIA GPU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No — other machine</a:t>
                      </a:r>
                    </a:p>
                  </a:txBody>
                  <a:tcPr marL="128016" marT="36576" marB="36576" anchor="ctr">
                    <a:solidFill>
                      <a:srgbClr val="F2EF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300" b="1" i="0">
                          <a:solidFill>
                            <a:srgbClr val="1B0C41"/>
                          </a:solidFill>
                          <a:latin typeface="Courier New"/>
                        </a:rPr>
                        <a:t>cupy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NVIDIA GPU / ROCm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complex128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413A55"/>
                          </a:solidFill>
                          <a:latin typeface="Calibri"/>
                        </a:rPr>
                        <a:t>No — no Metal support</a:t>
                      </a:r>
                    </a:p>
                  </a:txBody>
                  <a:tcPr marL="128016" marT="36576" marB="36576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41248" y="4507992"/>
            <a:ext cx="6172200" cy="1051560"/>
          </a:xfrm>
          <a:prstGeom prst="roundRect">
            <a:avLst>
              <a:gd name="adj" fmla="val 4000"/>
            </a:avLst>
          </a:prstGeom>
          <a:solidFill>
            <a:srgbClr val="1B0C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42416" y="4626864"/>
            <a:ext cx="576986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1" i="0">
                <a:solidFill>
                  <a:srgbClr val="9C8FC0"/>
                </a:solidFill>
                <a:latin typeface="Calibri"/>
              </a:rPr>
              <a:t>THE ONE GOTCHA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2416" y="4910328"/>
            <a:ext cx="5769864" cy="52120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# Metal has no FP64, so the Mac GPU path is single precision</a:t>
            </a:r>
          </a:p>
          <a:p>
            <a:pPr algn="l">
              <a:spcAft>
                <a:spcPts val="150"/>
              </a:spcAft>
            </a:pPr>
            <a:r>
              <a:rPr sz="1150" b="0" i="0">
                <a:solidFill>
                  <a:srgbClr val="E8E1F5"/>
                </a:solidFill>
                <a:latin typeface="Courier New"/>
              </a:rPr>
              <a:t>real = torch.float32 </a:t>
            </a:r>
            <a:r>
              <a:rPr sz="1150" b="0" i="0">
                <a:solidFill>
                  <a:srgbClr val="FE9F6D"/>
                </a:solidFill>
                <a:latin typeface="Courier New"/>
              </a:rPr>
              <a:t>if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DEVICE == </a:t>
            </a:r>
            <a:r>
              <a:rPr sz="1150" b="0" i="0">
                <a:solidFill>
                  <a:srgbClr val="FCFDBF"/>
                </a:solidFill>
                <a:latin typeface="Courier New"/>
              </a:rPr>
              <a:t>"mps"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</a:t>
            </a:r>
            <a:r>
              <a:rPr sz="1150" b="0" i="0">
                <a:solidFill>
                  <a:srgbClr val="FE9F6D"/>
                </a:solidFill>
                <a:latin typeface="Courier New"/>
              </a:rPr>
              <a:t>else</a:t>
            </a:r>
            <a:r>
              <a:rPr sz="1150" b="0" i="0">
                <a:solidFill>
                  <a:srgbClr val="E8E1F5"/>
                </a:solidFill>
                <a:latin typeface="Courier New"/>
              </a:rPr>
              <a:t> torch.float64</a:t>
            </a:r>
          </a:p>
        </p:txBody>
      </p:sp>
      <p:sp>
        <p:nvSpPr>
          <p:cNvPr id="9" name="Rectangle 8"/>
          <p:cNvSpPr/>
          <p:nvPr/>
        </p:nvSpPr>
        <p:spPr>
          <a:xfrm>
            <a:off x="7379208" y="4668012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53528" y="4571999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Same algorithm, same test suite, three devices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79208" y="5263641"/>
            <a:ext cx="100584" cy="100584"/>
          </a:xfrm>
          <a:prstGeom prst="rect">
            <a:avLst/>
          </a:prstGeom>
          <a:solidFill>
            <a:srgbClr val="FE9F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653528" y="5167629"/>
            <a:ext cx="370332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413A55"/>
                </a:solidFill>
                <a:latin typeface="Calibri"/>
              </a:rPr>
              <a:t>Move to a CUDA box and cupy joins the list — nothing in the physics changes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0C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41248" y="777240"/>
            <a:ext cx="10515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FE9F6D"/>
                </a:solidFill>
                <a:latin typeface="Calibri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41248" y="1188720"/>
            <a:ext cx="10515600" cy="5539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600" b="1" i="0" dirty="0">
                <a:solidFill>
                  <a:srgbClr val="FFFFFF"/>
                </a:solidFill>
                <a:latin typeface="Cambria"/>
              </a:rPr>
              <a:t>What to </a:t>
            </a:r>
            <a:r>
              <a:rPr lang="en-GB" sz="3600" b="1" i="0" dirty="0">
                <a:solidFill>
                  <a:srgbClr val="FFFFFF"/>
                </a:solidFill>
                <a:latin typeface="Cambria"/>
              </a:rPr>
              <a:t>take</a:t>
            </a:r>
            <a:r>
              <a:rPr sz="3600" b="1" i="0" dirty="0">
                <a:solidFill>
                  <a:srgbClr val="FFFFFF"/>
                </a:solidFill>
                <a:latin typeface="Cambria"/>
              </a:rPr>
              <a:t> from this</a:t>
            </a:r>
          </a:p>
        </p:txBody>
      </p:sp>
      <p:sp>
        <p:nvSpPr>
          <p:cNvPr id="4" name="Rectangle 3"/>
          <p:cNvSpPr/>
          <p:nvPr/>
        </p:nvSpPr>
        <p:spPr>
          <a:xfrm>
            <a:off x="841248" y="2404872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161288" y="2286000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uv init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76088" y="2304288"/>
            <a:ext cx="5943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D8CFEC"/>
                </a:solidFill>
                <a:latin typeface="Calibri"/>
              </a:rPr>
              <a:t>A 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creates 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reproducible project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 (quickly)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3063239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161288" y="2944368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ruff + ty in pre-commit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6088" y="2962656"/>
            <a:ext cx="5943600" cy="230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 dirty="0">
                <a:solidFill>
                  <a:srgbClr val="D8CFEC"/>
                </a:solidFill>
                <a:latin typeface="Calibri"/>
              </a:rPr>
              <a:t>The repo stays clean without </a:t>
            </a:r>
            <a:r>
              <a:rPr lang="en-GB" sz="1500" b="0" i="0" dirty="0">
                <a:solidFill>
                  <a:srgbClr val="D8CFEC"/>
                </a:solidFill>
                <a:latin typeface="Calibri"/>
              </a:rPr>
              <a:t>little effort</a:t>
            </a:r>
            <a:r>
              <a:rPr sz="1500" b="0" i="0" dirty="0">
                <a:solidFill>
                  <a:srgbClr val="D8CFEC"/>
                </a:solidFill>
                <a:latin typeface="Calibr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3721607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161288" y="3602735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xp = array_namespace(psi)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088" y="3621023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D8CFEC"/>
                </a:solidFill>
                <a:latin typeface="Calibri"/>
              </a:rPr>
              <a:t>Your maths outlives your hardware.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4379975"/>
            <a:ext cx="118872" cy="118872"/>
          </a:xfrm>
          <a:prstGeom prst="rect">
            <a:avLst/>
          </a:prstGeom>
          <a:solidFill>
            <a:srgbClr val="DE49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161288" y="4261103"/>
            <a:ext cx="39319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FE9F6D"/>
                </a:solidFill>
                <a:latin typeface="Courier New"/>
              </a:rPr>
              <a:t>Split-operator + FFT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76088" y="4279391"/>
            <a:ext cx="59436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D8CFEC"/>
                </a:solidFill>
                <a:latin typeface="Calibri"/>
              </a:rPr>
              <a:t>Six lines, exactly unitary, and the horse comes back.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6235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0" i="1">
                <a:solidFill>
                  <a:srgbClr val="FFFFFF"/>
                </a:solidFill>
                <a:latin typeface="Calibri"/>
              </a:rPr>
              <a:t>Questions — and the repo is yours to clone.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423</TotalTime>
  <Words>2485</Words>
  <Application>Microsoft Macintosh PowerPoint</Application>
  <PresentationFormat>Widescreen</PresentationFormat>
  <Paragraphs>309</Paragraphs>
  <Slides>22</Slides>
  <Notes>0</Notes>
  <HiddenSlides>0</HiddenSlides>
  <MMClips>2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Aptos</vt:lpstr>
      <vt:lpstr>Aptos Display</vt:lpstr>
      <vt:lpstr>Arial</vt:lpstr>
      <vt:lpstr>Calibri</vt:lpstr>
      <vt:lpstr>Cambria</vt:lpstr>
      <vt:lpstr>Cambria Math</vt:lpstr>
      <vt:lpstr>CMU Bright</vt:lpstr>
      <vt:lpstr>Courier New</vt:lpstr>
      <vt:lpstr>Office Theme</vt:lpstr>
      <vt:lpstr>PowerPoint Presentation</vt:lpstr>
      <vt:lpstr>PowerPoint Presentation</vt:lpstr>
      <vt:lpstr>Our goal: turn Schrödinger's horse upside down — and back again</vt:lpstr>
      <vt:lpstr>PowerPoint Presentation</vt:lpstr>
      <vt:lpstr>Using the Schrödinger Equation</vt:lpstr>
      <vt:lpstr>Solution to equations</vt:lpstr>
      <vt:lpstr>Solution to equations: A rotation in phase space</vt:lpstr>
      <vt:lpstr>How to compute exp(iH ˆt)? Forward Euler. </vt:lpstr>
      <vt:lpstr>How to compute exp(iH ˆt)? Crank Nicolson. </vt:lpstr>
      <vt:lpstr>Exponential of a diagonal operator </vt:lpstr>
      <vt:lpstr>How to compute exp(iH ˆt)? Operator Splitting. </vt:lpstr>
      <vt:lpstr>How to compute exp(iH ˆt)exactly (to machine precision)? Arnoldi Iteration.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Bryce Shirley</dc:creator>
  <cp:lastModifiedBy>Bryce Shirley</cp:lastModifiedBy>
  <cp:revision>4</cp:revision>
  <dcterms:created xsi:type="dcterms:W3CDTF">2026-08-10T15:09:54Z</dcterms:created>
  <dcterms:modified xsi:type="dcterms:W3CDTF">2026-08-10T23:14:59Z</dcterms:modified>
</cp:coreProperties>
</file>