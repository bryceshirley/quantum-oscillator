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81" r:id="rId3"/>
    <p:sldId id="282" r:id="rId4"/>
    <p:sldId id="269" r:id="rId5"/>
    <p:sldId id="293" r:id="rId6"/>
    <p:sldId id="294" r:id="rId7"/>
    <p:sldId id="286" r:id="rId8"/>
    <p:sldId id="297" r:id="rId9"/>
    <p:sldId id="295" r:id="rId10"/>
    <p:sldId id="288" r:id="rId11"/>
    <p:sldId id="284" r:id="rId12"/>
    <p:sldId id="290" r:id="rId13"/>
    <p:sldId id="292" r:id="rId14"/>
    <p:sldId id="270" r:id="rId15"/>
    <p:sldId id="271" r:id="rId16"/>
    <p:sldId id="272" r:id="rId17"/>
    <p:sldId id="273" r:id="rId18"/>
    <p:sldId id="274" r:id="rId19"/>
    <p:sldId id="280" r:id="rId20"/>
    <p:sldId id="276" r:id="rId21"/>
    <p:sldId id="277" r:id="rId22"/>
    <p:sldId id="278" r:id="rId23"/>
    <p:sldId id="279" r:id="rId24"/>
    <p:sldId id="296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E4968"/>
    <a:srgbClr val="413955"/>
    <a:srgbClr val="3B0F70"/>
    <a:srgbClr val="8C2881"/>
    <a:srgbClr val="FF9F6D"/>
    <a:srgbClr val="1B0C40"/>
    <a:srgbClr val="000000"/>
    <a:srgbClr val="131313"/>
    <a:srgbClr val="E9E1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826"/>
    <p:restoredTop sz="94639"/>
  </p:normalViewPr>
  <p:slideViewPr>
    <p:cSldViewPr snapToGrid="0">
      <p:cViewPr varScale="1">
        <p:scale>
          <a:sx n="152" d="100"/>
          <a:sy n="152" d="100"/>
        </p:scale>
        <p:origin x="2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39B283-0B1B-924B-8E2B-092496D70CE9}" type="datetimeFigureOut">
              <a:rPr lang="en-US" smtClean="0"/>
              <a:t>8/12/26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133767-D30A-024A-832D-68D048F69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9268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23E53-89CB-E0CB-0EEE-D5778C4A37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253A63-2753-633E-3813-5F23706033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C635F-D551-0A66-6900-70E9F5859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EB3F2C-FD75-7544-3EC0-9BA0D1DE7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89A404-5687-A32B-F1A3-DB4A979F4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747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52A52-F8C8-344C-654A-377C4FDF7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92608"/>
            <a:ext cx="10515600" cy="841248"/>
          </a:xfrm>
        </p:spPr>
        <p:txBody>
          <a:bodyPr lIns="0" rIns="0" anchor="t">
            <a:normAutofit/>
          </a:bodyPr>
          <a:lstStyle>
            <a:lvl1pPr>
              <a:defRPr sz="2600" b="1">
                <a:solidFill>
                  <a:srgbClr val="1B0C41"/>
                </a:solidFill>
                <a:latin typeface="Cambria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AD5199-BB58-C9CF-DA50-92A87373D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61416-558D-CBBB-C1D4-BD28B9B9D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37BDC2-E59C-95DA-FDD7-0EC129E30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C4802-F78D-3CCF-6720-0804B0DB2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132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E850C-48BD-EDA5-86F7-488EC4454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BFB983-E97D-E0BE-A635-2AC05B1C2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AE9EF-39E8-4B6C-EB2B-3B9E8AAB2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A779D1-F6A7-0A3B-D35A-437C14C04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EF78E-682E-A515-AB82-9010F4F1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3758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B2404-7DA8-2737-312A-E76083EFE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D1D5D6-DD53-2959-D1EB-E4C95F3FEE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34D9B5-26CD-E9F3-E65F-8E3E0FDB9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1F28B3-2E0C-962F-729B-EF4109655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C56E8F-6ECB-1A07-3F23-214449DBA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21782D-9999-24FF-3A80-53B67F333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986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6AF86-7899-E5A8-AD21-A7107A251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C1BC60-98B2-5547-47FC-339487414C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322CEA-61FA-30DA-312E-2DE9E37360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812169-8BA8-E85C-234B-8345ADE675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87F217-037E-BA90-02D6-7A949BE6B0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C8FA26-0BD4-E63A-2806-A91ACFC0A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84BF77-E57C-04FF-1880-49772D80F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79B07B-28F4-A87F-F217-EFE440461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688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6F5DC-F084-C79B-4B17-0E34838BB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45BCFC-4B8B-9BA6-83A2-B4CA80A00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3FBE76-4D19-CF1F-67B0-76A1B3FA9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7836E3-8938-268A-44C6-8AC3332FA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980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57E7EC-1F2F-BC34-B0AA-D9DE8AC26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3C0DB9-3F3A-6FC3-806C-10036237E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7E147F-F5A0-A455-C19A-2AE8897B0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268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612E1-3E38-EAC1-621D-44FC57716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76B83-2F47-7F77-DC2B-267F708A1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9200A6-0EB3-12BC-6EF2-C4B08FAC9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8D58BE-D822-C292-A001-C51C46762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9832F6-4022-B959-7489-5D4B33B4C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DD3CFD-D6F0-3958-0FF3-075584299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55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1B40A-CFB9-CE77-8B89-18CCE9204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5B4C64-7EE0-5DC5-B177-AC59D6F78D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6EA92B-3E03-B07E-2A22-15C3235FEA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21C2E6-ED10-C2E1-A4D0-822C461EF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2EEDB9-199C-6F8C-94E1-4E1AC2B5B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0E76E9-2D43-E8B7-3041-841B32CA7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049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8D2D8-9621-110B-D005-85277E417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476DD0-2ABD-362B-C764-BA6B692BE1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D9F3A4-5039-EF5E-E195-4EADBCBF5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638DF7-46D7-A510-E65A-C89C2B973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A6B196-56DD-DF14-4B93-EA6DA2E2B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5955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9C1146-F0C9-99B5-AC65-341A71DD8F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F8E42-F646-52BF-12E8-E568A9FF32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D8CB28-5E4F-A7C7-E59D-46F44E88D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0CBD88-9F45-83D0-F218-9CBDDCA75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AE25E4-468F-6293-DCEE-4F2FEC4C2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663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2AF801-4DC4-C3DC-853F-52175AF9B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E27CC6-D265-9E0B-803E-CFD42999E1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9B98A-2163-E176-A6C9-EA361335C1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0F80E8-45C8-9749-9FBC-76DCC15AB3BE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FCF1B5-424D-5069-8C6E-54BCDC6B79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5C9C0C-E460-346D-39BC-825758D23B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371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0.png"/><Relationship Id="rId7" Type="http://schemas.openxmlformats.org/officeDocument/2006/relationships/image" Target="../media/image12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8.png"/><Relationship Id="rId3" Type="http://schemas.openxmlformats.org/officeDocument/2006/relationships/image" Target="../media/image100.png"/><Relationship Id="rId7" Type="http://schemas.openxmlformats.org/officeDocument/2006/relationships/image" Target="../media/image14.png"/><Relationship Id="rId12" Type="http://schemas.openxmlformats.org/officeDocument/2006/relationships/image" Target="../media/image17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11" Type="http://schemas.openxmlformats.org/officeDocument/2006/relationships/image" Target="../media/image16.png"/><Relationship Id="rId5" Type="http://schemas.openxmlformats.org/officeDocument/2006/relationships/image" Target="../media/image120.png"/><Relationship Id="rId10" Type="http://schemas.openxmlformats.org/officeDocument/2006/relationships/image" Target="../media/image5.png"/><Relationship Id="rId4" Type="http://schemas.openxmlformats.org/officeDocument/2006/relationships/image" Target="../media/image110.png"/><Relationship Id="rId9" Type="http://schemas.openxmlformats.org/officeDocument/2006/relationships/image" Target="../media/image4.png"/><Relationship Id="rId1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ryceshirley/quantum-oscillator" TargetMode="Externa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C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" y="157276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E9F6D"/>
                </a:solidFill>
                <a:latin typeface="Calibri"/>
              </a:rPr>
              <a:t>A TOOLBOX TALK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057400"/>
            <a:ext cx="98755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 dirty="0">
                <a:solidFill>
                  <a:srgbClr val="FFFFFF"/>
                </a:solidFill>
                <a:latin typeface="Cambria"/>
              </a:rPr>
              <a:t>Useful Python tools for building a quantum harmonic oscillator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977639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FE9F6D"/>
                </a:solidFill>
                <a:latin typeface="Calibri"/>
              </a:rPr>
              <a:t>… to turn an image upside down, and back up again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9834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uv</a:t>
            </a:r>
            <a:r>
              <a:rPr sz="1500" b="1" i="0">
                <a:solidFill>
                  <a:srgbClr val="8C2981"/>
                </a:solidFill>
                <a:latin typeface="Calibri"/>
              </a:rPr>
              <a:t>  ·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ruff</a:t>
            </a:r>
            <a:r>
              <a:rPr sz="1500" b="1" i="0">
                <a:solidFill>
                  <a:srgbClr val="8C2981"/>
                </a:solidFill>
                <a:latin typeface="Calibri"/>
              </a:rPr>
              <a:t>  ·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ty</a:t>
            </a:r>
            <a:r>
              <a:rPr sz="1500" b="1" i="0">
                <a:solidFill>
                  <a:srgbClr val="8C2981"/>
                </a:solidFill>
                <a:latin typeface="Calibri"/>
              </a:rPr>
              <a:t>  ·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pre-commit</a:t>
            </a:r>
            <a:r>
              <a:rPr sz="1500" b="1" i="0">
                <a:solidFill>
                  <a:srgbClr val="8C2981"/>
                </a:solidFill>
                <a:latin typeface="Calibri"/>
              </a:rPr>
              <a:t>  ·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array-api-compat</a:t>
            </a:r>
          </a:p>
        </p:txBody>
      </p:sp>
    </p:spTree>
    <p:extLst>
      <p:ext uri="{BB962C8B-B14F-4D97-AF65-F5344CB8AC3E}">
        <p14:creationId xmlns:p14="http://schemas.microsoft.com/office/powerpoint/2010/main" val="1584743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1B0C41"/>
                </a:solidFill>
                <a:latin typeface="Cambria"/>
              </a:rPr>
              <a:t>Two talks in a </a:t>
            </a:r>
            <a:r>
              <a:rPr lang="en-GB" sz="2600" b="1" i="0" dirty="0">
                <a:solidFill>
                  <a:srgbClr val="1B0C41"/>
                </a:solidFill>
                <a:latin typeface="Cambria"/>
              </a:rPr>
              <a:t>one</a:t>
            </a:r>
            <a:endParaRPr sz="2600" b="1" i="0" dirty="0">
              <a:solidFill>
                <a:srgbClr val="1B0C41"/>
              </a:solidFill>
              <a:latin typeface="Cambria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314170"/>
            <a:ext cx="10113264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 dirty="0">
                <a:solidFill>
                  <a:srgbClr val="3B0F70"/>
                </a:solidFill>
                <a:latin typeface="Calibri"/>
              </a:rPr>
              <a:t>A small, real numerical project — used as an excuse to show the tooling that makes building it </a:t>
            </a:r>
            <a:r>
              <a:rPr lang="en-GB" sz="1400" b="0" i="1" dirty="0">
                <a:solidFill>
                  <a:srgbClr val="3B0F70"/>
                </a:solidFill>
                <a:latin typeface="Calibri"/>
              </a:rPr>
              <a:t>easier</a:t>
            </a:r>
            <a:r>
              <a:rPr sz="1400" b="0" i="1" dirty="0">
                <a:solidFill>
                  <a:srgbClr val="3B0F70"/>
                </a:solidFill>
                <a:latin typeface="Calibr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56231"/>
            <a:ext cx="5074920" cy="4160520"/>
          </a:xfrm>
          <a:prstGeom prst="roundRect">
            <a:avLst>
              <a:gd name="adj" fmla="val 5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161288" y="2130552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61288" y="2212848"/>
            <a:ext cx="47548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73936" y="2194560"/>
            <a:ext cx="3840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B0C41"/>
                </a:solidFill>
                <a:latin typeface="Cambria"/>
              </a:rPr>
              <a:t>The physics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2994660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63040" y="2898648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A 2D quantum harmonic oscillator on a periodic grid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3631565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63040" y="3535553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GB" sz="1400" dirty="0">
                <a:solidFill>
                  <a:srgbClr val="413955"/>
                </a:solidFill>
                <a:latin typeface="Calibri"/>
              </a:rPr>
              <a:t>One Hamiltonian, one exponential, and four increasingly good ways to compute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4292259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63040" y="4196247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 dirty="0">
                <a:solidFill>
                  <a:srgbClr val="413A55"/>
                </a:solidFill>
                <a:latin typeface="Calibri"/>
              </a:rPr>
              <a:t>The horse </a:t>
            </a:r>
            <a:r>
              <a:rPr lang="en-GB" sz="1350" dirty="0">
                <a:solidFill>
                  <a:srgbClr val="413A55"/>
                </a:solidFill>
                <a:latin typeface="Calibri"/>
              </a:rPr>
              <a:t>turns upside down and </a:t>
            </a:r>
            <a:r>
              <a:rPr sz="1350" b="0" i="0" dirty="0">
                <a:solidFill>
                  <a:srgbClr val="413A55"/>
                </a:solidFill>
                <a:latin typeface="Calibri"/>
              </a:rPr>
              <a:t>back</a:t>
            </a:r>
            <a:r>
              <a:rPr lang="en-GB" sz="1350" b="0" i="0" dirty="0">
                <a:solidFill>
                  <a:srgbClr val="413A55"/>
                </a:solidFill>
                <a:latin typeface="Calibri"/>
              </a:rPr>
              <a:t> up again</a:t>
            </a:r>
            <a:endParaRPr sz="1350" b="0" i="0" dirty="0">
              <a:solidFill>
                <a:srgbClr val="413A55"/>
              </a:solidFill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281928" y="1856231"/>
            <a:ext cx="5074920" cy="4160520"/>
          </a:xfrm>
          <a:prstGeom prst="roundRect">
            <a:avLst>
              <a:gd name="adj" fmla="val 5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601968" y="2130552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01968" y="2212848"/>
            <a:ext cx="47548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14616" y="2194560"/>
            <a:ext cx="3840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B0C41"/>
                </a:solidFill>
                <a:latin typeface="Cambria"/>
              </a:rPr>
              <a:t>The Python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0" y="2994660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03720" y="2898648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uv — project, interpreter, dependencies, lockfile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0" y="3631565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03720" y="3535553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ruff and ty — lint, format and type-check in Rust time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29400" y="4268470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03720" y="4172458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 dirty="0">
                <a:solidFill>
                  <a:srgbClr val="413A55"/>
                </a:solidFill>
                <a:latin typeface="Calibri"/>
              </a:rPr>
              <a:t>pre-commit — </a:t>
            </a:r>
            <a:r>
              <a:rPr lang="en-GB" sz="1350" dirty="0">
                <a:solidFill>
                  <a:srgbClr val="413A55"/>
                </a:solidFill>
                <a:latin typeface="Calibri"/>
              </a:rPr>
              <a:t>checks and fixes run automatically</a:t>
            </a:r>
            <a:endParaRPr sz="1350" b="0" i="0" dirty="0">
              <a:solidFill>
                <a:srgbClr val="413A55"/>
              </a:solidFill>
              <a:latin typeface="Calibr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629400" y="4905375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03720" y="4809363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array-api-compat — one algorithm, CPU or GPU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EAC51-9611-53EB-AF10-BD063A699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goal: turn Schrödinger's horse upside down — and back again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5A913EC-A5D5-5649-E28E-F43391CE2BE6}"/>
                  </a:ext>
                </a:extLst>
              </p:cNvPr>
              <p:cNvSpPr txBox="1"/>
              <p:nvPr/>
            </p:nvSpPr>
            <p:spPr>
              <a:xfrm>
                <a:off x="838200" y="5254159"/>
                <a:ext cx="244692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28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5A913EC-A5D5-5649-E28E-F43391CE2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254159"/>
                <a:ext cx="2446921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9FC0891-0E31-BAB0-0B34-69BB1B5C525B}"/>
                  </a:ext>
                </a:extLst>
              </p:cNvPr>
              <p:cNvSpPr txBox="1"/>
              <p:nvPr/>
            </p:nvSpPr>
            <p:spPr>
              <a:xfrm>
                <a:off x="4758717" y="5254159"/>
                <a:ext cx="244692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28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9FC0891-0E31-BAB0-0B34-69BB1B5C5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8717" y="5254159"/>
                <a:ext cx="2446921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3C363C9-3E70-B2B6-F5CB-2834572D64A5}"/>
                  </a:ext>
                </a:extLst>
              </p:cNvPr>
              <p:cNvSpPr txBox="1"/>
              <p:nvPr/>
            </p:nvSpPr>
            <p:spPr>
              <a:xfrm>
                <a:off x="9025917" y="5254159"/>
                <a:ext cx="244692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28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3C363C9-3E70-B2B6-F5CB-2834572D6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5917" y="5254159"/>
                <a:ext cx="244692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>
            <a:extLst>
              <a:ext uri="{FF2B5EF4-FFF2-40B4-BE49-F238E27FC236}">
                <a16:creationId xmlns:a16="http://schemas.microsoft.com/office/drawing/2014/main" id="{DE1249F8-B1C3-CC7F-A962-7E3E003B9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880" y="2358559"/>
            <a:ext cx="2989559" cy="284583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724B12C-1FE2-17D1-7B84-AF45E878B6B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958"/>
          <a:stretch>
            <a:fillRect/>
          </a:stretch>
        </p:blipFill>
        <p:spPr>
          <a:xfrm>
            <a:off x="4541827" y="2358559"/>
            <a:ext cx="2880699" cy="284583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7B3DA65-DEF4-8C63-732E-741E18D24B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4597" y="2358559"/>
            <a:ext cx="2989559" cy="284583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42416" y="1314170"/>
            <a:ext cx="10113264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GB" sz="1400" b="0" i="1" dirty="0">
                <a:solidFill>
                  <a:srgbClr val="3B0F70"/>
                </a:solidFill>
                <a:latin typeface="Calibri"/>
              </a:rPr>
              <a:t>At </a:t>
            </a:r>
            <a:r>
              <a:rPr sz="1400" b="0" i="1" dirty="0">
                <a:solidFill>
                  <a:srgbClr val="3B0F70"/>
                </a:solidFill>
                <a:latin typeface="Calibri"/>
              </a:rPr>
              <a:t>t = π the horse is inverted; at t = 2π it is exactly back where it started.</a:t>
            </a:r>
          </a:p>
        </p:txBody>
      </p:sp>
    </p:spTree>
    <p:extLst>
      <p:ext uri="{BB962C8B-B14F-4D97-AF65-F5344CB8AC3E}">
        <p14:creationId xmlns:p14="http://schemas.microsoft.com/office/powerpoint/2010/main" val="470997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C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80160" y="233172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E9F6D"/>
                </a:solidFill>
                <a:latin typeface="Calibri"/>
              </a:rPr>
              <a:t>PART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The physics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794760"/>
            <a:ext cx="9601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dirty="0">
                <a:solidFill>
                  <a:srgbClr val="C9BEE4"/>
                </a:solidFill>
                <a:latin typeface="Calibri"/>
              </a:rPr>
              <a:t>One Hamiltonian, one exponential, and </a:t>
            </a:r>
            <a:r>
              <a:rPr lang="en-GB" sz="1600" b="0" i="0" dirty="0">
                <a:solidFill>
                  <a:srgbClr val="C9BEE4"/>
                </a:solidFill>
                <a:latin typeface="Calibri"/>
              </a:rPr>
              <a:t>three</a:t>
            </a:r>
            <a:r>
              <a:rPr sz="1600" b="0" i="0" dirty="0">
                <a:solidFill>
                  <a:srgbClr val="C9BEE4"/>
                </a:solidFill>
                <a:latin typeface="Calibri"/>
              </a:rPr>
              <a:t> increasingly good ways to compute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The equation we are solving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314170"/>
            <a:ext cx="10113264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GB" sz="1400" i="1" dirty="0">
                <a:solidFill>
                  <a:srgbClr val="3B0F70"/>
                </a:solidFill>
                <a:latin typeface="Calibri"/>
              </a:rPr>
              <a:t>Schrodinger Equation describing a state in an infinite well</a:t>
            </a:r>
            <a:r>
              <a:rPr sz="1400" b="0" i="1" dirty="0">
                <a:solidFill>
                  <a:srgbClr val="3B0F70"/>
                </a:solidFill>
                <a:latin typeface="Calibri"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441448" y="1920240"/>
                <a:ext cx="7315200" cy="1097280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3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000" i="1" dirty="0">
                              <a:latin typeface="Cambria Math" panose="02040503050406030204" pitchFamily="18" charset="0"/>
                            </a:rPr>
                            <m:t>𝜕𝛹</m:t>
                          </m:r>
                        </m:num>
                        <m:den>
                          <m:r>
                            <a:rPr lang="en-US" sz="3000" i="1" dirty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30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sz="30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000" i="1" dirty="0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̂"/>
                          <m:ctrlPr>
                            <a:rPr lang="en-US" sz="30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000" i="1" dirty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sz="3000" i="1" dirty="0">
                          <a:latin typeface="Cambria Math" panose="02040503050406030204" pitchFamily="18" charset="0"/>
                        </a:rPr>
                        <m:t>𝛹</m:t>
                      </m:r>
                      <m:r>
                        <a:rPr lang="en-US" sz="3000" i="1" dirty="0">
                          <a:latin typeface="Cambria Math" panose="02040503050406030204" pitchFamily="18" charset="0"/>
                        </a:rPr>
                        <m:t>  </m:t>
                      </m:r>
                      <m:acc>
                        <m:accPr>
                          <m:chr m:val="̂"/>
                          <m:ctrlPr>
                            <a:rPr lang="en-US" sz="30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000" i="1" dirty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sz="30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000" i="1" dirty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3000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000" i="1" dirty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pic>
            <p:nvPicPr>
              <p:cNvPr id="5" name="Picture 4" descr="43794ed70b1cebf5.png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353375" y="1920240"/>
                <a:ext cx="3491345" cy="577734"/>
              </a:xfrm>
              <a:prstGeom prst="rect">
                <a:avLst/>
              </a:prstGeom>
            </p:spPr>
          </p:pic>
        </mc:Fallback>
      </mc:AlternateContent>
      <p:sp>
        <p:nvSpPr>
          <p:cNvPr id="7" name="Rounded Rectangle 6"/>
          <p:cNvSpPr/>
          <p:nvPr/>
        </p:nvSpPr>
        <p:spPr>
          <a:xfrm>
            <a:off x="841248" y="3127248"/>
            <a:ext cx="3383280" cy="1481328"/>
          </a:xfrm>
          <a:prstGeom prst="roundRect">
            <a:avLst>
              <a:gd name="adj" fmla="val 7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972312" y="3410712"/>
                <a:ext cx="3108960" cy="384048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𝛹</m:t>
                      </m:r>
                      <m:d>
                        <m:d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ℂ</m:t>
                          </m:r>
                        </m:e>
                        <m:sup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312" y="3410712"/>
                <a:ext cx="3108960" cy="384048"/>
              </a:xfrm>
              <a:prstGeom prst="rect">
                <a:avLst/>
              </a:prstGeom>
              <a:blipFill>
                <a:blip r:embed="rId3"/>
                <a:stretch>
                  <a:fillRect t="-3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1060704" y="3858768"/>
            <a:ext cx="29443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413A55"/>
                </a:solidFill>
                <a:latin typeface="Calibri"/>
              </a:rPr>
              <a:t>The picture. One complex number per grid point — modulus is brightness, phase is where it is going.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3127248"/>
            <a:ext cx="3383280" cy="1481328"/>
          </a:xfrm>
          <a:prstGeom prst="roundRect">
            <a:avLst>
              <a:gd name="adj" fmla="val 7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4544568" y="3273552"/>
                <a:ext cx="3108960" cy="566928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600" i="1" dirty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pic>
            <p:nvPicPr>
              <p:cNvPr id="12" name="Picture 11" descr="4fec2f9c8f2b4dc.png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251149" y="3273552"/>
                <a:ext cx="1695796" cy="311727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TextBox 13"/>
          <p:cNvSpPr txBox="1"/>
          <p:nvPr/>
        </p:nvSpPr>
        <p:spPr>
          <a:xfrm>
            <a:off x="4626864" y="3858768"/>
            <a:ext cx="2944368" cy="3858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 dirty="0">
                <a:solidFill>
                  <a:srgbClr val="413A55"/>
                </a:solidFill>
                <a:latin typeface="Calibri"/>
              </a:rPr>
              <a:t>The </a:t>
            </a:r>
            <a:r>
              <a:rPr lang="en-GB" sz="1150" b="0" i="0" dirty="0">
                <a:solidFill>
                  <a:srgbClr val="413A55"/>
                </a:solidFill>
                <a:latin typeface="Calibri"/>
              </a:rPr>
              <a:t>infinit</a:t>
            </a:r>
            <a:r>
              <a:rPr lang="en-GB" sz="1150" dirty="0">
                <a:solidFill>
                  <a:srgbClr val="413A55"/>
                </a:solidFill>
                <a:latin typeface="Calibri"/>
              </a:rPr>
              <a:t>e </a:t>
            </a:r>
            <a:r>
              <a:rPr sz="1150" b="0" i="0" dirty="0">
                <a:solidFill>
                  <a:srgbClr val="413A55"/>
                </a:solidFill>
                <a:latin typeface="Calibri"/>
              </a:rPr>
              <a:t>well. Depends only on position, so it is diagonal in position space.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3127248"/>
            <a:ext cx="3383280" cy="1481328"/>
          </a:xfrm>
          <a:prstGeom prst="roundRect">
            <a:avLst>
              <a:gd name="adj" fmla="val 7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7927848" y="3288016"/>
                <a:ext cx="3608692" cy="461024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600" i="1" dirty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1600" b="0" i="1" dirty="0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GB" sz="16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a:rPr lang="en-GB" sz="16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600" dirty="0"/>
                        <m:t>−</m:t>
                      </m:r>
                      <m:f>
                        <m:f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sz="16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GB" sz="16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GB" sz="1600" b="0" i="1" dirty="0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GB" sz="1600" b="0" i="1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sub>
                            <m:sup>
                              <m:r>
                                <a:rPr lang="en-GB" sz="16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GB" sz="16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GB" sz="16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GB" sz="1600" b="0" i="1" dirty="0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GB" sz="1600" b="0" i="1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sub>
                            <m:sup>
                              <m:r>
                                <a:rPr lang="en-GB" sz="16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7848" y="3288016"/>
                <a:ext cx="3608692" cy="461024"/>
              </a:xfrm>
              <a:prstGeom prst="rect">
                <a:avLst/>
              </a:prstGeom>
              <a:blipFill>
                <a:blip r:embed="rId5"/>
                <a:stretch>
                  <a:fillRect t="-2632"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/>
          <p:cNvSpPr txBox="1"/>
          <p:nvPr/>
        </p:nvSpPr>
        <p:spPr>
          <a:xfrm>
            <a:off x="8193024" y="3858768"/>
            <a:ext cx="294436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413A55"/>
                </a:solidFill>
                <a:latin typeface="Calibri"/>
              </a:rPr>
              <a:t>Spreading. Depends only on momentum, so it is diagonal in Fourier space.</a:t>
            </a:r>
          </a:p>
        </p:txBody>
      </p:sp>
      <p:pic>
        <p:nvPicPr>
          <p:cNvPr id="19" name="Picture 18" descr="fig_w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4736592"/>
            <a:ext cx="3566160" cy="199143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74920" y="4983480"/>
            <a:ext cx="6035040" cy="7540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solidFill>
                  <a:srgbClr val="1B0C41"/>
                </a:solidFill>
                <a:latin typeface="Calibri"/>
              </a:rPr>
              <a:t>Two packets in a harmonic well</a:t>
            </a:r>
          </a:p>
          <a:p>
            <a:pPr algn="l">
              <a:lnSpc>
                <a:spcPct val="120000"/>
              </a:lnSpc>
            </a:pPr>
            <a:r>
              <a:rPr sz="1250" b="0" i="0" dirty="0">
                <a:solidFill>
                  <a:srgbClr val="6E6684"/>
                </a:solidFill>
                <a:latin typeface="Calibri"/>
              </a:rPr>
              <a:t>The walls are what turn the picture around. A periodic box, </a:t>
            </a:r>
            <a:r>
              <a:rPr sz="1250" b="0" i="0" dirty="0" err="1">
                <a:solidFill>
                  <a:srgbClr val="6E6684"/>
                </a:solidFill>
                <a:latin typeface="Calibri"/>
              </a:rPr>
              <a:t>Ψ</a:t>
            </a:r>
            <a:r>
              <a:rPr sz="1250" b="0" i="0" dirty="0">
                <a:solidFill>
                  <a:srgbClr val="6E6684"/>
                </a:solidFill>
                <a:latin typeface="Calibri"/>
              </a:rPr>
              <a:t>(0, y) = </a:t>
            </a:r>
            <a:r>
              <a:rPr sz="1250" b="0" i="0" dirty="0" err="1">
                <a:solidFill>
                  <a:srgbClr val="6E6684"/>
                </a:solidFill>
                <a:latin typeface="Calibri"/>
              </a:rPr>
              <a:t>Ψ</a:t>
            </a:r>
            <a:r>
              <a:rPr sz="1250" b="0" i="0" dirty="0">
                <a:solidFill>
                  <a:srgbClr val="6E6684"/>
                </a:solidFill>
                <a:latin typeface="Calibri"/>
              </a:rPr>
              <a:t>(L, y), is what lets us use the FFT later</a:t>
            </a:r>
            <a:r>
              <a:rPr lang="en-GB" sz="1250" b="0" i="0" dirty="0">
                <a:solidFill>
                  <a:srgbClr val="6E6684"/>
                </a:solidFill>
                <a:latin typeface="Calibri"/>
              </a:rPr>
              <a:t>.</a:t>
            </a:r>
            <a:endParaRPr sz="1250" b="0" i="0" dirty="0">
              <a:solidFill>
                <a:srgbClr val="6E6684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The solution is a single exponential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H does not change with time, so the entire evolution is one operator exponential. Every method that follows computes it.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41248" y="1993392"/>
                <a:ext cx="10515600" cy="822960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3400" i="1" dirty="0">
                          <a:latin typeface="Cambria Math" panose="02040503050406030204" pitchFamily="18" charset="0"/>
                        </a:rPr>
                        <m:t>𝛹</m:t>
                      </m:r>
                      <m:d>
                        <m:dPr>
                          <m:ctrlPr>
                            <a:rPr lang="en-US" sz="3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3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400" i="1" dirty="0">
                          <a:latin typeface="Cambria Math" panose="02040503050406030204" pitchFamily="18" charset="0"/>
                        </a:rPr>
                        <m:t>exp</m:t>
                      </m:r>
                      <m:d>
                        <m:dPr>
                          <m:ctrlPr>
                            <a:rPr lang="en-US" sz="3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acc>
                            <m:accPr>
                              <m:chr m:val="̂"/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b>
                        <m:sSubPr>
                          <m:ctrlPr>
                            <a:rPr lang="en-US" sz="3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𝛹</m:t>
                          </m:r>
                        </m:e>
                        <m:sub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3400" dirty="0"/>
              </a:p>
            </p:txBody>
          </p:sp>
        </mc:Choice>
        <mc:Fallback xmlns="">
          <p:pic>
            <p:nvPicPr>
              <p:cNvPr id="5" name="Picture 4" descr="67adf58babbbc1a1.png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94691" y="1993392"/>
                <a:ext cx="3208712" cy="56110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835152" y="3267316"/>
                <a:ext cx="10515600" cy="443326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m:rPr>
                        <m:sty m:val="p"/>
                      </m:rPr>
                      <a:rPr lang="en-US" sz="2000" i="1" dirty="0">
                        <a:latin typeface="Cambria Math" panose="02040503050406030204" pitchFamily="18" charset="0"/>
                      </a:rPr>
                      <m:t>exp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  <m:acc>
                          <m:accPr>
                            <m:chr m:val="̂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acc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𝛹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𝑖</m:t>
                    </m:r>
                    <m:acc>
                      <m:accPr>
                        <m:chr m:val="̂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m:rPr>
                        <m:sty m:val="p"/>
                      </m:rPr>
                      <a:rPr lang="en-US" sz="2000" i="1" dirty="0">
                        <a:latin typeface="Cambria Math" panose="02040503050406030204" pitchFamily="18" charset="0"/>
                      </a:rPr>
                      <m:t>exp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𝑖</m:t>
                        </m:r>
                        <m:acc>
                          <m:accPr>
                            <m:chr m:val="̂"/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acc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𝛹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152" y="3267316"/>
                <a:ext cx="10515600" cy="443326"/>
              </a:xfrm>
              <a:prstGeom prst="rect">
                <a:avLst/>
              </a:prstGeom>
              <a:blipFill>
                <a:blip r:embed="rId3"/>
                <a:stretch>
                  <a:fillRect t="-2778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835152" y="2926080"/>
                <a:ext cx="10515600" cy="22127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1300" b="0" i="0" dirty="0">
                    <a:solidFill>
                      <a:srgbClr val="6E6684"/>
                    </a:solidFill>
                    <a:latin typeface="Calibri"/>
                  </a:rPr>
                  <a:t>Differentiate it and you get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1400" b="0" i="0" dirty="0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̂"/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sz="1300" b="0" i="0" dirty="0">
                    <a:solidFill>
                      <a:srgbClr val="6E6684"/>
                    </a:solidFill>
                    <a:latin typeface="Calibri"/>
                  </a:rPr>
                  <a:t> back. That is the</a:t>
                </a:r>
                <a:r>
                  <a:rPr lang="en-GB" sz="1300" b="0" i="0" dirty="0">
                    <a:solidFill>
                      <a:srgbClr val="6E6684"/>
                    </a:solidFill>
                    <a:latin typeface="Calibri"/>
                  </a:rPr>
                  <a:t> verifies the solution</a:t>
                </a:r>
                <a:r>
                  <a:rPr sz="1300" b="0" i="0" dirty="0">
                    <a:solidFill>
                      <a:srgbClr val="6E6684"/>
                    </a:solidFill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152" y="2926080"/>
                <a:ext cx="10515600" cy="221279"/>
              </a:xfrm>
              <a:prstGeom prst="rect">
                <a:avLst/>
              </a:prstGeom>
              <a:blipFill>
                <a:blip r:embed="rId4"/>
                <a:stretch>
                  <a:fillRect t="-16667" b="-4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841248" y="4187952"/>
            <a:ext cx="105156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 dirty="0">
                <a:solidFill>
                  <a:srgbClr val="1B0C41"/>
                </a:solidFill>
                <a:latin typeface="Cambria"/>
              </a:rPr>
              <a:t>So why is this hard?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4617720"/>
            <a:ext cx="3383280" cy="105156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24128" y="4764024"/>
            <a:ext cx="30175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200" b="1" i="0" dirty="0">
                <a:solidFill>
                  <a:srgbClr val="8C2981"/>
                </a:solidFill>
                <a:latin typeface="Cambria"/>
              </a:rPr>
              <a:t>N=</a:t>
            </a:r>
            <a:r>
              <a:rPr sz="2200" b="1" i="0" dirty="0">
                <a:solidFill>
                  <a:srgbClr val="8C2981"/>
                </a:solidFill>
                <a:latin typeface="Cambria"/>
              </a:rPr>
              <a:t>16,384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52395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200" b="0" i="0" dirty="0">
                <a:solidFill>
                  <a:srgbClr val="6E6684"/>
                </a:solidFill>
                <a:latin typeface="Calibri"/>
              </a:rPr>
              <a:t>unknowns</a:t>
            </a:r>
            <a:r>
              <a:rPr sz="1200" b="0" i="0" dirty="0">
                <a:solidFill>
                  <a:srgbClr val="6E6684"/>
                </a:solidFill>
                <a:latin typeface="Calibri"/>
              </a:rPr>
              <a:t> on a 128 × 128 grid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7408" y="4617720"/>
            <a:ext cx="3383280" cy="105156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4615340" y="4764024"/>
                <a:ext cx="3017520" cy="34624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GB" sz="2200" b="1" i="1" smtClean="0">
                              <a:solidFill>
                                <a:srgbClr val="DE496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200" b="1" i="1" smtClean="0">
                              <a:solidFill>
                                <a:srgbClr val="DE4968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en-GB" sz="2200" b="1" i="1" smtClean="0">
                              <a:solidFill>
                                <a:srgbClr val="DE4968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GB" sz="2200" b="1" i="1">
                          <a:solidFill>
                            <a:srgbClr val="DE4968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GB" sz="2200" b="1" i="1" smtClean="0">
                          <a:solidFill>
                            <a:srgbClr val="DE4968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GB" sz="2200" b="1" i="1" smtClean="0">
                          <a:solidFill>
                            <a:srgbClr val="DE4968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2200" b="1" i="1" smtClean="0">
                          <a:solidFill>
                            <a:srgbClr val="DE4968"/>
                          </a:solidFill>
                          <a:latin typeface="Cambria Math" panose="02040503050406030204" pitchFamily="18" charset="0"/>
                        </a:rPr>
                        <m:t>𝟕</m:t>
                      </m:r>
                      <m:r>
                        <a:rPr lang="en-GB" sz="2200" b="1" i="1" smtClean="0">
                          <a:solidFill>
                            <a:srgbClr val="DE4968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GB" sz="2200" b="1" i="1" smtClean="0">
                              <a:solidFill>
                                <a:srgbClr val="DE4968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200" b="1" i="1" smtClean="0">
                              <a:solidFill>
                                <a:srgbClr val="DE4968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𝟏𝟎</m:t>
                          </m:r>
                        </m:e>
                        <m:sup>
                          <m:r>
                            <a:rPr lang="en-GB" sz="2200" b="1" i="1" smtClean="0">
                              <a:solidFill>
                                <a:srgbClr val="DE4968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𝟖</m:t>
                          </m:r>
                        </m:sup>
                      </m:sSup>
                    </m:oMath>
                  </m:oMathPara>
                </a14:m>
                <a:endParaRPr sz="2200" b="1" i="0" dirty="0">
                  <a:solidFill>
                    <a:srgbClr val="DE4968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5340" y="4764024"/>
                <a:ext cx="3017520" cy="346249"/>
              </a:xfrm>
              <a:prstGeom prst="rect">
                <a:avLst/>
              </a:prstGeom>
              <a:blipFill>
                <a:blip r:embed="rId5"/>
                <a:stretch>
                  <a:fillRect t="-3571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4590288" y="5239512"/>
                <a:ext cx="3017520" cy="18966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1200" b="0" i="0" dirty="0">
                    <a:solidFill>
                      <a:srgbClr val="6E6684"/>
                    </a:solidFill>
                    <a:latin typeface="Calibri"/>
                  </a:rPr>
                  <a:t>entries in the matrix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 sz="12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12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endParaRPr sz="1200" b="0" i="0" dirty="0">
                  <a:solidFill>
                    <a:srgbClr val="6E6684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0288" y="5239512"/>
                <a:ext cx="3017520" cy="189667"/>
              </a:xfrm>
              <a:prstGeom prst="rect">
                <a:avLst/>
              </a:prstGeom>
              <a:blipFill>
                <a:blip r:embed="rId6"/>
                <a:stretch>
                  <a:fillRect t="-25000" b="-43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ounded Rectangle 16"/>
          <p:cNvSpPr/>
          <p:nvPr/>
        </p:nvSpPr>
        <p:spPr>
          <a:xfrm>
            <a:off x="7973568" y="4617720"/>
            <a:ext cx="3383280" cy="105156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8156448" y="4764024"/>
                <a:ext cx="3017520" cy="34624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sz="2200" b="1" i="1" smtClean="0">
                          <a:solidFill>
                            <a:srgbClr val="FE9F6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𝓞</m:t>
                      </m:r>
                      <m:r>
                        <a:rPr lang="en-GB" sz="2200" b="1" i="1" smtClean="0">
                          <a:solidFill>
                            <a:srgbClr val="FE9F6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GB" sz="2200" b="1" i="1" smtClean="0">
                              <a:solidFill>
                                <a:srgbClr val="FE9F6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200" b="1" i="1" smtClean="0">
                              <a:solidFill>
                                <a:srgbClr val="FE9F6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en-GB" sz="2200" b="1" i="1" smtClean="0">
                              <a:solidFill>
                                <a:srgbClr val="FE9F6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  <m:r>
                        <a:rPr lang="en-GB" sz="2200" b="1" i="1" smtClean="0">
                          <a:solidFill>
                            <a:srgbClr val="FE9F6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en-GB" sz="2200" b="1" i="0" dirty="0">
                          <a:solidFill>
                            <a:srgbClr val="FE9F6D"/>
                          </a:solidFill>
                          <a:latin typeface="Cambria" panose="02040503050406030204" pitchFamily="18" charset="0"/>
                        </a:rPr>
                        <m:t>≈</m:t>
                      </m:r>
                      <m:r>
                        <m:rPr>
                          <m:nor/>
                        </m:rPr>
                        <a:rPr lang="en-GB" sz="2200" b="1" i="0" dirty="0" smtClean="0">
                          <a:solidFill>
                            <a:srgbClr val="FE9F6D"/>
                          </a:solidFill>
                          <a:latin typeface="Cambria" panose="02040503050406030204" pitchFamily="18" charset="0"/>
                        </a:rPr>
                        <m:t>4.4</m:t>
                      </m:r>
                      <m:r>
                        <a:rPr lang="en-GB" sz="2200" b="1" i="1" dirty="0" smtClean="0">
                          <a:solidFill>
                            <a:srgbClr val="FE9F6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GB" sz="2200" b="1" i="1" dirty="0" smtClean="0">
                              <a:solidFill>
                                <a:srgbClr val="FE9F6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200" b="1" i="1" dirty="0" smtClean="0">
                              <a:solidFill>
                                <a:srgbClr val="FE9F6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𝟏𝟎</m:t>
                          </m:r>
                        </m:e>
                        <m:sup>
                          <m:r>
                            <a:rPr lang="en-GB" sz="2200" b="1" i="1" dirty="0" smtClean="0">
                              <a:solidFill>
                                <a:srgbClr val="FE9F6D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𝟐𝟐</m:t>
                          </m:r>
                        </m:sup>
                      </m:sSup>
                    </m:oMath>
                  </m:oMathPara>
                </a14:m>
                <a:endParaRPr sz="2200" b="1" i="0" dirty="0">
                  <a:solidFill>
                    <a:srgbClr val="FE9F6D"/>
                  </a:solidFill>
                  <a:latin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6448" y="4764024"/>
                <a:ext cx="3017520" cy="346249"/>
              </a:xfrm>
              <a:prstGeom prst="rect">
                <a:avLst/>
              </a:prstGeom>
              <a:blipFill>
                <a:blip r:embed="rId7"/>
                <a:stretch>
                  <a:fillRect t="-3571" b="-3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/>
          <p:cNvSpPr txBox="1"/>
          <p:nvPr/>
        </p:nvSpPr>
        <p:spPr>
          <a:xfrm>
            <a:off x="8156448" y="5239512"/>
            <a:ext cx="30175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1200" dirty="0">
                <a:solidFill>
                  <a:srgbClr val="6E6684"/>
                </a:solidFill>
                <a:latin typeface="Calibri"/>
              </a:rPr>
              <a:t>operations to compute the dense matrix exponentiation</a:t>
            </a:r>
            <a:endParaRPr sz="1200" b="0" i="0" dirty="0">
              <a:solidFill>
                <a:srgbClr val="6E6684"/>
              </a:solidFill>
              <a:latin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841248" y="5897880"/>
                <a:ext cx="10515600" cy="25289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/>
                <a:r>
                  <a:rPr sz="1450" b="0" i="0" dirty="0">
                    <a:solidFill>
                      <a:srgbClr val="1B0C41"/>
                    </a:solidFill>
                    <a:latin typeface="Calibri"/>
                  </a:rPr>
                  <a:t>So we never build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16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lang="en-GB" sz="1450" b="0" i="0" dirty="0">
                    <a:solidFill>
                      <a:srgbClr val="1B0C41"/>
                    </a:solidFill>
                    <a:latin typeface="Calibri"/>
                  </a:rPr>
                  <a:t>or compute it’s exponent directly</a:t>
                </a:r>
                <a:r>
                  <a:rPr sz="1450" b="0" i="0" dirty="0">
                    <a:solidFill>
                      <a:srgbClr val="1B0C41"/>
                    </a:solidFill>
                    <a:latin typeface="Calibri"/>
                  </a:rPr>
                  <a:t>. </a:t>
                </a:r>
                <a:r>
                  <a:rPr sz="1450" b="0" i="0" dirty="0">
                    <a:solidFill>
                      <a:srgbClr val="413A55"/>
                    </a:solidFill>
                    <a:latin typeface="Calibri"/>
                  </a:rPr>
                  <a:t>Every method below only ever needs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sz="1450" b="0" i="0" dirty="0">
                    <a:solidFill>
                      <a:srgbClr val="413A55"/>
                    </a:solidFill>
                    <a:latin typeface="Calibri"/>
                  </a:rPr>
                  <a:t> applied to a vector.</a:t>
                </a: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248" y="5897880"/>
                <a:ext cx="10515600" cy="252890"/>
              </a:xfrm>
              <a:prstGeom prst="rect">
                <a:avLst/>
              </a:prstGeom>
              <a:blipFill>
                <a:blip r:embed="rId8"/>
                <a:stretch>
                  <a:fillRect t="-14286" b="-380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393BE-AE1C-AB60-49D4-C34094760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0E5CD-7444-EC2A-E486-842727A57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to equations: A rotation in phase space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4D9A7-F117-5675-648B-4BE2ED9CB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7864" y="1800912"/>
            <a:ext cx="552926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4B6DD5-9490-F6E8-C12D-EE761AF99053}"/>
              </a:ext>
            </a:extLst>
          </p:cNvPr>
          <p:cNvCxnSpPr>
            <a:cxnSpLocks/>
            <a:stCxn id="4" idx="1"/>
            <a:endCxn id="4" idx="3"/>
          </p:cNvCxnSpPr>
          <p:nvPr/>
        </p:nvCxnSpPr>
        <p:spPr>
          <a:xfrm>
            <a:off x="3417864" y="3976581"/>
            <a:ext cx="5529266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F71517-D3C6-4497-2DAF-CF535A2CB654}"/>
              </a:ext>
            </a:extLst>
          </p:cNvPr>
          <p:cNvCxnSpPr>
            <a:cxnSpLocks/>
            <a:stCxn id="4" idx="2"/>
            <a:endCxn id="4" idx="0"/>
          </p:cNvCxnSpPr>
          <p:nvPr/>
        </p:nvCxnSpPr>
        <p:spPr>
          <a:xfrm flipV="1">
            <a:off x="6182497" y="1800912"/>
            <a:ext cx="0" cy="4351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75982BCA-B0E2-C4A4-B2B9-FCB8BAC13E43}"/>
              </a:ext>
            </a:extLst>
          </p:cNvPr>
          <p:cNvSpPr/>
          <p:nvPr/>
        </p:nvSpPr>
        <p:spPr>
          <a:xfrm>
            <a:off x="5236199" y="3038257"/>
            <a:ext cx="1892596" cy="1876647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BAE6141-BA4D-3CA3-F5B5-F1566AD92CD7}"/>
                  </a:ext>
                </a:extLst>
              </p:cNvPr>
              <p:cNvSpPr txBox="1"/>
              <p:nvPr/>
            </p:nvSpPr>
            <p:spPr>
              <a:xfrm>
                <a:off x="8947130" y="3976580"/>
                <a:ext cx="3545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BAE6141-BA4D-3CA3-F5B5-F1566AD92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7130" y="3976580"/>
                <a:ext cx="354584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A420AF8-E063-9EC4-8A2B-139FE11EA162}"/>
                  </a:ext>
                </a:extLst>
              </p:cNvPr>
              <p:cNvSpPr txBox="1"/>
              <p:nvPr/>
            </p:nvSpPr>
            <p:spPr>
              <a:xfrm>
                <a:off x="6182497" y="1605851"/>
                <a:ext cx="3722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A420AF8-E063-9EC4-8A2B-139FE11EA1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2497" y="1605851"/>
                <a:ext cx="37221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138ADE7-2146-31B4-F7CC-C45D605EF336}"/>
              </a:ext>
            </a:extLst>
          </p:cNvPr>
          <p:cNvCxnSpPr/>
          <p:nvPr/>
        </p:nvCxnSpPr>
        <p:spPr>
          <a:xfrm flipH="1">
            <a:off x="6483156" y="2512464"/>
            <a:ext cx="481666" cy="2412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2FFA0DB-AA60-A981-7101-C0AF0B7A26ED}"/>
              </a:ext>
            </a:extLst>
          </p:cNvPr>
          <p:cNvCxnSpPr>
            <a:cxnSpLocks/>
          </p:cNvCxnSpPr>
          <p:nvPr/>
        </p:nvCxnSpPr>
        <p:spPr>
          <a:xfrm flipH="1" flipV="1">
            <a:off x="7403777" y="4275911"/>
            <a:ext cx="292017" cy="3912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7085370-5089-0425-360B-23B336AFA07A}"/>
                  </a:ext>
                </a:extLst>
              </p:cNvPr>
              <p:cNvSpPr txBox="1"/>
              <p:nvPr/>
            </p:nvSpPr>
            <p:spPr>
              <a:xfrm>
                <a:off x="7226210" y="3717101"/>
                <a:ext cx="84888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20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7085370-5089-0425-360B-23B336AFA0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6210" y="3717101"/>
                <a:ext cx="848882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9515128-0B63-D4EB-8FB8-B3452D1E5B34}"/>
                  </a:ext>
                </a:extLst>
              </p:cNvPr>
              <p:cNvSpPr txBox="1"/>
              <p:nvPr/>
            </p:nvSpPr>
            <p:spPr>
              <a:xfrm>
                <a:off x="5229804" y="2542180"/>
                <a:ext cx="848882" cy="4060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2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GB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9515128-0B63-D4EB-8FB8-B3452D1E5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9804" y="2542180"/>
                <a:ext cx="848882" cy="40607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CC48959-3060-A4E4-96B0-BCC967BA445B}"/>
                  </a:ext>
                </a:extLst>
              </p:cNvPr>
              <p:cNvSpPr txBox="1"/>
              <p:nvPr/>
            </p:nvSpPr>
            <p:spPr>
              <a:xfrm>
                <a:off x="4457174" y="3429000"/>
                <a:ext cx="84888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2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CC48959-3060-A4E4-96B0-BCC967BA44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7174" y="3429000"/>
                <a:ext cx="848882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0F095C0-901F-807A-74F1-C15152B9E76B}"/>
                  </a:ext>
                </a:extLst>
              </p:cNvPr>
              <p:cNvSpPr txBox="1"/>
              <p:nvPr/>
            </p:nvSpPr>
            <p:spPr>
              <a:xfrm>
                <a:off x="5192276" y="4914904"/>
                <a:ext cx="848882" cy="4539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2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GB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0F095C0-901F-807A-74F1-C15152B9E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2276" y="4914904"/>
                <a:ext cx="848882" cy="45397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6466A88-A51E-62FF-22F3-306A5F60F2E6}"/>
                  </a:ext>
                </a:extLst>
              </p:cNvPr>
              <p:cNvSpPr txBox="1"/>
              <p:nvPr/>
            </p:nvSpPr>
            <p:spPr>
              <a:xfrm>
                <a:off x="7271353" y="3956107"/>
                <a:ext cx="84888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20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6466A88-A51E-62FF-22F3-306A5F60F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1353" y="3956107"/>
                <a:ext cx="848882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8" name="Picture 37">
            <a:extLst>
              <a:ext uri="{FF2B5EF4-FFF2-40B4-BE49-F238E27FC236}">
                <a16:creationId xmlns:a16="http://schemas.microsoft.com/office/drawing/2014/main" id="{0EA5E561-BC81-E045-30BD-476122B1049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2656" y="3707523"/>
            <a:ext cx="618550" cy="588812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CF07F69B-D8AD-2A3E-86AB-9BC8DA40DE1B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5958"/>
          <a:stretch>
            <a:fillRect/>
          </a:stretch>
        </p:blipFill>
        <p:spPr>
          <a:xfrm>
            <a:off x="4961217" y="3669883"/>
            <a:ext cx="634128" cy="626452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50F50DA8-331A-BB07-606E-AC7A376DD50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26272" y="2768611"/>
            <a:ext cx="557240" cy="588812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1BEF1A92-4404-D2B5-A3B5-314130E7365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16084" y="4637919"/>
            <a:ext cx="598248" cy="609913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The oscillator rotates position into momentum. A quarter turn is the Fourier transform; a half turn is the image, inverted.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98DD035-DE50-74D9-7D47-A1C616C1BA10}"/>
              </a:ext>
            </a:extLst>
          </p:cNvPr>
          <p:cNvSpPr/>
          <p:nvPr/>
        </p:nvSpPr>
        <p:spPr>
          <a:xfrm>
            <a:off x="6968898" y="1972022"/>
            <a:ext cx="2179317" cy="369332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BACB0D-E0DD-4752-370D-9CD0727C22C0}"/>
              </a:ext>
            </a:extLst>
          </p:cNvPr>
          <p:cNvSpPr txBox="1"/>
          <p:nvPr/>
        </p:nvSpPr>
        <p:spPr>
          <a:xfrm>
            <a:off x="7091205" y="2054182"/>
            <a:ext cx="2033217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GB" sz="1400" b="0" i="1" dirty="0">
                <a:solidFill>
                  <a:srgbClr val="3B0F70"/>
                </a:solidFill>
                <a:latin typeface="Calibri"/>
              </a:rPr>
              <a:t>Fourier Transform of horse</a:t>
            </a:r>
            <a:endParaRPr sz="1400" b="0" i="1" dirty="0">
              <a:solidFill>
                <a:srgbClr val="3B0F7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2031C9-3B7B-1690-7867-C67DA7B36AA9}"/>
              </a:ext>
            </a:extLst>
          </p:cNvPr>
          <p:cNvSpPr/>
          <p:nvPr/>
        </p:nvSpPr>
        <p:spPr>
          <a:xfrm>
            <a:off x="7071931" y="2395546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B02458-014B-DF36-2F31-4EF4621E09C3}"/>
              </a:ext>
            </a:extLst>
          </p:cNvPr>
          <p:cNvSpPr txBox="1"/>
          <p:nvPr/>
        </p:nvSpPr>
        <p:spPr>
          <a:xfrm>
            <a:off x="7024984" y="2309611"/>
            <a:ext cx="18552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/>
              <a:t>Pure momentum-space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AB146E-236C-A3B7-5FFF-2E6AFD462E8A}"/>
              </a:ext>
            </a:extLst>
          </p:cNvPr>
          <p:cNvSpPr/>
          <p:nvPr/>
        </p:nvSpPr>
        <p:spPr>
          <a:xfrm>
            <a:off x="7076408" y="2568118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494EB6A-67CE-7AB2-E536-BB0DADFBCAA2}"/>
                  </a:ext>
                </a:extLst>
              </p:cNvPr>
              <p:cNvSpPr txBox="1"/>
              <p:nvPr/>
            </p:nvSpPr>
            <p:spPr>
              <a:xfrm>
                <a:off x="7071931" y="2476570"/>
                <a:ext cx="3396232" cy="2771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100" dirty="0"/>
                  <a:t>Modulus what amount of each frequency in </a:t>
                </a:r>
                <a14:m>
                  <m:oMath xmlns:m="http://schemas.openxmlformats.org/officeDocument/2006/math"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1100" b="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sz="11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GB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1100" b="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sz="1100" b="0" i="1" smtClean="0">
                            <a:latin typeface="Cambria Math" panose="02040503050406030204" pitchFamily="18" charset="0"/>
                          </a:rPr>
                          <m:t>y</m:t>
                        </m:r>
                      </m:sub>
                    </m:sSub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1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494EB6A-67CE-7AB2-E536-BB0DADFBCA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1931" y="2476570"/>
                <a:ext cx="3396232" cy="277192"/>
              </a:xfrm>
              <a:prstGeom prst="rect">
                <a:avLst/>
              </a:prstGeom>
              <a:blipFill>
                <a:blip r:embed="rId13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9FD2336-1183-D499-E528-883640D3757F}"/>
              </a:ext>
            </a:extLst>
          </p:cNvPr>
          <p:cNvSpPr/>
          <p:nvPr/>
        </p:nvSpPr>
        <p:spPr>
          <a:xfrm>
            <a:off x="7657462" y="4685237"/>
            <a:ext cx="2179317" cy="369332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5CF19D-0385-41CF-9146-ABEC17525081}"/>
              </a:ext>
            </a:extLst>
          </p:cNvPr>
          <p:cNvSpPr txBox="1"/>
          <p:nvPr/>
        </p:nvSpPr>
        <p:spPr>
          <a:xfrm>
            <a:off x="7779769" y="4767397"/>
            <a:ext cx="2033217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GB" sz="1400" b="0" i="1" dirty="0">
                <a:solidFill>
                  <a:srgbClr val="3B0F70"/>
                </a:solidFill>
                <a:latin typeface="Calibri"/>
              </a:rPr>
              <a:t>Horse</a:t>
            </a:r>
            <a:endParaRPr sz="1400" b="0" i="1" dirty="0">
              <a:solidFill>
                <a:srgbClr val="3B0F70"/>
              </a:solidFill>
              <a:latin typeface="Calibri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48C1828-61DE-DCE6-F69B-3EF44C634DF3}"/>
              </a:ext>
            </a:extLst>
          </p:cNvPr>
          <p:cNvSpPr/>
          <p:nvPr/>
        </p:nvSpPr>
        <p:spPr>
          <a:xfrm>
            <a:off x="7760495" y="5108761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72E225-8803-D5F2-875C-1E0C422E7614}"/>
              </a:ext>
            </a:extLst>
          </p:cNvPr>
          <p:cNvSpPr txBox="1"/>
          <p:nvPr/>
        </p:nvSpPr>
        <p:spPr>
          <a:xfrm>
            <a:off x="7756951" y="5037146"/>
            <a:ext cx="15224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/>
              <a:t>Pure position-space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76DB160-7BC5-E3ED-A3F2-9F0F5A439930}"/>
              </a:ext>
            </a:extLst>
          </p:cNvPr>
          <p:cNvSpPr/>
          <p:nvPr/>
        </p:nvSpPr>
        <p:spPr>
          <a:xfrm>
            <a:off x="7764972" y="5281333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24F8635-074A-1449-5637-2E5236AEC9EA}"/>
                  </a:ext>
                </a:extLst>
              </p:cNvPr>
              <p:cNvSpPr txBox="1"/>
              <p:nvPr/>
            </p:nvSpPr>
            <p:spPr>
              <a:xfrm>
                <a:off x="7764972" y="5216919"/>
                <a:ext cx="2522028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100" dirty="0"/>
                  <a:t>Modulus is how much light is in </a:t>
                </a:r>
                <a14:m>
                  <m:oMath xmlns:m="http://schemas.openxmlformats.org/officeDocument/2006/math"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sz="1100" b="0" i="1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GB" sz="1100" b="0" i="1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1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24F8635-074A-1449-5637-2E5236AEC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4972" y="5216919"/>
                <a:ext cx="2522028" cy="261610"/>
              </a:xfrm>
              <a:prstGeom prst="rect">
                <a:avLst/>
              </a:prstGeom>
              <a:blipFill>
                <a:blip r:embed="rId14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6348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385AD-29E4-2766-AE1E-AA6D3EFB0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67C28-E7EE-6B9B-A578-996412A6B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to equations: A rotation in phase space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A211E324-484A-A6F7-074C-912AC921DF9B}"/>
              </a:ext>
            </a:extLst>
          </p:cNvPr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E70C0B3-BF42-3D72-47D7-D9DE4FA346BE}"/>
              </a:ext>
            </a:extLst>
          </p:cNvPr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The oscillator rotates position into momentum. A quarter turn is the Fourier transform; a half turn is the image, inverted.</a:t>
            </a:r>
          </a:p>
        </p:txBody>
      </p:sp>
      <p:pic>
        <p:nvPicPr>
          <p:cNvPr id="23" name="3d_well_sim_horse.mp4">
            <a:hlinkClick r:id="" action="ppaction://media"/>
            <a:extLst>
              <a:ext uri="{FF2B5EF4-FFF2-40B4-BE49-F238E27FC236}">
                <a16:creationId xmlns:a16="http://schemas.microsoft.com/office/drawing/2014/main" id="{C4C67345-F6A9-383F-9DA4-4016EE3CEA3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055170" y="2261909"/>
            <a:ext cx="4282073" cy="3425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848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367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23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5F6F5-F1BB-6F93-B005-5E33F799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8FC29F-D441-E0DC-0547-7881B69C3CE3}"/>
              </a:ext>
            </a:extLst>
          </p:cNvPr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Method 1: Forward Euler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02BE2C5-8C81-0717-E03B-23B74AF06880}"/>
              </a:ext>
            </a:extLst>
          </p:cNvPr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A21B8C-598C-9655-743F-6196D334CE4B}"/>
              </a:ext>
            </a:extLst>
          </p:cNvPr>
          <p:cNvSpPr txBox="1"/>
          <p:nvPr/>
        </p:nvSpPr>
        <p:spPr>
          <a:xfrm>
            <a:off x="1042416" y="1314170"/>
            <a:ext cx="10113264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 dirty="0">
                <a:solidFill>
                  <a:srgbClr val="3B0F70"/>
                </a:solidFill>
                <a:latin typeface="Calibri"/>
              </a:rPr>
              <a:t>Truncate </a:t>
            </a:r>
            <a:r>
              <a:rPr lang="en-GB" sz="1400" i="1" dirty="0">
                <a:solidFill>
                  <a:srgbClr val="3B0F70"/>
                </a:solidFill>
                <a:latin typeface="Calibri"/>
              </a:rPr>
              <a:t>Taylor</a:t>
            </a:r>
            <a:r>
              <a:rPr sz="1400" b="0" i="1" dirty="0">
                <a:solidFill>
                  <a:srgbClr val="3B0F70"/>
                </a:solidFill>
                <a:latin typeface="Calibri"/>
              </a:rPr>
              <a:t> series after </a:t>
            </a:r>
            <a:r>
              <a:rPr lang="en-GB" sz="1400" b="0" i="1" dirty="0">
                <a:solidFill>
                  <a:srgbClr val="3B0F70"/>
                </a:solidFill>
                <a:latin typeface="Calibri"/>
              </a:rPr>
              <a:t>two</a:t>
            </a:r>
            <a:r>
              <a:rPr sz="1400" b="0" i="1" dirty="0">
                <a:solidFill>
                  <a:srgbClr val="3B0F70"/>
                </a:solidFill>
                <a:latin typeface="Calibri"/>
              </a:rPr>
              <a:t> term. One line of code — and the norm grows at every single step.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A910EC-CDA7-3F5B-D5C5-2F561205C778}"/>
              </a:ext>
            </a:extLst>
          </p:cNvPr>
          <p:cNvSpPr txBox="1"/>
          <p:nvPr/>
        </p:nvSpPr>
        <p:spPr>
          <a:xfrm>
            <a:off x="841248" y="2573940"/>
            <a:ext cx="5486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0" i="0" dirty="0">
                <a:solidFill>
                  <a:srgbClr val="6E6684"/>
                </a:solidFill>
                <a:latin typeface="Calibri"/>
              </a:rPr>
              <a:t>keep two terms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6CCA761-3323-5ADD-D2A8-AB85B6A5AEEA}"/>
                  </a:ext>
                </a:extLst>
              </p:cNvPr>
              <p:cNvSpPr txBox="1"/>
              <p:nvPr/>
            </p:nvSpPr>
            <p:spPr>
              <a:xfrm>
                <a:off x="841248" y="3835019"/>
                <a:ext cx="5486400" cy="22127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r>
                  <a:rPr sz="1300" b="0" i="0" dirty="0">
                    <a:solidFill>
                      <a:srgbClr val="413A55"/>
                    </a:solidFill>
                    <a:latin typeface="Calibri"/>
                  </a:rPr>
                  <a:t>For any eigenvalue E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endParaRPr sz="1300" b="0" i="0" dirty="0">
                  <a:solidFill>
                    <a:srgbClr val="413A55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6CCA761-3323-5ADD-D2A8-AB85B6A5A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248" y="3835019"/>
                <a:ext cx="5486400" cy="221279"/>
              </a:xfrm>
              <a:prstGeom prst="rect">
                <a:avLst/>
              </a:prstGeom>
              <a:blipFill>
                <a:blip r:embed="rId2"/>
                <a:stretch>
                  <a:fillRect l="-1848" t="-10526" b="-4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E57FA696-22A9-9DE5-453C-C2D5D4160D32}"/>
              </a:ext>
            </a:extLst>
          </p:cNvPr>
          <p:cNvSpPr/>
          <p:nvPr/>
        </p:nvSpPr>
        <p:spPr>
          <a:xfrm>
            <a:off x="841248" y="5087747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E33A14-529E-48E2-DA21-865B706F36C8}"/>
              </a:ext>
            </a:extLst>
          </p:cNvPr>
          <p:cNvSpPr txBox="1"/>
          <p:nvPr/>
        </p:nvSpPr>
        <p:spPr>
          <a:xfrm>
            <a:off x="1097280" y="4996307"/>
            <a:ext cx="52303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 dirty="0">
                <a:solidFill>
                  <a:srgbClr val="413A55"/>
                </a:solidFill>
                <a:latin typeface="Calibri"/>
              </a:rPr>
              <a:t>Bigger than one for every E and every </a:t>
            </a:r>
            <a:r>
              <a:rPr sz="1300" b="0" i="0" dirty="0" err="1">
                <a:solidFill>
                  <a:srgbClr val="413A55"/>
                </a:solidFill>
                <a:latin typeface="Calibri"/>
              </a:rPr>
              <a:t>Δt</a:t>
            </a:r>
            <a:r>
              <a:rPr sz="1300" b="0" i="0" dirty="0">
                <a:solidFill>
                  <a:srgbClr val="413A55"/>
                </a:solidFill>
                <a:latin typeface="Calibri"/>
              </a:rPr>
              <a:t> — there is no step size that makes this method conserve the norm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7F54041-921B-6275-F876-76E28E218DFB}"/>
              </a:ext>
            </a:extLst>
          </p:cNvPr>
          <p:cNvSpPr/>
          <p:nvPr/>
        </p:nvSpPr>
        <p:spPr>
          <a:xfrm>
            <a:off x="841248" y="5897880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F02196-04EE-5A91-EAEE-888552859407}"/>
              </a:ext>
            </a:extLst>
          </p:cNvPr>
          <p:cNvSpPr txBox="1"/>
          <p:nvPr/>
        </p:nvSpPr>
        <p:spPr>
          <a:xfrm>
            <a:off x="1097280" y="5806440"/>
            <a:ext cx="52303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13A55"/>
                </a:solidFill>
                <a:latin typeface="Calibri"/>
              </a:rPr>
              <a:t>Halving Δt delays the blow-up. It does not prevent it</a:t>
            </a:r>
          </a:p>
        </p:txBody>
      </p:sp>
      <p:pic>
        <p:nvPicPr>
          <p:cNvPr id="14" name="Picture 13" descr="fig_euler_norm.png">
            <a:extLst>
              <a:ext uri="{FF2B5EF4-FFF2-40B4-BE49-F238E27FC236}">
                <a16:creationId xmlns:a16="http://schemas.microsoft.com/office/drawing/2014/main" id="{3285C74B-E303-46D8-1748-99543E9AB7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331720"/>
            <a:ext cx="4572000" cy="272532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125E071-5385-3010-5BB2-AF0B16C8B64E}"/>
              </a:ext>
            </a:extLst>
          </p:cNvPr>
          <p:cNvSpPr txBox="1"/>
          <p:nvPr/>
        </p:nvSpPr>
        <p:spPr>
          <a:xfrm>
            <a:off x="6720840" y="5257800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 dirty="0">
                <a:solidFill>
                  <a:srgbClr val="6E6684"/>
                </a:solidFill>
                <a:latin typeface="Calibri"/>
              </a:rPr>
              <a:t>Same initial state, same 6 units of time. Only the step size changes.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3E3745-C834-DCDE-58CB-20D645A6573E}"/>
              </a:ext>
            </a:extLst>
          </p:cNvPr>
          <p:cNvSpPr txBox="1"/>
          <p:nvPr/>
        </p:nvSpPr>
        <p:spPr>
          <a:xfrm>
            <a:off x="7650480" y="3016078"/>
            <a:ext cx="1478280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GB" sz="1100" b="0" i="0" dirty="0">
                <a:solidFill>
                  <a:srgbClr val="131313"/>
                </a:solidFill>
                <a:latin typeface="Calibri"/>
              </a:rPr>
              <a:t>Exact</a:t>
            </a:r>
            <a:endParaRPr lang="en-US" sz="1400" dirty="0">
              <a:solidFill>
                <a:srgbClr val="131313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B09E993-1B5D-84A4-A00F-0C1F3F2636EC}"/>
                  </a:ext>
                </a:extLst>
              </p:cNvPr>
              <p:cNvSpPr txBox="1"/>
              <p:nvPr/>
            </p:nvSpPr>
            <p:spPr>
              <a:xfrm>
                <a:off x="443484" y="4320258"/>
                <a:ext cx="5669280" cy="419410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|"/>
                          <m:endChr m:val="|"/>
                          <m:ctrlPr>
                            <a:rPr lang="en-US" sz="2200" i="1" dirty="0">
                              <a:solidFill>
                                <a:srgbClr val="DE4968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i="1" dirty="0">
                              <a:solidFill>
                                <a:srgbClr val="DE4968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US" sz="2200" i="1" dirty="0">
                              <a:solidFill>
                                <a:srgbClr val="DE4968"/>
                              </a:solidFill>
                              <a:latin typeface="Cambria Math" panose="02040503050406030204" pitchFamily="18" charset="0"/>
                            </a:rPr>
                            <m:t>𝑖𝐸</m:t>
                          </m:r>
                          <m:r>
                            <a:rPr lang="en-US" sz="2200" i="1" dirty="0">
                              <a:solidFill>
                                <a:srgbClr val="DE4968"/>
                              </a:solidFill>
                              <a:latin typeface="Cambria Math" panose="02040503050406030204" pitchFamily="18" charset="0"/>
                            </a:rPr>
                            <m:t>𝛥</m:t>
                          </m:r>
                          <m:r>
                            <a:rPr lang="en-US" sz="2200" i="1" dirty="0">
                              <a:solidFill>
                                <a:srgbClr val="DE4968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200" i="1" dirty="0">
                          <a:solidFill>
                            <a:srgbClr val="DE496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200" i="1" dirty="0">
                              <a:solidFill>
                                <a:srgbClr val="DE4968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200" i="1" dirty="0">
                              <a:solidFill>
                                <a:srgbClr val="DE4968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sz="2200" i="1" dirty="0">
                                  <a:solidFill>
                                    <a:srgbClr val="DE4968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i="1" dirty="0">
                                  <a:solidFill>
                                    <a:srgbClr val="DE4968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p>
                              <m:r>
                                <a:rPr lang="en-US" sz="2200" i="1" dirty="0">
                                  <a:solidFill>
                                    <a:srgbClr val="DE4968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200" i="1" dirty="0">
                              <a:solidFill>
                                <a:srgbClr val="DE4968"/>
                              </a:solidFill>
                              <a:latin typeface="Cambria Math" panose="02040503050406030204" pitchFamily="18" charset="0"/>
                            </a:rPr>
                            <m:t>𝛥</m:t>
                          </m:r>
                          <m:sSup>
                            <m:sSupPr>
                              <m:ctrlPr>
                                <a:rPr lang="en-US" sz="2200" i="1" dirty="0">
                                  <a:solidFill>
                                    <a:srgbClr val="DE4968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i="1" dirty="0">
                                  <a:solidFill>
                                    <a:srgbClr val="DE4968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200" i="1" dirty="0">
                                  <a:solidFill>
                                    <a:srgbClr val="DE4968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en-US" sz="2200" i="1" dirty="0">
                          <a:solidFill>
                            <a:srgbClr val="DE4968"/>
                          </a:solidFill>
                          <a:latin typeface="Cambria Math" panose="02040503050406030204" pitchFamily="18" charset="0"/>
                        </a:rPr>
                        <m:t>&gt;1</m:t>
                      </m:r>
                    </m:oMath>
                  </m:oMathPara>
                </a14:m>
                <a:endParaRPr lang="en-US" sz="2200" dirty="0">
                  <a:solidFill>
                    <a:srgbClr val="DE4968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B09E993-1B5D-84A4-A00F-0C1F3F2636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484" y="4320258"/>
                <a:ext cx="5669280" cy="419410"/>
              </a:xfrm>
              <a:prstGeom prst="rect">
                <a:avLst/>
              </a:prstGeom>
              <a:blipFill>
                <a:blip r:embed="rId4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DA1A7EA-1327-E923-EED8-7329AB306F05}"/>
                  </a:ext>
                </a:extLst>
              </p:cNvPr>
              <p:cNvSpPr txBox="1"/>
              <p:nvPr/>
            </p:nvSpPr>
            <p:spPr>
              <a:xfrm>
                <a:off x="877824" y="3095503"/>
                <a:ext cx="5669280" cy="434221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5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𝛹</m:t>
                          </m:r>
                        </m:e>
                        <m:sub>
                          <m:r>
                            <a:rPr lang="en-US" sz="25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5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500" i="1" dirty="0">
                          <a:solidFill>
                            <a:srgbClr val="3B0F7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5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5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US" sz="25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acc>
                            <m:accPr>
                              <m:chr m:val="̂"/>
                              <m:ctrlPr>
                                <a:rPr lang="en-US" sz="25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5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sz="25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𝛥</m:t>
                          </m:r>
                          <m:r>
                            <a:rPr lang="en-US" sz="25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b>
                        <m:sSubPr>
                          <m:ctrlPr>
                            <a:rPr lang="en-US" sz="25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𝛹</m:t>
                          </m:r>
                        </m:e>
                        <m:sub>
                          <m:r>
                            <a:rPr lang="en-US" sz="25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5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DA1A7EA-1327-E923-EED8-7329AB306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824" y="3095503"/>
                <a:ext cx="5669280" cy="434221"/>
              </a:xfrm>
              <a:prstGeom prst="rect">
                <a:avLst/>
              </a:prstGeom>
              <a:blipFill>
                <a:blip r:embed="rId5"/>
                <a:stretch>
                  <a:fillRect t="-17143" b="-1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F47208A-C781-FDFD-1012-8933F27DDDFD}"/>
                  </a:ext>
                </a:extLst>
              </p:cNvPr>
              <p:cNvSpPr txBox="1"/>
              <p:nvPr/>
            </p:nvSpPr>
            <p:spPr>
              <a:xfrm>
                <a:off x="841248" y="1823717"/>
                <a:ext cx="5669280" cy="576183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i="1" dirty="0">
                          <a:latin typeface="Cambria Math" panose="02040503050406030204" pitchFamily="18" charset="0"/>
                        </a:rPr>
                        <m:t>exp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acc>
                            <m:accPr>
                              <m:chr m:val="̂"/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𝛥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=1+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̂"/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𝛥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</m:acc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𝛥</m:t>
                              </m:r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  <m:sup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+⋯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F47208A-C781-FDFD-1012-8933F27DDD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248" y="1823717"/>
                <a:ext cx="5669280" cy="576183"/>
              </a:xfrm>
              <a:prstGeom prst="rect">
                <a:avLst/>
              </a:prstGeom>
              <a:blipFill>
                <a:blip r:embed="rId6"/>
                <a:stretch>
                  <a:fillRect b="-14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842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Method 2: Crank–Nicolson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The same series written as a ratio. Norm-preserving at any Δt — you pay with a linear solve every 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01952"/>
            <a:ext cx="566928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413A55"/>
                </a:solidFill>
                <a:latin typeface="Calibri"/>
              </a:rPr>
              <a:t>Approximate the exponential by a ratio (a</a:t>
            </a:r>
            <a:r>
              <a:rPr lang="en-GB" sz="1300" b="0" i="0" dirty="0">
                <a:solidFill>
                  <a:srgbClr val="413A55"/>
                </a:solidFill>
                <a:latin typeface="Calibri"/>
              </a:rPr>
              <a:t> [1,1]</a:t>
            </a:r>
            <a:r>
              <a:rPr sz="1300" b="0" i="0" dirty="0">
                <a:solidFill>
                  <a:srgbClr val="413A55"/>
                </a:solidFill>
                <a:latin typeface="Calibri"/>
              </a:rPr>
              <a:t> Padé approximant):</a:t>
            </a:r>
          </a:p>
        </p:txBody>
      </p:sp>
      <p:pic>
        <p:nvPicPr>
          <p:cNvPr id="6" name="Picture 5" descr="e_p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888" y="2267712"/>
            <a:ext cx="3657600" cy="12572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" y="3703320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413A55"/>
                </a:solidFill>
                <a:latin typeface="Calibri"/>
              </a:rPr>
              <a:t>which rearranges into one step of the method:</a:t>
            </a:r>
          </a:p>
        </p:txBody>
      </p:sp>
      <p:pic>
        <p:nvPicPr>
          <p:cNvPr id="8" name="Picture 7" descr="e_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041648"/>
            <a:ext cx="5486400" cy="6649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" y="6241940"/>
            <a:ext cx="5669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1" dirty="0">
                <a:solidFill>
                  <a:srgbClr val="6E6684"/>
                </a:solidFill>
                <a:latin typeface="Calibri"/>
              </a:rPr>
              <a:t>Top and bottom have the same modulus, so the norm is preserved exactly.</a:t>
            </a:r>
          </a:p>
        </p:txBody>
      </p:sp>
      <p:pic>
        <p:nvPicPr>
          <p:cNvPr id="11" name="Picture 10" descr="fig_amplific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03120"/>
            <a:ext cx="4572000" cy="256172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720840" y="4956048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76872" y="4864607"/>
            <a:ext cx="43159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13A55"/>
                </a:solidFill>
                <a:latin typeface="Calibri"/>
              </a:rPr>
              <a:t>Second-order accurate, stable at any step size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5559806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76872" y="5468366"/>
            <a:ext cx="43159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 dirty="0">
                <a:solidFill>
                  <a:srgbClr val="1B0C41"/>
                </a:solidFill>
                <a:latin typeface="Calibri"/>
              </a:rPr>
              <a:t>The cost: </a:t>
            </a:r>
            <a:r>
              <a:rPr sz="1300" b="0" i="0" dirty="0">
                <a:solidFill>
                  <a:srgbClr val="413A55"/>
                </a:solidFill>
                <a:latin typeface="Calibri"/>
              </a:rPr>
              <a:t>the left-hand side is not diagonal, so every step is an iterative solve over 16,384 unknowns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BD182C-44E7-FBD8-4725-7F930AAD0AB2}"/>
              </a:ext>
            </a:extLst>
          </p:cNvPr>
          <p:cNvSpPr txBox="1"/>
          <p:nvPr/>
        </p:nvSpPr>
        <p:spPr>
          <a:xfrm>
            <a:off x="7620000" y="2545339"/>
            <a:ext cx="1478280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GB" sz="12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Exact</a:t>
            </a:r>
            <a:endParaRPr lang="en-US" sz="1600" dirty="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8C4D093-CB6E-A15E-5C29-D491EA0A6DB2}"/>
                  </a:ext>
                </a:extLst>
              </p:cNvPr>
              <p:cNvSpPr txBox="1"/>
              <p:nvPr/>
            </p:nvSpPr>
            <p:spPr>
              <a:xfrm>
                <a:off x="414528" y="5203342"/>
                <a:ext cx="6096000" cy="9140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 dirty="0">
                            <a:solidFill>
                              <a:srgbClr val="8C288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400" i="1" dirty="0">
                                <a:solidFill>
                                  <a:srgbClr val="8C288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i="1" dirty="0">
                                <a:solidFill>
                                  <a:srgbClr val="8C2881"/>
                                </a:solidFill>
                                <a:latin typeface="Cambria Math" panose="02040503050406030204" pitchFamily="18" charset="0"/>
                              </a:rPr>
                              <m:t>1+</m:t>
                            </m:r>
                            <m:f>
                              <m:fPr>
                                <m:ctrlPr>
                                  <a:rPr lang="en-US" sz="2400" i="1" dirty="0">
                                    <a:solidFill>
                                      <a:srgbClr val="8C288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400" i="1" dirty="0">
                                    <a:solidFill>
                                      <a:srgbClr val="8C288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sz="2400" i="1" dirty="0">
                                    <a:solidFill>
                                      <a:srgbClr val="8C288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sz="2400" i="1" dirty="0">
                                <a:solidFill>
                                  <a:srgbClr val="8C2881"/>
                                </a:solidFill>
                                <a:latin typeface="Cambria Math" panose="02040503050406030204" pitchFamily="18" charset="0"/>
                              </a:rPr>
                              <m:t>𝑖𝐸</m:t>
                            </m:r>
                            <m:r>
                              <a:rPr lang="en-US" sz="2400" i="1" dirty="0">
                                <a:solidFill>
                                  <a:srgbClr val="8C2881"/>
                                </a:solidFill>
                                <a:latin typeface="Cambria Math" panose="02040503050406030204" pitchFamily="18" charset="0"/>
                              </a:rPr>
                              <m:t>𝛥</m:t>
                            </m:r>
                            <m:r>
                              <a:rPr lang="en-US" sz="2400" i="1" dirty="0">
                                <a:solidFill>
                                  <a:srgbClr val="8C288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en-US" sz="2400" i="1" dirty="0">
                                <a:solidFill>
                                  <a:srgbClr val="8C2881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en-US" sz="2400" i="1" dirty="0">
                                    <a:solidFill>
                                      <a:srgbClr val="8C288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400" i="1" dirty="0">
                                    <a:solidFill>
                                      <a:srgbClr val="8C288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sz="2400" i="1" dirty="0">
                                    <a:solidFill>
                                      <a:srgbClr val="8C288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sz="2400" i="1" dirty="0">
                                <a:solidFill>
                                  <a:srgbClr val="8C2881"/>
                                </a:solidFill>
                                <a:latin typeface="Cambria Math" panose="02040503050406030204" pitchFamily="18" charset="0"/>
                              </a:rPr>
                              <m:t>𝑖𝐸</m:t>
                            </m:r>
                            <m:r>
                              <a:rPr lang="en-US" sz="2400" i="1" dirty="0">
                                <a:solidFill>
                                  <a:srgbClr val="8C2881"/>
                                </a:solidFill>
                                <a:latin typeface="Cambria Math" panose="02040503050406030204" pitchFamily="18" charset="0"/>
                              </a:rPr>
                              <m:t>𝛥</m:t>
                            </m:r>
                            <m:r>
                              <a:rPr lang="en-US" sz="2400" i="1" dirty="0">
                                <a:solidFill>
                                  <a:srgbClr val="8C288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</m:e>
                    </m:d>
                    <m:r>
                      <a:rPr lang="en-US" sz="2400" i="1" dirty="0">
                        <a:solidFill>
                          <a:srgbClr val="8C288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>
                    <a:solidFill>
                      <a:srgbClr val="8C2881"/>
                    </a:solidFill>
                  </a:rPr>
                  <a:t> </a:t>
                </a:r>
                <a:r>
                  <a:rPr lang="en-US" sz="2400" dirty="0">
                    <a:solidFill>
                      <a:srgbClr val="8C288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for every</a:t>
                </a:r>
                <a:r>
                  <a:rPr lang="en-US" sz="2400" dirty="0">
                    <a:solidFill>
                      <a:srgbClr val="8C288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rgbClr val="8C288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GB" sz="2400" b="0" i="1" dirty="0" smtClean="0">
                        <a:solidFill>
                          <a:srgbClr val="8C2881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400" i="1" dirty="0">
                        <a:solidFill>
                          <a:srgbClr val="8C2881"/>
                        </a:solidFill>
                        <a:latin typeface="Cambria Math" panose="02040503050406030204" pitchFamily="18" charset="0"/>
                      </a:rPr>
                      <m:t>𝛥</m:t>
                    </m:r>
                    <m:r>
                      <a:rPr lang="en-US" sz="2400" i="1" dirty="0">
                        <a:solidFill>
                          <a:srgbClr val="8C288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400" dirty="0">
                    <a:solidFill>
                      <a:srgbClr val="8C288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8C4D093-CB6E-A15E-5C29-D491EA0A6D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528" y="5203342"/>
                <a:ext cx="6096000" cy="914096"/>
              </a:xfrm>
              <a:prstGeom prst="rect">
                <a:avLst/>
              </a:prstGeom>
              <a:blipFill>
                <a:blip r:embed="rId5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1B0C41"/>
                </a:solidFill>
                <a:latin typeface="Cambria"/>
              </a:rPr>
              <a:t>The loophole: </a:t>
            </a:r>
            <a:r>
              <a:rPr lang="en-GB" sz="2600" b="1" i="0" dirty="0">
                <a:solidFill>
                  <a:srgbClr val="1B0C41"/>
                </a:solidFill>
                <a:latin typeface="Cambria"/>
              </a:rPr>
              <a:t>the exponential of a </a:t>
            </a:r>
            <a:r>
              <a:rPr sz="2600" b="1" i="0" dirty="0">
                <a:solidFill>
                  <a:srgbClr val="1B0C41"/>
                </a:solidFill>
                <a:latin typeface="Cambria"/>
              </a:rPr>
              <a:t>diagonal operators </a:t>
            </a:r>
            <a:r>
              <a:rPr lang="en-GB" sz="2600" b="1" i="0" dirty="0">
                <a:solidFill>
                  <a:srgbClr val="1B0C41"/>
                </a:solidFill>
                <a:latin typeface="Cambria"/>
              </a:rPr>
              <a:t>is</a:t>
            </a:r>
            <a:r>
              <a:rPr sz="2600" b="1" i="0" dirty="0">
                <a:solidFill>
                  <a:srgbClr val="1B0C41"/>
                </a:solidFill>
                <a:latin typeface="Cambria"/>
              </a:rPr>
              <a:t> </a:t>
            </a:r>
            <a:r>
              <a:rPr lang="en-GB" sz="2600" b="1" i="0" dirty="0">
                <a:solidFill>
                  <a:srgbClr val="1B0C41"/>
                </a:solidFill>
                <a:latin typeface="Cambria"/>
              </a:rPr>
              <a:t>cheap</a:t>
            </a:r>
            <a:endParaRPr sz="2600" b="1" i="0" dirty="0">
              <a:solidFill>
                <a:srgbClr val="1B0C41"/>
              </a:solidFill>
              <a:latin typeface="Cambria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If an operator is diagonal, its exponential is just the exponential of each entry. No matrix exponential required.</a:t>
            </a:r>
          </a:p>
        </p:txBody>
      </p:sp>
      <p:pic>
        <p:nvPicPr>
          <p:cNvPr id="5" name="Picture 4" descr="fig_diagonal.png"/>
          <p:cNvPicPr>
            <a:picLocks noChangeAspect="1"/>
          </p:cNvPicPr>
          <p:nvPr/>
        </p:nvPicPr>
        <p:blipFill>
          <a:blip r:embed="rId2"/>
          <a:srcRect b="20000"/>
          <a:stretch>
            <a:fillRect/>
          </a:stretch>
        </p:blipFill>
        <p:spPr>
          <a:xfrm>
            <a:off x="841248" y="2148841"/>
            <a:ext cx="5760720" cy="24508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2331720"/>
            <a:ext cx="4343400" cy="2385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1" i="0" dirty="0">
                <a:solidFill>
                  <a:srgbClr val="1B0C41"/>
                </a:solidFill>
                <a:latin typeface="Cambria"/>
              </a:rPr>
              <a:t>Exponentiate the eigenvalues.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6949440" y="2971800"/>
                <a:ext cx="4343400" cy="640080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i="1" dirty="0">
                          <a:latin typeface="Cambria Math" panose="02040503050406030204" pitchFamily="18" charset="0"/>
                        </a:rPr>
                        <m:t>exp</m:t>
                      </m:r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𝛥</m:t>
                              </m:r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𝑗𝑗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000" i="1" dirty="0">
                          <a:latin typeface="Cambria Math" panose="02040503050406030204" pitchFamily="18" charset="0"/>
                        </a:rPr>
                        <m:t>exp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𝛥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 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pic>
            <p:nvPicPr>
              <p:cNvPr id="7" name="Picture 6" descr="dbaab26af7b5978.png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16041" y="2971800"/>
                <a:ext cx="2610196" cy="299258"/>
              </a:xfrm>
              <a:prstGeom prst="rect">
                <a:avLst/>
              </a:prstGeom>
            </p:spPr>
          </p:pic>
        </mc:Fallback>
      </mc:AlternateContent>
      <p:sp>
        <p:nvSpPr>
          <p:cNvPr id="9" name="Rectangle 8"/>
          <p:cNvSpPr/>
          <p:nvPr/>
        </p:nvSpPr>
        <p:spPr>
          <a:xfrm>
            <a:off x="6949440" y="3721608"/>
            <a:ext cx="100584" cy="100584"/>
          </a:xfrm>
          <a:prstGeom prst="rect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05472" y="3630168"/>
            <a:ext cx="40873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13A55"/>
                </a:solidFill>
                <a:latin typeface="Calibri"/>
              </a:rPr>
              <a:t>An N² × N² matrix exponential becomes N² scalar exponentials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4325366"/>
            <a:ext cx="100584" cy="100584"/>
          </a:xfrm>
          <a:prstGeom prst="rect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05472" y="4233926"/>
            <a:ext cx="40873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 dirty="0">
                <a:solidFill>
                  <a:srgbClr val="413A55"/>
                </a:solidFill>
                <a:latin typeface="Calibri"/>
              </a:rPr>
              <a:t>So the game is to find a basis where the operator is diagonal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5074920"/>
            <a:ext cx="10515600" cy="1389888"/>
          </a:xfrm>
          <a:prstGeom prst="roundRect">
            <a:avLst>
              <a:gd name="adj" fmla="val 8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15568" y="5212080"/>
            <a:ext cx="996696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3B0F70"/>
                </a:solidFill>
                <a:latin typeface="Calibri"/>
              </a:rPr>
              <a:t>And if a change of basis </a:t>
            </a:r>
            <a:r>
              <a:rPr sz="1300" b="0" i="0" dirty="0" err="1">
                <a:solidFill>
                  <a:srgbClr val="3B0F70"/>
                </a:solidFill>
                <a:latin typeface="Calibri"/>
              </a:rPr>
              <a:t>diagonalises</a:t>
            </a:r>
            <a:r>
              <a:rPr sz="1300" b="0" i="0" dirty="0">
                <a:solidFill>
                  <a:srgbClr val="3B0F70"/>
                </a:solidFill>
                <a:latin typeface="Calibri"/>
              </a:rPr>
              <a:t> it, the exponential changes basis too</a:t>
            </a:r>
            <a:r>
              <a:rPr lang="en-GB" sz="1300" b="0" i="0" dirty="0">
                <a:solidFill>
                  <a:srgbClr val="3B0F70"/>
                </a:solidFill>
                <a:latin typeface="Calibri"/>
              </a:rPr>
              <a:t> (verify by substituting into the Taylor series)</a:t>
            </a:r>
            <a:endParaRPr sz="1300" b="0" i="0" dirty="0">
              <a:solidFill>
                <a:srgbClr val="3B0F70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115568" y="6144768"/>
            <a:ext cx="9966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1">
                <a:solidFill>
                  <a:srgbClr val="6E6684"/>
                </a:solidFill>
                <a:latin typeface="Calibri"/>
              </a:rPr>
              <a:t>On a periodic grid, F is the FFT — and the kinetic operator T is diagonal in Fourier space.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7C807BA-D0D9-9EE8-E0EF-26C500412AFA}"/>
                  </a:ext>
                </a:extLst>
              </p:cNvPr>
              <p:cNvSpPr txBox="1"/>
              <p:nvPr/>
            </p:nvSpPr>
            <p:spPr>
              <a:xfrm>
                <a:off x="1349828" y="4594967"/>
                <a:ext cx="156754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dirty="0" smtClean="0">
                          <a:solidFill>
                            <a:srgbClr val="8C288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2400" i="1" dirty="0" smtClean="0">
                          <a:solidFill>
                            <a:srgbClr val="8C2881"/>
                          </a:solidFill>
                          <a:latin typeface="Cambria Math" panose="02040503050406030204" pitchFamily="18" charset="0"/>
                        </a:rPr>
                        <m:t>𝛥</m:t>
                      </m:r>
                      <m:r>
                        <a:rPr lang="en-US" sz="2400" i="1" dirty="0" smtClean="0">
                          <a:solidFill>
                            <a:srgbClr val="8C288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m:rPr>
                          <m:sty m:val="p"/>
                        </m:rPr>
                        <a:rPr lang="en-GB" sz="2400" b="0" i="1" dirty="0" smtClean="0">
                          <a:solidFill>
                            <a:srgbClr val="8C2881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2400" i="1" dirty="0" smtClean="0">
                          <a:solidFill>
                            <a:srgbClr val="8C288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</m:oMath>
                  </m:oMathPara>
                </a14:m>
                <a:endParaRPr lang="en-US" sz="2000" dirty="0">
                  <a:solidFill>
                    <a:srgbClr val="8C288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7C807BA-D0D9-9EE8-E0EF-26C500412A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9828" y="4594967"/>
                <a:ext cx="1567543" cy="461665"/>
              </a:xfrm>
              <a:prstGeom prst="rect">
                <a:avLst/>
              </a:prstGeom>
              <a:blipFill>
                <a:blip r:embed="rId4"/>
                <a:stretch>
                  <a:fillRect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FCC358B-E739-25B9-7C2F-B7E873C61D10}"/>
                  </a:ext>
                </a:extLst>
              </p:cNvPr>
              <p:cNvSpPr txBox="1"/>
              <p:nvPr/>
            </p:nvSpPr>
            <p:spPr>
              <a:xfrm>
                <a:off x="4552406" y="4576679"/>
                <a:ext cx="156754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2400" i="1" dirty="0" smtClean="0">
                          <a:solidFill>
                            <a:srgbClr val="FF9F6D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  <m:r>
                        <m:rPr>
                          <m:sty m:val="p"/>
                        </m:rPr>
                        <a:rPr lang="en-GB" sz="2400" b="0" i="1" dirty="0" smtClean="0">
                          <a:solidFill>
                            <a:srgbClr val="FF9F6D"/>
                          </a:solidFill>
                          <a:latin typeface="Cambria Math" panose="02040503050406030204" pitchFamily="18" charset="0"/>
                        </a:rPr>
                        <m:t>xp</m:t>
                      </m:r>
                      <m:r>
                        <a:rPr lang="en-GB" sz="2400" b="0" i="1" dirty="0" smtClean="0">
                          <a:solidFill>
                            <a:srgbClr val="FF9F6D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rgbClr val="FF9F6D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2400" i="1" dirty="0" smtClean="0">
                          <a:solidFill>
                            <a:srgbClr val="FF9F6D"/>
                          </a:solidFill>
                          <a:latin typeface="Cambria Math" panose="02040503050406030204" pitchFamily="18" charset="0"/>
                        </a:rPr>
                        <m:t>𝛥</m:t>
                      </m:r>
                      <m:r>
                        <a:rPr lang="en-US" sz="2400" i="1" dirty="0" smtClean="0">
                          <a:solidFill>
                            <a:srgbClr val="FF9F6D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m:rPr>
                          <m:sty m:val="p"/>
                        </m:rPr>
                        <a:rPr lang="en-GB" sz="2400" b="0" i="1" dirty="0" smtClean="0">
                          <a:solidFill>
                            <a:srgbClr val="FF9F6D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GB" sz="2400" b="0" i="1" dirty="0" smtClean="0">
                          <a:solidFill>
                            <a:srgbClr val="FF9F6D"/>
                          </a:solidFill>
                          <a:latin typeface="Cambria Math" panose="02040503050406030204" pitchFamily="18" charset="0"/>
                        </a:rPr>
                        <m:t>) </m:t>
                      </m:r>
                    </m:oMath>
                  </m:oMathPara>
                </a14:m>
                <a:endParaRPr lang="en-US" sz="2000" dirty="0">
                  <a:solidFill>
                    <a:srgbClr val="8C288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FCC358B-E739-25B9-7C2F-B7E873C61D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2406" y="4576679"/>
                <a:ext cx="1567543" cy="461665"/>
              </a:xfrm>
              <a:prstGeom prst="rect">
                <a:avLst/>
              </a:prstGeom>
              <a:blipFill>
                <a:blip r:embed="rId5"/>
                <a:stretch>
                  <a:fillRect r="-4032"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1F81815-3D55-E331-DF8B-071A196E163C}"/>
                  </a:ext>
                </a:extLst>
              </p:cNvPr>
              <p:cNvSpPr txBox="1"/>
              <p:nvPr/>
            </p:nvSpPr>
            <p:spPr>
              <a:xfrm>
                <a:off x="1020354" y="5531865"/>
                <a:ext cx="9966960" cy="442044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sz="2800" b="0" i="1" dirty="0" smtClean="0">
                          <a:solidFill>
                            <a:srgbClr val="3B0F7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800" i="1" dirty="0">
                          <a:solidFill>
                            <a:srgbClr val="3B0F7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en-US" sz="28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a:rPr lang="en-US" sz="2800" i="1" dirty="0">
                          <a:solidFill>
                            <a:srgbClr val="3B0F70"/>
                          </a:solidFill>
                          <a:latin typeface="Cambria Math" panose="02040503050406030204" pitchFamily="18" charset="0"/>
                        </a:rPr>
                        <m:t>𝐾𝐹</m:t>
                      </m:r>
                      <m:r>
                        <a:rPr lang="en-US" sz="2800" i="1" dirty="0">
                          <a:solidFill>
                            <a:srgbClr val="3B0F70"/>
                          </a:solidFill>
                          <a:latin typeface="Cambria Math" panose="02040503050406030204" pitchFamily="18" charset="0"/>
                        </a:rPr>
                        <m:t> ⇒ </m:t>
                      </m:r>
                      <m:r>
                        <m:rPr>
                          <m:sty m:val="p"/>
                        </m:rPr>
                        <a:rPr lang="en-US" sz="2800" i="1" dirty="0">
                          <a:solidFill>
                            <a:srgbClr val="3B0F70"/>
                          </a:solidFill>
                          <a:latin typeface="Cambria Math" panose="02040503050406030204" pitchFamily="18" charset="0"/>
                        </a:rPr>
                        <m:t>exp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𝛥</m:t>
                          </m:r>
                          <m:r>
                            <a:rPr lang="en-US" sz="28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𝑡𝑇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3B0F7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en-US" sz="28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2800" i="1" dirty="0">
                          <a:solidFill>
                            <a:srgbClr val="3B0F70"/>
                          </a:solidFill>
                          <a:latin typeface="Cambria Math" panose="02040503050406030204" pitchFamily="18" charset="0"/>
                        </a:rPr>
                        <m:t>exp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𝛥</m:t>
                          </m:r>
                          <m:r>
                            <a:rPr lang="en-US" sz="28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𝑡𝐾</m:t>
                          </m:r>
                        </m:e>
                      </m:d>
                      <m:r>
                        <a:rPr lang="en-US" sz="2800" i="1" dirty="0">
                          <a:solidFill>
                            <a:srgbClr val="3B0F70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1F81815-3D55-E331-DF8B-071A196E16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354" y="5531865"/>
                <a:ext cx="9966960" cy="442044"/>
              </a:xfrm>
              <a:prstGeom prst="rect">
                <a:avLst/>
              </a:prstGeom>
              <a:blipFill>
                <a:blip r:embed="rId6"/>
                <a:stretch>
                  <a:fillRect t="-555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1B0C41"/>
                </a:solidFill>
                <a:latin typeface="Cambria"/>
              </a:rPr>
              <a:t>Method 3: Operator splitting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314170"/>
            <a:ext cx="10113264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 dirty="0">
                <a:solidFill>
                  <a:srgbClr val="3B0F70"/>
                </a:solidFill>
                <a:latin typeface="Calibri"/>
              </a:rPr>
              <a:t>V is diagonal in position. T is diagonal in momentum. FFT between the two</a:t>
            </a:r>
            <a:r>
              <a:rPr lang="en-GB" sz="1400" b="0" i="1" dirty="0">
                <a:solidFill>
                  <a:srgbClr val="3B0F70"/>
                </a:solidFill>
                <a:latin typeface="Calibri"/>
              </a:rPr>
              <a:t> and both parts</a:t>
            </a:r>
            <a:r>
              <a:rPr sz="1400" b="0" i="1" dirty="0">
                <a:solidFill>
                  <a:srgbClr val="3B0F70"/>
                </a:solidFill>
                <a:latin typeface="Calibri"/>
              </a:rPr>
              <a:t> are elementwise multiplies.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51660" y="2669339"/>
            <a:ext cx="1783080" cy="1051560"/>
          </a:xfrm>
          <a:prstGeom prst="roundRect">
            <a:avLst>
              <a:gd name="adj" fmla="val 10000"/>
            </a:avLst>
          </a:prstGeom>
          <a:solidFill>
            <a:srgbClr val="3B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43100" y="2833931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ourier New"/>
              </a:rPr>
              <a:t>FFT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3100" y="3199691"/>
            <a:ext cx="1600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F0E6F5"/>
                </a:solidFill>
                <a:latin typeface="Calibri"/>
              </a:rPr>
              <a:t>→ momentum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717036" y="3099107"/>
            <a:ext cx="237744" cy="201168"/>
          </a:xfrm>
          <a:prstGeom prst="rightArrow">
            <a:avLst/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037076" y="2669339"/>
            <a:ext cx="1783080" cy="1051560"/>
          </a:xfrm>
          <a:prstGeom prst="roundRect">
            <a:avLst>
              <a:gd name="adj" fmla="val 10000"/>
            </a:avLst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28516" y="2833931"/>
            <a:ext cx="160020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dirty="0">
                <a:solidFill>
                  <a:srgbClr val="FFFFFF"/>
                </a:solidFill>
                <a:latin typeface="Courier New"/>
              </a:rPr>
              <a:t>e</a:t>
            </a:r>
            <a:r>
              <a:rPr lang="en-GB" sz="1350" b="1" i="0" dirty="0" err="1">
                <a:solidFill>
                  <a:srgbClr val="FFFFFF"/>
                </a:solidFill>
                <a:latin typeface="Courier New"/>
              </a:rPr>
              <a:t>xp</a:t>
            </a:r>
            <a:r>
              <a:rPr sz="1350" b="1" i="0" dirty="0">
                <a:solidFill>
                  <a:srgbClr val="FFFFFF"/>
                </a:solidFill>
                <a:latin typeface="Courier New"/>
              </a:rPr>
              <a:t>(</a:t>
            </a:r>
            <a:r>
              <a:rPr sz="1350" b="1" i="0" dirty="0" err="1">
                <a:solidFill>
                  <a:srgbClr val="FFFFFF"/>
                </a:solidFill>
                <a:latin typeface="Courier New"/>
              </a:rPr>
              <a:t>iΔtK</a:t>
            </a:r>
            <a:r>
              <a:rPr sz="1350" b="1" i="0" dirty="0">
                <a:solidFill>
                  <a:srgbClr val="FFFFFF"/>
                </a:solidFill>
                <a:latin typeface="Courier New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28516" y="3199691"/>
            <a:ext cx="1600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F0E6F5"/>
                </a:solidFill>
                <a:latin typeface="Calibri"/>
              </a:rPr>
              <a:t>momentum space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02452" y="3099107"/>
            <a:ext cx="237744" cy="201168"/>
          </a:xfrm>
          <a:prstGeom prst="rightArrow">
            <a:avLst/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22492" y="2669339"/>
            <a:ext cx="1783080" cy="1051560"/>
          </a:xfrm>
          <a:prstGeom prst="roundRect">
            <a:avLst>
              <a:gd name="adj" fmla="val 10000"/>
            </a:avLst>
          </a:prstGeom>
          <a:solidFill>
            <a:srgbClr val="3B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13932" y="2833931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ourier New"/>
              </a:rPr>
              <a:t>iFFT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3932" y="3199691"/>
            <a:ext cx="1600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F0E6F5"/>
                </a:solidFill>
                <a:latin typeface="Calibri"/>
              </a:rPr>
              <a:t>→ position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087868" y="3099107"/>
            <a:ext cx="237744" cy="201168"/>
          </a:xfrm>
          <a:prstGeom prst="rightArrow">
            <a:avLst/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407908" y="2669339"/>
            <a:ext cx="1783080" cy="1051560"/>
          </a:xfrm>
          <a:prstGeom prst="roundRect">
            <a:avLst>
              <a:gd name="adj" fmla="val 10000"/>
            </a:avLst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99348" y="2833931"/>
            <a:ext cx="160020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dirty="0">
                <a:solidFill>
                  <a:srgbClr val="FFFFFF"/>
                </a:solidFill>
                <a:latin typeface="Courier New"/>
              </a:rPr>
              <a:t>e</a:t>
            </a:r>
            <a:r>
              <a:rPr lang="en-GB" sz="1350" b="1" i="0" dirty="0" err="1">
                <a:solidFill>
                  <a:srgbClr val="FFFFFF"/>
                </a:solidFill>
                <a:latin typeface="Courier New"/>
              </a:rPr>
              <a:t>xp</a:t>
            </a:r>
            <a:r>
              <a:rPr sz="1350" b="1" i="0" dirty="0">
                <a:solidFill>
                  <a:srgbClr val="FFFFFF"/>
                </a:solidFill>
                <a:latin typeface="Courier New"/>
              </a:rPr>
              <a:t>(</a:t>
            </a:r>
            <a:r>
              <a:rPr sz="1350" b="1" i="0" dirty="0" err="1">
                <a:solidFill>
                  <a:srgbClr val="FFFFFF"/>
                </a:solidFill>
                <a:latin typeface="Courier New"/>
              </a:rPr>
              <a:t>iΔtV</a:t>
            </a:r>
            <a:r>
              <a:rPr sz="1350" b="1" i="0" dirty="0">
                <a:solidFill>
                  <a:srgbClr val="FFFFFF"/>
                </a:solidFill>
                <a:latin typeface="Courier New"/>
              </a:rPr>
              <a:t>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9348" y="3199691"/>
            <a:ext cx="1600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F0E6F5"/>
                </a:solidFill>
                <a:latin typeface="Calibri"/>
              </a:rPr>
              <a:t>position 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95020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50" b="0" i="1">
                <a:solidFill>
                  <a:srgbClr val="6E6684"/>
                </a:solidFill>
                <a:latin typeface="Calibri"/>
              </a:rPr>
              <a:t>one step  —  two FFTs, three elementwise multiplies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" y="4653502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97280" y="4562061"/>
            <a:ext cx="46817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13A55"/>
                </a:solidFill>
                <a:latin typeface="Calibri"/>
              </a:rPr>
              <a:t>Every factor is unitary, so the product is unitary: the norm is conserved exactly, at any Δt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1248" y="5555710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97280" y="5464269"/>
            <a:ext cx="4206240" cy="4465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 dirty="0">
                <a:solidFill>
                  <a:srgbClr val="413A55"/>
                </a:solidFill>
                <a:latin typeface="Calibri"/>
              </a:rPr>
              <a:t>The error </a:t>
            </a:r>
            <a:r>
              <a:rPr lang="en-GB" sz="1300" dirty="0">
                <a:solidFill>
                  <a:srgbClr val="413A55"/>
                </a:solidFill>
                <a:latin typeface="Calibri"/>
              </a:rPr>
              <a:t>since</a:t>
            </a:r>
            <a:r>
              <a:rPr sz="1300" b="0" i="0" dirty="0">
                <a:solidFill>
                  <a:srgbClr val="413A55"/>
                </a:solidFill>
                <a:latin typeface="Calibri"/>
              </a:rPr>
              <a:t> </a:t>
            </a:r>
            <a:r>
              <a:rPr sz="1300" b="0" i="0" dirty="0">
                <a:solidFill>
                  <a:srgbClr val="DE4968"/>
                </a:solidFill>
                <a:latin typeface="Calibri"/>
              </a:rPr>
              <a:t>T and V do not commute </a:t>
            </a:r>
            <a:r>
              <a:rPr sz="1300" b="0" i="0" dirty="0">
                <a:solidFill>
                  <a:srgbClr val="413A55"/>
                </a:solidFill>
                <a:latin typeface="Calibri"/>
              </a:rPr>
              <a:t>— O(</a:t>
            </a:r>
            <a:r>
              <a:rPr sz="1300" b="0" i="0" dirty="0" err="1">
                <a:solidFill>
                  <a:srgbClr val="413A55"/>
                </a:solidFill>
                <a:latin typeface="Calibri"/>
              </a:rPr>
              <a:t>Δt</a:t>
            </a:r>
            <a:r>
              <a:rPr sz="1300" b="0" i="0" dirty="0">
                <a:solidFill>
                  <a:srgbClr val="413A55"/>
                </a:solidFill>
                <a:latin typeface="Calibri"/>
              </a:rPr>
              <a:t>) </a:t>
            </a:r>
            <a:r>
              <a:rPr lang="en-GB" sz="1300" b="0" i="0" dirty="0">
                <a:solidFill>
                  <a:srgbClr val="413A55"/>
                </a:solidFill>
                <a:latin typeface="Calibri"/>
              </a:rPr>
              <a:t>error </a:t>
            </a:r>
            <a:r>
              <a:rPr sz="1300" b="0" i="0" dirty="0">
                <a:solidFill>
                  <a:srgbClr val="413A55"/>
                </a:solidFill>
                <a:latin typeface="Calibri"/>
              </a:rPr>
              <a:t>globally</a:t>
            </a:r>
          </a:p>
        </p:txBody>
      </p:sp>
      <p:pic>
        <p:nvPicPr>
          <p:cNvPr id="32" name="Picture 31" descr="fig_amplification.png">
            <a:extLst>
              <a:ext uri="{FF2B5EF4-FFF2-40B4-BE49-F238E27FC236}">
                <a16:creationId xmlns:a16="http://schemas.microsoft.com/office/drawing/2014/main" id="{D659364A-BD43-9BE5-52D4-DA9ED1F5CC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4296277"/>
            <a:ext cx="4572000" cy="25617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9603681-41B6-84CA-9796-5DFEF1561CE5}"/>
                  </a:ext>
                </a:extLst>
              </p:cNvPr>
              <p:cNvSpPr txBox="1"/>
              <p:nvPr/>
            </p:nvSpPr>
            <p:spPr>
              <a:xfrm>
                <a:off x="248557" y="1953678"/>
                <a:ext cx="11545534" cy="486352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i="1" dirty="0" smtClean="0">
                          <a:solidFill>
                            <a:srgbClr val="1B0C40"/>
                          </a:solidFill>
                          <a:latin typeface="Cambria Math" panose="02040503050406030204" pitchFamily="18" charset="0"/>
                        </a:rPr>
                        <m:t>exp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1B0C4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1B0C4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i="1" dirty="0">
                              <a:solidFill>
                                <a:srgbClr val="1B0C40"/>
                              </a:solidFill>
                              <a:latin typeface="Cambria Math" panose="02040503050406030204" pitchFamily="18" charset="0"/>
                            </a:rPr>
                            <m:t>𝛥</m:t>
                          </m:r>
                          <m:r>
                            <a:rPr lang="en-US" sz="2800" i="1" dirty="0">
                              <a:solidFill>
                                <a:srgbClr val="1B0C4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d>
                            <m:dPr>
                              <m:ctrlPr>
                                <a:rPr lang="en-US" sz="2800" i="1" dirty="0">
                                  <a:solidFill>
                                    <a:srgbClr val="1B0C4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 dirty="0">
                                  <a:solidFill>
                                    <a:srgbClr val="1B0C4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2800" i="1" dirty="0">
                                  <a:solidFill>
                                    <a:srgbClr val="1B0C4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800" i="1" dirty="0">
                                  <a:solidFill>
                                    <a:srgbClr val="1B0C4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d>
                        </m:e>
                      </m:d>
                      <m:r>
                        <a:rPr lang="en-US" sz="2800" i="1" dirty="0">
                          <a:solidFill>
                            <a:srgbClr val="1B0C40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r>
                        <m:rPr>
                          <m:sty m:val="p"/>
                        </m:rPr>
                        <a:rPr lang="en-US" sz="2800" i="1" dirty="0">
                          <a:solidFill>
                            <a:srgbClr val="1B0C40"/>
                          </a:solidFill>
                          <a:latin typeface="Cambria Math" panose="02040503050406030204" pitchFamily="18" charset="0"/>
                        </a:rPr>
                        <m:t>exp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1B0C4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1B0C4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i="1" dirty="0">
                              <a:solidFill>
                                <a:srgbClr val="1B0C40"/>
                              </a:solidFill>
                              <a:latin typeface="Cambria Math" panose="02040503050406030204" pitchFamily="18" charset="0"/>
                            </a:rPr>
                            <m:t>𝛥</m:t>
                          </m:r>
                          <m:r>
                            <a:rPr lang="en-US" sz="2800" i="1" dirty="0">
                              <a:solidFill>
                                <a:srgbClr val="1B0C4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800" i="1" dirty="0">
                              <a:solidFill>
                                <a:srgbClr val="1B0C40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r>
                            <a:rPr lang="en-US" sz="2800" i="1" dirty="0">
                              <a:solidFill>
                                <a:srgbClr val="1B0C4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800" i="1" dirty="0">
                          <a:solidFill>
                            <a:srgbClr val="1B0C40"/>
                          </a:solidFill>
                          <a:latin typeface="Cambria Math" panose="02040503050406030204" pitchFamily="18" charset="0"/>
                        </a:rPr>
                        <m:t>exp</m:t>
                      </m:r>
                      <m:d>
                        <m:dPr>
                          <m:ctrlPr>
                            <a:rPr lang="en-US" sz="2800" i="1" dirty="0">
                              <a:solidFill>
                                <a:srgbClr val="1B0C4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solidFill>
                                <a:srgbClr val="1B0C4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i="1" dirty="0">
                              <a:solidFill>
                                <a:srgbClr val="1B0C40"/>
                              </a:solidFill>
                              <a:latin typeface="Cambria Math" panose="02040503050406030204" pitchFamily="18" charset="0"/>
                            </a:rPr>
                            <m:t>𝛥</m:t>
                          </m:r>
                          <m:r>
                            <a:rPr lang="en-US" sz="2800" i="1" dirty="0">
                              <a:solidFill>
                                <a:srgbClr val="1B0C4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800" i="1" dirty="0">
                              <a:solidFill>
                                <a:srgbClr val="1B0C40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r>
                            <a:rPr lang="en-US" sz="2800" i="1" dirty="0">
                              <a:solidFill>
                                <a:srgbClr val="1B0C4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</m:oMath>
                  </m:oMathPara>
                </a14:m>
                <a:endParaRPr lang="en-GB" sz="2800" b="0" dirty="0">
                  <a:solidFill>
                    <a:srgbClr val="1B0C40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9603681-41B6-84CA-9796-5DFEF1561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557" y="1953678"/>
                <a:ext cx="11545534" cy="486352"/>
              </a:xfrm>
              <a:prstGeom prst="rect">
                <a:avLst/>
              </a:prstGeom>
              <a:blipFill>
                <a:blip r:embed="rId3"/>
                <a:stretch>
                  <a:fillRect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GB" sz="2600" b="1" i="0" dirty="0">
                <a:solidFill>
                  <a:srgbClr val="1B0C41"/>
                </a:solidFill>
                <a:latin typeface="Cambria"/>
              </a:rPr>
              <a:t>Method Comparison</a:t>
            </a:r>
            <a:endParaRPr sz="2600" b="1" i="0" dirty="0">
              <a:solidFill>
                <a:srgbClr val="1B0C41"/>
              </a:solidFill>
              <a:latin typeface="Cambria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Split-operator wins here because the FFT diagonalises T for free — which is why the shipped code is six lines.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78847589"/>
                  </p:ext>
                </p:extLst>
              </p:nvPr>
            </p:nvGraphicFramePr>
            <p:xfrm>
              <a:off x="841248" y="1947672"/>
              <a:ext cx="10515601" cy="16093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92824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54268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080627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799461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402336">
                    <a:tc>
                      <a:txBody>
                        <a:bodyPr/>
                        <a:lstStyle/>
                        <a:p>
                          <a:r>
                            <a:rPr sz="1250" b="1" i="0">
                              <a:solidFill>
                                <a:srgbClr val="FFFFFF"/>
                              </a:solidFill>
                              <a:latin typeface="Calibri"/>
                            </a:rPr>
                            <a:t>Method</a:t>
                          </a:r>
                        </a:p>
                      </a:txBody>
                      <a:tcPr marL="128016" marT="27432" marB="27432" anchor="ctr">
                        <a:solidFill>
                          <a:srgbClr val="1B0C4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250" b="1" i="0">
                              <a:solidFill>
                                <a:srgbClr val="FFFFFF"/>
                              </a:solidFill>
                              <a:latin typeface="Calibri"/>
                            </a:rPr>
                            <a:t>Cost per step</a:t>
                          </a:r>
                        </a:p>
                      </a:txBody>
                      <a:tcPr marL="128016" marT="27432" marB="27432" anchor="ctr">
                        <a:solidFill>
                          <a:srgbClr val="1B0C4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250" b="1" i="0">
                              <a:solidFill>
                                <a:srgbClr val="FFFFFF"/>
                              </a:solidFill>
                              <a:latin typeface="Calibri"/>
                            </a:rPr>
                            <a:t>Stable?</a:t>
                          </a:r>
                        </a:p>
                      </a:txBody>
                      <a:tcPr marL="128016" marT="27432" marB="27432" anchor="ctr">
                        <a:solidFill>
                          <a:srgbClr val="1B0C4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250" b="1" i="0">
                              <a:solidFill>
                                <a:srgbClr val="FFFFFF"/>
                              </a:solidFill>
                              <a:latin typeface="Calibri"/>
                            </a:rPr>
                            <a:t>Norm</a:t>
                          </a:r>
                        </a:p>
                      </a:txBody>
                      <a:tcPr marL="128016" marT="27432" marB="27432" anchor="ctr">
                        <a:solidFill>
                          <a:srgbClr val="1B0C4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02336">
                    <a:tc>
                      <a:txBody>
                        <a:bodyPr/>
                        <a:lstStyle/>
                        <a:p>
                          <a:r>
                            <a:rPr sz="1250" b="1" i="0">
                              <a:solidFill>
                                <a:srgbClr val="1B0C41"/>
                              </a:solidFill>
                              <a:latin typeface="Calibri"/>
                            </a:rPr>
                            <a:t>Forward Euler</a:t>
                          </a:r>
                        </a:p>
                      </a:txBody>
                      <a:tcPr marL="128016" marT="27432" marB="27432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1250" b="0" i="0" dirty="0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2 FFTs/ </a:t>
                          </a:r>
                          <a:r>
                            <a:rPr lang="en-GB" sz="1250" b="0" i="0" dirty="0" err="1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Matvec</a:t>
                          </a:r>
                          <a:r>
                            <a:rPr lang="en-GB" sz="1250" b="0" i="0" dirty="0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 product</a:t>
                          </a:r>
                        </a:p>
                      </a:txBody>
                      <a:tcPr marL="128016" marT="27432" marB="27432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250" b="0" i="0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Small Δt only</a:t>
                          </a:r>
                        </a:p>
                      </a:txBody>
                      <a:tcPr marL="128016" marT="27432" marB="27432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250" b="0" i="0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Grows</a:t>
                          </a:r>
                        </a:p>
                      </a:txBody>
                      <a:tcPr marL="128016" marT="27432" marB="27432" anchor="ctr"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02336">
                    <a:tc>
                      <a:txBody>
                        <a:bodyPr/>
                        <a:lstStyle/>
                        <a:p>
                          <a:r>
                            <a:rPr sz="1250" b="1" i="0">
                              <a:solidFill>
                                <a:srgbClr val="1B0C41"/>
                              </a:solidFill>
                              <a:latin typeface="Calibri"/>
                            </a:rPr>
                            <a:t>Crank–Nicolson</a:t>
                          </a:r>
                        </a:p>
                      </a:txBody>
                      <a:tcPr marL="128016" marT="27432" marB="27432" anchor="ctr">
                        <a:solidFill>
                          <a:srgbClr val="F2EFF7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250" b="0" i="0" dirty="0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A</a:t>
                          </a:r>
                          <a:r>
                            <a:rPr lang="en-GB" sz="1250" b="0" i="0" dirty="0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 </a:t>
                          </a:r>
                          <a:r>
                            <a:rPr sz="1250" b="0" i="0" dirty="0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linear solve</a:t>
                          </a:r>
                        </a:p>
                      </a:txBody>
                      <a:tcPr marL="128016" marT="27432" marB="27432" anchor="ctr">
                        <a:solidFill>
                          <a:srgbClr val="F2EFF7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250" b="0" i="0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Any Δt</a:t>
                          </a:r>
                        </a:p>
                      </a:txBody>
                      <a:tcPr marL="128016" marT="27432" marB="27432" anchor="ctr">
                        <a:solidFill>
                          <a:srgbClr val="F2EFF7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GB" sz="1250" b="0" i="1" smtClean="0">
                                  <a:solidFill>
                                    <a:srgbClr val="413A55"/>
                                  </a:solidFill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</m:oMath>
                          </a14:m>
                          <a:r>
                            <a:rPr lang="en-GB" sz="1250" b="0" i="0" dirty="0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Conserved.</a:t>
                          </a:r>
                          <a:endParaRPr sz="1250" b="0" i="0" dirty="0">
                            <a:solidFill>
                              <a:srgbClr val="413A55"/>
                            </a:solidFill>
                            <a:latin typeface="Calibri"/>
                          </a:endParaRPr>
                        </a:p>
                      </a:txBody>
                      <a:tcPr marL="128016" marT="27432" marB="27432" anchor="ctr">
                        <a:solidFill>
                          <a:srgbClr val="F2EFF7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02336">
                    <a:tc>
                      <a:txBody>
                        <a:bodyPr/>
                        <a:lstStyle/>
                        <a:p>
                          <a:r>
                            <a:rPr sz="1250" b="1" i="0">
                              <a:solidFill>
                                <a:srgbClr val="1B0C41"/>
                              </a:solidFill>
                              <a:latin typeface="Calibri"/>
                            </a:rPr>
                            <a:t>Split-operator</a:t>
                          </a:r>
                        </a:p>
                      </a:txBody>
                      <a:tcPr marL="128016" marT="27432" marB="27432" anchor="ctr">
                        <a:solidFill>
                          <a:srgbClr val="EDE4F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250" b="0" i="0" dirty="0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2 FFTs</a:t>
                          </a:r>
                        </a:p>
                      </a:txBody>
                      <a:tcPr marL="128016" marT="27432" marB="27432" anchor="ctr">
                        <a:solidFill>
                          <a:srgbClr val="EDE4F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250" b="0" i="0" dirty="0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Any </a:t>
                          </a:r>
                          <a:r>
                            <a:rPr sz="1250" b="0" i="0" dirty="0" err="1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Δt</a:t>
                          </a:r>
                          <a:endParaRPr sz="1250" b="0" i="0" dirty="0">
                            <a:solidFill>
                              <a:srgbClr val="413A55"/>
                            </a:solidFill>
                            <a:latin typeface="Calibri"/>
                          </a:endParaRPr>
                        </a:p>
                      </a:txBody>
                      <a:tcPr marL="128016" marT="27432" marB="27432" anchor="ctr">
                        <a:solidFill>
                          <a:srgbClr val="EDE4F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GB" sz="1250" b="0" i="1" smtClean="0">
                                  <a:solidFill>
                                    <a:srgbClr val="413A55"/>
                                  </a:solidFill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</m:oMath>
                          </a14:m>
                          <a:r>
                            <a:rPr lang="en-GB" sz="1250" b="0" i="0" dirty="0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Conserved.</a:t>
                          </a:r>
                        </a:p>
                      </a:txBody>
                      <a:tcPr marL="128016" marT="27432" marB="27432" anchor="ctr">
                        <a:solidFill>
                          <a:srgbClr val="EDE4F5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78847589"/>
                  </p:ext>
                </p:extLst>
              </p:nvPr>
            </p:nvGraphicFramePr>
            <p:xfrm>
              <a:off x="841248" y="1947672"/>
              <a:ext cx="10515601" cy="16093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92824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54268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080627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799461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402336">
                    <a:tc>
                      <a:txBody>
                        <a:bodyPr/>
                        <a:lstStyle/>
                        <a:p>
                          <a:r>
                            <a:rPr sz="1250" b="1" i="0">
                              <a:solidFill>
                                <a:srgbClr val="FFFFFF"/>
                              </a:solidFill>
                              <a:latin typeface="Calibri"/>
                            </a:rPr>
                            <a:t>Method</a:t>
                          </a:r>
                        </a:p>
                      </a:txBody>
                      <a:tcPr marL="128016" marT="27432" marB="27432" anchor="ctr">
                        <a:solidFill>
                          <a:srgbClr val="1B0C4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250" b="1" i="0">
                              <a:solidFill>
                                <a:srgbClr val="FFFFFF"/>
                              </a:solidFill>
                              <a:latin typeface="Calibri"/>
                            </a:rPr>
                            <a:t>Cost per step</a:t>
                          </a:r>
                        </a:p>
                      </a:txBody>
                      <a:tcPr marL="128016" marT="27432" marB="27432" anchor="ctr">
                        <a:solidFill>
                          <a:srgbClr val="1B0C4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250" b="1" i="0">
                              <a:solidFill>
                                <a:srgbClr val="FFFFFF"/>
                              </a:solidFill>
                              <a:latin typeface="Calibri"/>
                            </a:rPr>
                            <a:t>Stable?</a:t>
                          </a:r>
                        </a:p>
                      </a:txBody>
                      <a:tcPr marL="128016" marT="27432" marB="27432" anchor="ctr">
                        <a:solidFill>
                          <a:srgbClr val="1B0C4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250" b="1" i="0">
                              <a:solidFill>
                                <a:srgbClr val="FFFFFF"/>
                              </a:solidFill>
                              <a:latin typeface="Calibri"/>
                            </a:rPr>
                            <a:t>Norm</a:t>
                          </a:r>
                        </a:p>
                      </a:txBody>
                      <a:tcPr marL="128016" marT="27432" marB="27432" anchor="ctr">
                        <a:solidFill>
                          <a:srgbClr val="1B0C4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02336">
                    <a:tc>
                      <a:txBody>
                        <a:bodyPr/>
                        <a:lstStyle/>
                        <a:p>
                          <a:r>
                            <a:rPr sz="1250" b="1" i="0">
                              <a:solidFill>
                                <a:srgbClr val="1B0C41"/>
                              </a:solidFill>
                              <a:latin typeface="Calibri"/>
                            </a:rPr>
                            <a:t>Forward Euler</a:t>
                          </a:r>
                        </a:p>
                      </a:txBody>
                      <a:tcPr marL="128016" marT="27432" marB="27432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sz="1250" b="0" i="0" dirty="0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2 FFTs/ </a:t>
                          </a:r>
                          <a:r>
                            <a:rPr lang="en-GB" sz="1250" b="0" i="0" dirty="0" err="1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Matvec</a:t>
                          </a:r>
                          <a:r>
                            <a:rPr lang="en-GB" sz="1250" b="0" i="0" dirty="0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 product</a:t>
                          </a:r>
                        </a:p>
                      </a:txBody>
                      <a:tcPr marL="128016" marT="27432" marB="27432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250" b="0" i="0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Small Δt only</a:t>
                          </a:r>
                        </a:p>
                      </a:txBody>
                      <a:tcPr marL="128016" marT="27432" marB="27432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250" b="0" i="0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Grows</a:t>
                          </a:r>
                        </a:p>
                      </a:txBody>
                      <a:tcPr marL="128016" marT="27432" marB="27432" anchor="ctr"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02336">
                    <a:tc>
                      <a:txBody>
                        <a:bodyPr/>
                        <a:lstStyle/>
                        <a:p>
                          <a:r>
                            <a:rPr sz="1250" b="1" i="0">
                              <a:solidFill>
                                <a:srgbClr val="1B0C41"/>
                              </a:solidFill>
                              <a:latin typeface="Calibri"/>
                            </a:rPr>
                            <a:t>Crank–Nicolson</a:t>
                          </a:r>
                        </a:p>
                      </a:txBody>
                      <a:tcPr marL="128016" marT="27432" marB="27432" anchor="ctr">
                        <a:solidFill>
                          <a:srgbClr val="F2EFF7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250" b="0" i="0" dirty="0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A</a:t>
                          </a:r>
                          <a:r>
                            <a:rPr lang="en-GB" sz="1250" b="0" i="0" dirty="0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 </a:t>
                          </a:r>
                          <a:r>
                            <a:rPr sz="1250" b="0" i="0" dirty="0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linear solve</a:t>
                          </a:r>
                        </a:p>
                      </a:txBody>
                      <a:tcPr marL="128016" marT="27432" marB="27432" anchor="ctr">
                        <a:solidFill>
                          <a:srgbClr val="F2EFF7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250" b="0" i="0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Any Δt</a:t>
                          </a:r>
                        </a:p>
                      </a:txBody>
                      <a:tcPr marL="128016" marT="27432" marB="27432" anchor="ctr">
                        <a:solidFill>
                          <a:srgbClr val="F2EFF7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28016" marT="27432" marB="27432" anchor="ctr">
                        <a:blipFill>
                          <a:blip r:embed="rId2"/>
                          <a:stretch>
                            <a:fillRect l="-484507" t="-203125" r="-1408" b="-1031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02336">
                    <a:tc>
                      <a:txBody>
                        <a:bodyPr/>
                        <a:lstStyle/>
                        <a:p>
                          <a:r>
                            <a:rPr sz="1250" b="1" i="0">
                              <a:solidFill>
                                <a:srgbClr val="1B0C41"/>
                              </a:solidFill>
                              <a:latin typeface="Calibri"/>
                            </a:rPr>
                            <a:t>Split-operator</a:t>
                          </a:r>
                        </a:p>
                      </a:txBody>
                      <a:tcPr marL="128016" marT="27432" marB="27432" anchor="ctr">
                        <a:solidFill>
                          <a:srgbClr val="EDE4F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250" b="0" i="0" dirty="0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2 FFTs</a:t>
                          </a:r>
                        </a:p>
                      </a:txBody>
                      <a:tcPr marL="128016" marT="27432" marB="27432" anchor="ctr">
                        <a:solidFill>
                          <a:srgbClr val="EDE4F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250" b="0" i="0" dirty="0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Any </a:t>
                          </a:r>
                          <a:r>
                            <a:rPr sz="1250" b="0" i="0" dirty="0" err="1">
                              <a:solidFill>
                                <a:srgbClr val="413A55"/>
                              </a:solidFill>
                              <a:latin typeface="Calibri"/>
                            </a:rPr>
                            <a:t>Δt</a:t>
                          </a:r>
                          <a:endParaRPr sz="1250" b="0" i="0" dirty="0">
                            <a:solidFill>
                              <a:srgbClr val="413A55"/>
                            </a:solidFill>
                            <a:latin typeface="Calibri"/>
                          </a:endParaRPr>
                        </a:p>
                      </a:txBody>
                      <a:tcPr marL="128016" marT="27432" marB="27432" anchor="ctr">
                        <a:solidFill>
                          <a:srgbClr val="EDE4F5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28016" marT="27432" marB="27432" anchor="ctr">
                        <a:blipFill>
                          <a:blip r:embed="rId2"/>
                          <a:stretch>
                            <a:fillRect l="-484507" t="-303125" r="-1408" b="-31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C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80160" y="233172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E9F6D"/>
                </a:solidFill>
                <a:latin typeface="Calibri"/>
              </a:rPr>
              <a:t>PART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The Python toolbox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794760"/>
            <a:ext cx="9601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C9BEE4"/>
                </a:solidFill>
                <a:latin typeface="Calibri"/>
              </a:rPr>
              <a:t>uv · ruff · ty · pre-commit · array-api-compat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The toolchain at a glance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314170"/>
            <a:ext cx="10113264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 dirty="0">
                <a:solidFill>
                  <a:srgbClr val="3B0F70"/>
                </a:solidFill>
                <a:latin typeface="Calibri"/>
              </a:rPr>
              <a:t>Four of these keep the repo </a:t>
            </a:r>
            <a:r>
              <a:rPr lang="en-GB" sz="1400" i="1" dirty="0">
                <a:solidFill>
                  <a:srgbClr val="3B0F70"/>
                </a:solidFill>
                <a:latin typeface="Calibri"/>
              </a:rPr>
              <a:t>clean and reproducible</a:t>
            </a:r>
            <a:r>
              <a:rPr sz="1400" b="0" i="1" dirty="0">
                <a:solidFill>
                  <a:srgbClr val="3B0F70"/>
                </a:solidFill>
                <a:latin typeface="Calibri"/>
              </a:rPr>
              <a:t>. The fifth is what lets the same </a:t>
            </a:r>
            <a:r>
              <a:rPr sz="1400" b="0" i="1" dirty="0" err="1">
                <a:solidFill>
                  <a:srgbClr val="3B0F70"/>
                </a:solidFill>
                <a:latin typeface="Calibri"/>
              </a:rPr>
              <a:t>maths</a:t>
            </a:r>
            <a:r>
              <a:rPr sz="1400" b="0" i="1" dirty="0">
                <a:solidFill>
                  <a:srgbClr val="3B0F70"/>
                </a:solidFill>
                <a:latin typeface="Calibri"/>
              </a:rPr>
              <a:t> run on a laptop CPU and on a GPU.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8200" y="2027962"/>
            <a:ext cx="10515600" cy="749808"/>
          </a:xfrm>
          <a:prstGeom prst="roundRect">
            <a:avLst>
              <a:gd name="adj" fmla="val 12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39368" y="2201698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39368" y="2283994"/>
            <a:ext cx="4023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5440" y="217426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B0C41"/>
                </a:solidFill>
                <a:latin typeface="Courier New"/>
              </a:rPr>
              <a:t>uv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5440" y="2457730"/>
            <a:ext cx="5120640" cy="1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 dirty="0">
                <a:solidFill>
                  <a:srgbClr val="6E6684"/>
                </a:solidFill>
                <a:latin typeface="Calibri"/>
              </a:rPr>
              <a:t>Project, interpreter, dependencies, </a:t>
            </a:r>
            <a:r>
              <a:rPr sz="1250" b="0" i="0" dirty="0" err="1">
                <a:solidFill>
                  <a:srgbClr val="6E6684"/>
                </a:solidFill>
                <a:latin typeface="Calibri"/>
              </a:rPr>
              <a:t>lockfile</a:t>
            </a:r>
            <a:endParaRPr sz="1250" b="0" i="0" dirty="0">
              <a:solidFill>
                <a:srgbClr val="6E6684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010400" y="2283994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B0F70"/>
                </a:solidFill>
                <a:latin typeface="Courier New"/>
              </a:rPr>
              <a:t>uv sync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200" y="2878354"/>
            <a:ext cx="10515600" cy="749808"/>
          </a:xfrm>
          <a:prstGeom prst="roundRect">
            <a:avLst>
              <a:gd name="adj" fmla="val 12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39368" y="3052090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39368" y="3134386"/>
            <a:ext cx="4023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5440" y="302465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B0C41"/>
                </a:solidFill>
                <a:latin typeface="Courier New"/>
              </a:rPr>
              <a:t>ruff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15440" y="3308122"/>
            <a:ext cx="5120640" cy="1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0" i="0" dirty="0">
                <a:solidFill>
                  <a:srgbClr val="6E6684"/>
                </a:solidFill>
                <a:latin typeface="Calibri"/>
              </a:rPr>
              <a:t>Linter and formatter — replaces flake8, </a:t>
            </a:r>
            <a:r>
              <a:rPr sz="1250" b="0" i="0" dirty="0" err="1">
                <a:solidFill>
                  <a:srgbClr val="6E6684"/>
                </a:solidFill>
                <a:latin typeface="Calibri"/>
              </a:rPr>
              <a:t>isort</a:t>
            </a:r>
            <a:r>
              <a:rPr sz="1250" b="0" i="0" dirty="0">
                <a:solidFill>
                  <a:srgbClr val="6E6684"/>
                </a:solidFill>
                <a:latin typeface="Calibri"/>
              </a:rPr>
              <a:t>, black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10400" y="3134386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B0F70"/>
                </a:solidFill>
                <a:latin typeface="Courier New"/>
              </a:rPr>
              <a:t>ruff check --fix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8200" y="3728746"/>
            <a:ext cx="10515600" cy="749808"/>
          </a:xfrm>
          <a:prstGeom prst="roundRect">
            <a:avLst>
              <a:gd name="adj" fmla="val 12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39368" y="3902482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39368" y="3984778"/>
            <a:ext cx="4023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1B0C41"/>
                </a:solidFill>
                <a:latin typeface="Cambria"/>
              </a:rPr>
              <a:t>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15440" y="387505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B0C41"/>
                </a:solidFill>
                <a:latin typeface="Courier New"/>
              </a:rPr>
              <a:t>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5440" y="4158514"/>
            <a:ext cx="5120640" cy="1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0" i="0" dirty="0">
                <a:solidFill>
                  <a:srgbClr val="6E6684"/>
                </a:solidFill>
                <a:latin typeface="Calibri"/>
              </a:rPr>
              <a:t>Type checker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0400" y="3984778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B0F70"/>
                </a:solidFill>
                <a:latin typeface="Courier New"/>
              </a:rPr>
              <a:t>ty check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" y="4794022"/>
            <a:ext cx="10515600" cy="749808"/>
          </a:xfrm>
          <a:prstGeom prst="roundRect">
            <a:avLst>
              <a:gd name="adj" fmla="val 12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42416" y="4967758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42416" y="5050054"/>
            <a:ext cx="4023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8488" y="494032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B0C41"/>
                </a:solidFill>
                <a:latin typeface="Courier New"/>
              </a:rPr>
              <a:t>pre-commit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18488" y="522379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E6684"/>
                </a:solidFill>
                <a:latin typeface="Calibri"/>
              </a:rPr>
              <a:t>Runs all of the above on every commit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13448" y="5050054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B0F70"/>
                </a:solidFill>
                <a:latin typeface="Courier New"/>
              </a:rPr>
              <a:t>pre-commit install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5644414"/>
            <a:ext cx="10515600" cy="749808"/>
          </a:xfrm>
          <a:prstGeom prst="roundRect">
            <a:avLst>
              <a:gd name="adj" fmla="val 12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042416" y="5818150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3B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42416" y="5900446"/>
            <a:ext cx="4023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18488" y="579071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B0C41"/>
                </a:solidFill>
                <a:latin typeface="Courier New"/>
              </a:rPr>
              <a:t>array-api-compat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18488" y="6074182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E6684"/>
                </a:solidFill>
                <a:latin typeface="Calibri"/>
              </a:rPr>
              <a:t>One algorithm; NumPy, PyTorch or CuPy underneath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13448" y="5900446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B0F70"/>
                </a:solidFill>
                <a:latin typeface="Courier New"/>
              </a:rPr>
              <a:t>xp = array_namespace(psi)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uv — the project, the Python, and the lockfile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git clone → uv sync → running. One binary replaces pip, pip-tools, pipx, virtualenv, pyenv and poetry.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10512"/>
            <a:ext cx="6720840" cy="2606040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929384"/>
            <a:ext cx="63185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212848"/>
            <a:ext cx="6318503" cy="15004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 err="1">
                <a:solidFill>
                  <a:srgbClr val="FE9F6D"/>
                </a:solidFill>
                <a:latin typeface="Courier New"/>
              </a:rPr>
              <a:t>uv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 err="1">
                <a:solidFill>
                  <a:srgbClr val="E8E1F5"/>
                </a:solidFill>
                <a:latin typeface="Courier New"/>
              </a:rPr>
              <a:t>init</a:t>
            </a:r>
            <a:r>
              <a:rPr lang="en-GB" sz="1250" dirty="0">
                <a:solidFill>
                  <a:srgbClr val="E8E1F5"/>
                </a:solidFill>
                <a:latin typeface="Courier New"/>
              </a:rPr>
              <a:t> --package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toolbox-talk</a:t>
            </a:r>
            <a:r>
              <a:rPr sz="1250" b="0" i="0" dirty="0">
                <a:solidFill>
                  <a:srgbClr val="9C8FC0"/>
                </a:solidFill>
                <a:latin typeface="Courier New"/>
              </a:rPr>
              <a:t>        # </a:t>
            </a:r>
            <a:r>
              <a:rPr sz="1250" b="0" i="0" dirty="0" err="1">
                <a:solidFill>
                  <a:srgbClr val="9C8FC0"/>
                </a:solidFill>
                <a:latin typeface="Courier New"/>
              </a:rPr>
              <a:t>pyproject.toml</a:t>
            </a:r>
            <a:r>
              <a:rPr sz="1250" b="0" i="0" dirty="0">
                <a:solidFill>
                  <a:srgbClr val="9C8FC0"/>
                </a:solidFill>
                <a:latin typeface="Courier New"/>
              </a:rPr>
              <a:t>, .</a:t>
            </a:r>
            <a:r>
              <a:rPr sz="1250" b="0" i="0" dirty="0" err="1">
                <a:solidFill>
                  <a:srgbClr val="9C8FC0"/>
                </a:solidFill>
                <a:latin typeface="Courier New"/>
              </a:rPr>
              <a:t>venv</a:t>
            </a:r>
            <a:endParaRPr sz="1250" b="0" i="0" dirty="0">
              <a:solidFill>
                <a:srgbClr val="9C8FC0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endParaRPr lang="en-GB" sz="1250" b="0" i="0" dirty="0">
              <a:solidFill>
                <a:srgbClr val="DE4968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 err="1">
                <a:solidFill>
                  <a:srgbClr val="FE9F6D"/>
                </a:solidFill>
                <a:latin typeface="Courier New"/>
              </a:rPr>
              <a:t>uv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add </a:t>
            </a:r>
            <a:r>
              <a:rPr sz="1250" b="0" i="0" dirty="0" err="1">
                <a:solidFill>
                  <a:srgbClr val="E8E1F5"/>
                </a:solidFill>
                <a:latin typeface="Courier New"/>
              </a:rPr>
              <a:t>numpy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matplotlib array-</a:t>
            </a:r>
            <a:r>
              <a:rPr sz="1250" b="0" i="0" dirty="0" err="1">
                <a:solidFill>
                  <a:srgbClr val="E8E1F5"/>
                </a:solidFill>
                <a:latin typeface="Courier New"/>
              </a:rPr>
              <a:t>api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-</a:t>
            </a:r>
            <a:r>
              <a:rPr sz="1250" b="0" i="0" dirty="0" err="1">
                <a:solidFill>
                  <a:srgbClr val="E8E1F5"/>
                </a:solidFill>
                <a:latin typeface="Courier New"/>
              </a:rPr>
              <a:t>compat</a:t>
            </a:r>
            <a:endParaRPr sz="1250" b="0" i="0" dirty="0">
              <a:solidFill>
                <a:srgbClr val="E8E1F5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 err="1">
                <a:solidFill>
                  <a:srgbClr val="FE9F6D"/>
                </a:solidFill>
                <a:latin typeface="Courier New"/>
              </a:rPr>
              <a:t>uv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add --dev </a:t>
            </a:r>
            <a:r>
              <a:rPr sz="1250" b="0" i="0" dirty="0">
                <a:solidFill>
                  <a:srgbClr val="FE9F6D"/>
                </a:solidFill>
                <a:latin typeface="Courier New"/>
              </a:rPr>
              <a:t>ruff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>
                <a:solidFill>
                  <a:srgbClr val="FE9F6D"/>
                </a:solidFill>
                <a:latin typeface="Courier New"/>
              </a:rPr>
              <a:t>ty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>
                <a:solidFill>
                  <a:srgbClr val="FE9F6D"/>
                </a:solidFill>
                <a:latin typeface="Courier New"/>
              </a:rPr>
              <a:t>pre-commit</a:t>
            </a:r>
          </a:p>
          <a:p>
            <a:pPr>
              <a:spcAft>
                <a:spcPts val="150"/>
              </a:spcAft>
            </a:pPr>
            <a:r>
              <a:rPr lang="en-GB" sz="1250" dirty="0">
                <a:solidFill>
                  <a:srgbClr val="DE4968"/>
                </a:solidFill>
                <a:latin typeface="Courier New"/>
              </a:rPr>
              <a:t>$</a:t>
            </a:r>
            <a:endParaRPr sz="1250" b="0" i="0" dirty="0">
              <a:solidFill>
                <a:srgbClr val="E8E1F5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 err="1">
                <a:solidFill>
                  <a:srgbClr val="FE9F6D"/>
                </a:solidFill>
                <a:latin typeface="Courier New"/>
              </a:rPr>
              <a:t>uv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sync</a:t>
            </a:r>
            <a:r>
              <a:rPr sz="1250" b="0" i="0" dirty="0">
                <a:solidFill>
                  <a:srgbClr val="9C8FC0"/>
                </a:solidFill>
                <a:latin typeface="Courier New"/>
              </a:rPr>
              <a:t>                     # exact env from </a:t>
            </a:r>
            <a:r>
              <a:rPr sz="1250" b="0" i="0" dirty="0" err="1">
                <a:solidFill>
                  <a:srgbClr val="9C8FC0"/>
                </a:solidFill>
                <a:latin typeface="Courier New"/>
              </a:rPr>
              <a:t>uv.lock</a:t>
            </a:r>
            <a:endParaRPr sz="1250" b="0" i="0" dirty="0">
              <a:solidFill>
                <a:srgbClr val="9C8FC0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 err="1">
                <a:solidFill>
                  <a:srgbClr val="FE9F6D"/>
                </a:solidFill>
                <a:latin typeface="Courier New"/>
              </a:rPr>
              <a:t>uv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>
                <a:solidFill>
                  <a:srgbClr val="FE9F6D"/>
                </a:solidFill>
                <a:latin typeface="Courier New"/>
              </a:rPr>
              <a:t>ruff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check</a:t>
            </a:r>
            <a:r>
              <a:rPr sz="1250" b="0" i="0" dirty="0">
                <a:solidFill>
                  <a:srgbClr val="9C8FC0"/>
                </a:solidFill>
                <a:latin typeface="Courier New"/>
              </a:rPr>
              <a:t> </a:t>
            </a:r>
            <a:r>
              <a:rPr lang="en-GB" sz="1250" b="0" i="0" dirty="0">
                <a:solidFill>
                  <a:srgbClr val="9C8FC0"/>
                </a:solidFill>
                <a:latin typeface="Courier New"/>
              </a:rPr>
              <a:t>.</a:t>
            </a:r>
            <a:r>
              <a:rPr sz="1250" b="0" i="0" dirty="0">
                <a:solidFill>
                  <a:srgbClr val="9C8FC0"/>
                </a:solidFill>
                <a:latin typeface="Courier New"/>
              </a:rPr>
              <a:t>             # run a tool, install nothing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553712"/>
            <a:ext cx="6720840" cy="1600200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2416" y="4672584"/>
            <a:ext cx="63185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pyproject.toml — written for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" y="4956048"/>
            <a:ext cx="6318503" cy="10698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FE9F6D"/>
                </a:solidFill>
                <a:latin typeface="Courier New"/>
              </a:rPr>
              <a:t>[project]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E8E1F5"/>
                </a:solidFill>
                <a:latin typeface="Courier New"/>
              </a:rPr>
              <a:t>dependencies = [</a:t>
            </a:r>
            <a:r>
              <a:rPr sz="1150" b="0" i="0">
                <a:solidFill>
                  <a:srgbClr val="FCFDBF"/>
                </a:solidFill>
                <a:latin typeface="Courier New"/>
              </a:rPr>
              <a:t>"numpy"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150" b="0" i="0">
                <a:solidFill>
                  <a:srgbClr val="FCFDBF"/>
                </a:solidFill>
                <a:latin typeface="Courier New"/>
              </a:rPr>
              <a:t>"matplotlib"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150" b="0" i="0">
                <a:solidFill>
                  <a:srgbClr val="FCFDBF"/>
                </a:solidFill>
                <a:latin typeface="Courier New"/>
              </a:rPr>
              <a:t>"array-api-compat"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]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E8E1F5"/>
                </a:solidFill>
                <a:latin typeface="Courier New"/>
              </a:rPr>
              <a:t> 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FE9F6D"/>
                </a:solidFill>
                <a:latin typeface="Courier New"/>
              </a:rPr>
              <a:t>[dependency-groups]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E8E1F5"/>
                </a:solidFill>
                <a:latin typeface="Courier New"/>
              </a:rPr>
              <a:t>dev = [</a:t>
            </a:r>
            <a:r>
              <a:rPr sz="1150" b="0" i="0">
                <a:solidFill>
                  <a:srgbClr val="FCFDBF"/>
                </a:solidFill>
                <a:latin typeface="Courier New"/>
              </a:rPr>
              <a:t>"ruff"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150" b="0" i="0">
                <a:solidFill>
                  <a:srgbClr val="FCFDBF"/>
                </a:solidFill>
                <a:latin typeface="Courier New"/>
              </a:rPr>
              <a:t>"ty"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150" b="0" i="0">
                <a:solidFill>
                  <a:srgbClr val="FCFDBF"/>
                </a:solidFill>
                <a:latin typeface="Courier New"/>
              </a:rPr>
              <a:t>"pre-commit"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7848" y="1970532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02168" y="187452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 dirty="0">
                <a:solidFill>
                  <a:srgbClr val="413A55"/>
                </a:solidFill>
                <a:latin typeface="Calibri"/>
              </a:rPr>
              <a:t>Resolves and installs 10–100× faster than pip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7848" y="3048762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02168" y="295275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uv.lock is universal: the same resolution on my Mac and on the CI runner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7848" y="3912679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02168" y="3816667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uv run activates nothing and forgets nothing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7848" y="4562284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02168" y="446627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It manages the interpreter too, so “which Python?” stops being a question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ruff — lint and format in one pass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The formatter is not configurable enough to argue about, which is the entire point.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10512"/>
            <a:ext cx="6035040" cy="2148840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929384"/>
            <a:ext cx="56327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pyproject.toml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212848"/>
            <a:ext cx="5632703" cy="1618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250" b="0" i="0">
                <a:solidFill>
                  <a:srgbClr val="FE9F6D"/>
                </a:solidFill>
                <a:latin typeface="Courier New"/>
              </a:rPr>
              <a:t>[tool.ruff]</a:t>
            </a:r>
          </a:p>
          <a:p>
            <a:pPr algn="l">
              <a:spcAft>
                <a:spcPts val="150"/>
              </a:spcAft>
            </a:pPr>
            <a:r>
              <a:rPr sz="1250" b="0" i="0">
                <a:solidFill>
                  <a:srgbClr val="E8E1F5"/>
                </a:solidFill>
                <a:latin typeface="Courier New"/>
              </a:rPr>
              <a:t>line-length = 88</a:t>
            </a:r>
          </a:p>
          <a:p>
            <a:pPr algn="l">
              <a:spcAft>
                <a:spcPts val="150"/>
              </a:spcAft>
            </a:pPr>
            <a:r>
              <a:rPr sz="1250" b="0" i="0">
                <a:solidFill>
                  <a:srgbClr val="E8E1F5"/>
                </a:solidFill>
                <a:latin typeface="Courier New"/>
              </a:rPr>
              <a:t>target-version = 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"py313"</a:t>
            </a:r>
          </a:p>
          <a:p>
            <a:pPr algn="l">
              <a:spcAft>
                <a:spcPts val="150"/>
              </a:spcAft>
            </a:pPr>
            <a:r>
              <a:rPr sz="1250" b="0" i="0">
                <a:solidFill>
                  <a:srgbClr val="E8E1F5"/>
                </a:solidFill>
                <a:latin typeface="Courier New"/>
              </a:rPr>
              <a:t> </a:t>
            </a:r>
          </a:p>
          <a:p>
            <a:pPr algn="l">
              <a:spcAft>
                <a:spcPts val="150"/>
              </a:spcAft>
            </a:pPr>
            <a:r>
              <a:rPr sz="1250" b="0" i="0">
                <a:solidFill>
                  <a:srgbClr val="FE9F6D"/>
                </a:solidFill>
                <a:latin typeface="Courier New"/>
              </a:rPr>
              <a:t>[tool.ruff.lint]</a:t>
            </a:r>
          </a:p>
          <a:p>
            <a:pPr algn="l">
              <a:spcAft>
                <a:spcPts val="150"/>
              </a:spcAft>
            </a:pPr>
            <a:r>
              <a:rPr sz="1250" b="0" i="0">
                <a:solidFill>
                  <a:srgbClr val="E8E1F5"/>
                </a:solidFill>
                <a:latin typeface="Courier New"/>
              </a:rPr>
              <a:t>select = [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"E"</a:t>
            </a:r>
            <a:r>
              <a:rPr sz="12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"F"</a:t>
            </a:r>
            <a:r>
              <a:rPr sz="12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"I"</a:t>
            </a:r>
            <a:r>
              <a:rPr sz="12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"UP"</a:t>
            </a:r>
            <a:r>
              <a:rPr sz="12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"B"</a:t>
            </a:r>
            <a:r>
              <a:rPr sz="12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"NPY"</a:t>
            </a:r>
            <a:r>
              <a:rPr sz="12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"SIM"</a:t>
            </a:r>
            <a:r>
              <a:rPr sz="1250" b="0" i="0">
                <a:solidFill>
                  <a:srgbClr val="E8E1F5"/>
                </a:solidFill>
                <a:latin typeface="Courier New"/>
              </a:rPr>
              <a:t>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187952"/>
            <a:ext cx="6035040" cy="1188720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2416" y="4306824"/>
            <a:ext cx="56327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TERMINAL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" y="4590288"/>
            <a:ext cx="5632703" cy="410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>
                <a:solidFill>
                  <a:srgbClr val="FE9F6D"/>
                </a:solidFill>
                <a:latin typeface="Courier New"/>
              </a:rPr>
              <a:t>ruff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check</a:t>
            </a:r>
            <a:r>
              <a:rPr lang="en-GB" sz="1250" b="0" i="0" dirty="0">
                <a:solidFill>
                  <a:srgbClr val="E8E1F5"/>
                </a:solidFill>
                <a:latin typeface="Courier New"/>
              </a:rPr>
              <a:t> .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--fix</a:t>
            </a:r>
            <a:r>
              <a:rPr sz="1250" b="0" i="0" dirty="0">
                <a:solidFill>
                  <a:srgbClr val="9C8FC0"/>
                </a:solidFill>
                <a:latin typeface="Courier New"/>
              </a:rPr>
              <a:t>     # lint, and fix what it can</a:t>
            </a:r>
          </a:p>
          <a:p>
            <a:pPr algn="l"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>
                <a:solidFill>
                  <a:srgbClr val="FE9F6D"/>
                </a:solidFill>
                <a:latin typeface="Courier New"/>
              </a:rPr>
              <a:t>ruff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format</a:t>
            </a:r>
            <a:r>
              <a:rPr lang="en-GB" sz="1250" b="0" i="0" dirty="0">
                <a:solidFill>
                  <a:srgbClr val="E8E1F5"/>
                </a:solidFill>
                <a:latin typeface="Courier New"/>
              </a:rPr>
              <a:t> .</a:t>
            </a:r>
            <a:r>
              <a:rPr sz="1250" b="0" i="0" dirty="0">
                <a:solidFill>
                  <a:srgbClr val="9C8FC0"/>
                </a:solidFill>
                <a:latin typeface="Courier New"/>
              </a:rPr>
              <a:t>          # formatting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42048" y="1970532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16368" y="187452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One tool instead of flake8 + isort + pyupgrade + pydocstyle + black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42048" y="2620137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16368" y="2524125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3B0F70"/>
                </a:solidFill>
                <a:latin typeface="Calibri"/>
              </a:rPr>
              <a:t>NPY</a:t>
            </a:r>
            <a:r>
              <a:rPr sz="1350" b="0" i="0">
                <a:solidFill>
                  <a:srgbClr val="413A55"/>
                </a:solidFill>
                <a:latin typeface="Calibri"/>
              </a:rPr>
              <a:t> rules catch legacy NumPy patterns — useful when half the repo is array code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42048" y="3484054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16368" y="3388042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Fixes are applied, not just reported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42048" y="4133659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16368" y="4037647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Fast enough to run on save, so the diff never contains formatting noise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ty — type checking without the wait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Types are documentation the machine checks — most valuable exactly where the array type has become a moving target.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10512"/>
            <a:ext cx="6720840" cy="2423160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929384"/>
            <a:ext cx="63185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212848"/>
            <a:ext cx="6318503" cy="18928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200" b="0" i="0">
                <a:solidFill>
                  <a:srgbClr val="DE4968"/>
                </a:solidFill>
                <a:latin typeface="Courier New"/>
              </a:rPr>
              <a:t>$</a:t>
            </a:r>
            <a:r>
              <a:rPr sz="1200" b="0" i="0">
                <a:solidFill>
                  <a:srgbClr val="E8E1F5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FE9F6D"/>
                </a:solidFill>
                <a:latin typeface="Courier New"/>
              </a:rPr>
              <a:t>uv</a:t>
            </a:r>
            <a:r>
              <a:rPr sz="1200" b="0" i="0">
                <a:solidFill>
                  <a:srgbClr val="E8E1F5"/>
                </a:solidFill>
                <a:latin typeface="Courier New"/>
              </a:rPr>
              <a:t> add --dev </a:t>
            </a:r>
            <a:r>
              <a:rPr sz="1200" b="0" i="0">
                <a:solidFill>
                  <a:srgbClr val="FE9F6D"/>
                </a:solidFill>
                <a:latin typeface="Courier New"/>
              </a:rPr>
              <a:t>ty</a:t>
            </a:r>
          </a:p>
          <a:p>
            <a:pPr algn="l">
              <a:spcAft>
                <a:spcPts val="150"/>
              </a:spcAft>
            </a:pPr>
            <a:r>
              <a:rPr sz="1200" b="0" i="0">
                <a:solidFill>
                  <a:srgbClr val="DE4968"/>
                </a:solidFill>
                <a:latin typeface="Courier New"/>
              </a:rPr>
              <a:t>$</a:t>
            </a:r>
            <a:r>
              <a:rPr sz="1200" b="0" i="0">
                <a:solidFill>
                  <a:srgbClr val="E8E1F5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FE9F6D"/>
                </a:solidFill>
                <a:latin typeface="Courier New"/>
              </a:rPr>
              <a:t>ty</a:t>
            </a:r>
            <a:r>
              <a:rPr sz="1200" b="0" i="0">
                <a:solidFill>
                  <a:srgbClr val="E8E1F5"/>
                </a:solidFill>
                <a:latin typeface="Courier New"/>
              </a:rPr>
              <a:t> check</a:t>
            </a:r>
          </a:p>
          <a:p>
            <a:pPr algn="l">
              <a:spcAft>
                <a:spcPts val="150"/>
              </a:spcAft>
            </a:pPr>
            <a:r>
              <a:rPr sz="1200" b="0" i="0">
                <a:solidFill>
                  <a:srgbClr val="E8E1F5"/>
                </a:solidFill>
                <a:latin typeface="Courier New"/>
              </a:rPr>
              <a:t> </a:t>
            </a:r>
          </a:p>
          <a:p>
            <a:pPr algn="l">
              <a:spcAft>
                <a:spcPts val="150"/>
              </a:spcAft>
            </a:pPr>
            <a:r>
              <a:rPr sz="1200" b="0" i="0">
                <a:solidFill>
                  <a:srgbClr val="E8E1F5"/>
                </a:solidFill>
                <a:latin typeface="Courier New"/>
              </a:rPr>
              <a:t>error[invalid-argument-type]: argument to</a:t>
            </a:r>
          </a:p>
          <a:p>
            <a:pPr algn="l">
              <a:spcAft>
                <a:spcPts val="150"/>
              </a:spcAft>
            </a:pPr>
            <a:r>
              <a:rPr sz="1200" b="0" i="0">
                <a:solidFill>
                  <a:srgbClr val="E8E1F5"/>
                </a:solidFill>
                <a:latin typeface="Courier New"/>
              </a:rPr>
              <a:t>  `split_operator_step` is incorrect:</a:t>
            </a:r>
          </a:p>
          <a:p>
            <a:pPr algn="l">
              <a:spcAft>
                <a:spcPts val="150"/>
              </a:spcAft>
            </a:pPr>
            <a:r>
              <a:rPr sz="1200" b="0" i="0">
                <a:solidFill>
                  <a:srgbClr val="E8E1F5"/>
                </a:solidFill>
                <a:latin typeface="Courier New"/>
              </a:rPr>
              <a:t>  expected `Array`, found `ndarray | None`</a:t>
            </a:r>
          </a:p>
          <a:p>
            <a:pPr algn="l">
              <a:spcAft>
                <a:spcPts val="150"/>
              </a:spcAft>
            </a:pPr>
            <a:r>
              <a:rPr sz="1200" b="0" i="0">
                <a:solidFill>
                  <a:srgbClr val="E8E1F5"/>
                </a:solidFill>
                <a:latin typeface="Courier New"/>
              </a:rPr>
              <a:t> --&gt; src/toolbox_talk/physics.py:48:22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7848" y="1970532"/>
            <a:ext cx="100584" cy="100584"/>
          </a:xfrm>
          <a:prstGeom prst="rect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02168" y="187452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Rust-based, 10–100× faster than mypy on a cold check, and incremental in the editor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7848" y="2834449"/>
            <a:ext cx="100584" cy="100584"/>
          </a:xfrm>
          <a:prstGeom prst="rect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02168" y="2738437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Beta on the 0.x line — pin the version anywhere it gates CI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7848" y="3484054"/>
            <a:ext cx="100584" cy="100584"/>
          </a:xfrm>
          <a:prstGeom prst="rect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02168" y="338804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Checks unannotated function bodies by default, unlike mypy: expect a pile of findings on day 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7848" y="4562284"/>
            <a:ext cx="100584" cy="100584"/>
          </a:xfrm>
          <a:prstGeom prst="rect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02168" y="446627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Gradual guarantee — annotating working code should not invent new errors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pre-commit — make it all automatic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The point is not the hooks. The point is that nobody has to remember: the rules run themselves.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10512"/>
            <a:ext cx="6720840" cy="4529107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929384"/>
            <a:ext cx="63185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.pre-commit-config.yaml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212848"/>
            <a:ext cx="6318503" cy="41267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repos:</a:t>
            </a:r>
            <a:r>
              <a:rPr lang="en-GB" sz="1150" b="0" i="0" dirty="0">
                <a:solidFill>
                  <a:srgbClr val="FE9F6D"/>
                </a:solidFill>
                <a:latin typeface="Courier New"/>
              </a:rPr>
              <a:t> </a:t>
            </a:r>
            <a:endParaRPr lang="en-GB" sz="1150" dirty="0">
              <a:solidFill>
                <a:srgbClr val="FE9F6D"/>
              </a:solidFill>
              <a:latin typeface="Courier New"/>
            </a:endParaRP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 repo: https://</a:t>
            </a:r>
            <a:r>
              <a:rPr lang="en-GB" sz="1150" dirty="0" err="1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github.com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/astral-</a:t>
            </a:r>
            <a:r>
              <a:rPr lang="en-GB" sz="1150" dirty="0" err="1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sh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150" dirty="0" err="1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-pre-commit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GB" sz="1150" dirty="0">
                <a:solidFill>
                  <a:srgbClr val="FF9F6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rev: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0.12.3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GB" sz="1150" dirty="0">
                <a:solidFill>
                  <a:srgbClr val="FF9F6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hooks: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- </a:t>
            </a:r>
            <a:r>
              <a:rPr lang="en-GB" sz="1150" dirty="0">
                <a:solidFill>
                  <a:srgbClr val="FF9F6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id: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150" dirty="0" err="1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-lock</a:t>
            </a:r>
          </a:p>
          <a:p>
            <a:pPr algn="l">
              <a:spcAft>
                <a:spcPts val="150"/>
              </a:spcAft>
            </a:pPr>
            <a:endParaRPr sz="1150" b="0" i="0" dirty="0">
              <a:solidFill>
                <a:srgbClr val="FE9F6D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E8E1F5"/>
                </a:solidFill>
                <a:latin typeface="Courier New"/>
              </a:rPr>
              <a:t>  - repo: https://</a:t>
            </a:r>
            <a:r>
              <a:rPr sz="1150" b="0" i="0" dirty="0" err="1">
                <a:solidFill>
                  <a:srgbClr val="E8E1F5"/>
                </a:solidFill>
                <a:latin typeface="Courier New"/>
              </a:rPr>
              <a:t>github.com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/astral-</a:t>
            </a:r>
            <a:r>
              <a:rPr sz="1150" b="0" i="0" dirty="0" err="1">
                <a:solidFill>
                  <a:srgbClr val="E8E1F5"/>
                </a:solidFill>
                <a:latin typeface="Courier New"/>
              </a:rPr>
              <a:t>sh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/ruff-pre-commit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    rev:</a:t>
            </a:r>
            <a:r>
              <a:rPr lang="en-GB" sz="1150" b="0" i="0" dirty="0">
                <a:solidFill>
                  <a:srgbClr val="E8E1F5"/>
                </a:solidFill>
                <a:latin typeface="Courier New"/>
              </a:rPr>
              <a:t> v0.16.2</a:t>
            </a:r>
            <a:endParaRPr sz="1150" b="0" i="0" dirty="0">
              <a:solidFill>
                <a:srgbClr val="9C8FC0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    hooks: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E8E1F5"/>
                </a:solidFill>
                <a:latin typeface="Courier New"/>
              </a:rPr>
              <a:t>      - id: ruff-check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        </a:t>
            </a:r>
            <a:r>
              <a:rPr sz="1150" b="0" i="0" dirty="0" err="1">
                <a:solidFill>
                  <a:srgbClr val="FE9F6D"/>
                </a:solidFill>
                <a:latin typeface="Courier New"/>
              </a:rPr>
              <a:t>args</a:t>
            </a:r>
            <a:r>
              <a:rPr sz="1150" b="0" i="0" dirty="0">
                <a:solidFill>
                  <a:srgbClr val="FE9F6D"/>
                </a:solidFill>
                <a:latin typeface="Courier New"/>
              </a:rPr>
              <a:t>: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[--fix]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E8E1F5"/>
                </a:solidFill>
                <a:latin typeface="Courier New"/>
              </a:rPr>
              <a:t>      - id: ruff-format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E8E1F5"/>
                </a:solidFill>
                <a:latin typeface="Courier New"/>
              </a:rPr>
              <a:t>  - repo: local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    hooks: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E8E1F5"/>
                </a:solidFill>
                <a:latin typeface="Courier New"/>
              </a:rPr>
              <a:t>      - id: ty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        name: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ty check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        entry: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 err="1">
                <a:solidFill>
                  <a:srgbClr val="E8E1F5"/>
                </a:solidFill>
                <a:latin typeface="Courier New"/>
              </a:rPr>
              <a:t>uv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run ty check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        language: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system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        types: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[python]</a:t>
            </a:r>
            <a:endParaRPr lang="en-GB" sz="1150" b="0" i="0" dirty="0">
              <a:solidFill>
                <a:srgbClr val="E8E1F5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endParaRPr sz="1150" b="0" i="0" dirty="0">
              <a:solidFill>
                <a:srgbClr val="E8E1F5"/>
              </a:solidFill>
              <a:latin typeface="Courier New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927848" y="1970532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02168" y="187452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3B0F70"/>
                </a:solidFill>
                <a:latin typeface="Calibri"/>
              </a:rPr>
              <a:t>pre-commit install</a:t>
            </a:r>
            <a:r>
              <a:rPr sz="1350" b="0" i="0">
                <a:solidFill>
                  <a:srgbClr val="413A55"/>
                </a:solidFill>
                <a:latin typeface="Calibri"/>
              </a:rPr>
              <a:t> once — then every commit is linted, formatted and type-checked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7848" y="2834449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02168" y="2738437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3B0F70"/>
                </a:solidFill>
                <a:latin typeface="Calibri"/>
              </a:rPr>
              <a:t>pre-commit run --all-files</a:t>
            </a:r>
            <a:r>
              <a:rPr sz="1350" b="0" i="0">
                <a:solidFill>
                  <a:srgbClr val="413A55"/>
                </a:solidFill>
                <a:latin typeface="Calibri"/>
              </a:rPr>
              <a:t> for the first, big cleanup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7848" y="3484054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02168" y="338804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The same config runs in CI, so local and CI cannot disagree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7848" y="4133659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02168" y="4037647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autoupdate bumps the pinned tool versions for you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1B0C41"/>
                </a:solidFill>
                <a:latin typeface="Cambria"/>
              </a:rPr>
              <a:t>array-</a:t>
            </a:r>
            <a:r>
              <a:rPr sz="2600" b="1" i="0" dirty="0" err="1">
                <a:solidFill>
                  <a:srgbClr val="1B0C41"/>
                </a:solidFill>
                <a:latin typeface="Cambria"/>
              </a:rPr>
              <a:t>api</a:t>
            </a:r>
            <a:r>
              <a:rPr sz="2600" b="1" i="0" dirty="0">
                <a:solidFill>
                  <a:srgbClr val="1B0C41"/>
                </a:solidFill>
                <a:latin typeface="Cambria"/>
              </a:rPr>
              <a:t>-</a:t>
            </a:r>
            <a:r>
              <a:rPr sz="2600" b="1" i="0" dirty="0" err="1">
                <a:solidFill>
                  <a:srgbClr val="1B0C41"/>
                </a:solidFill>
                <a:latin typeface="Cambria"/>
              </a:rPr>
              <a:t>compat</a:t>
            </a:r>
            <a:r>
              <a:rPr sz="2600" b="1" i="0" dirty="0">
                <a:solidFill>
                  <a:srgbClr val="1B0C41"/>
                </a:solidFill>
                <a:latin typeface="Cambria"/>
              </a:rPr>
              <a:t> — one algorithm, every backend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The maths never changes. Only the array you hand it does.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313432"/>
            <a:ext cx="3749039" cy="1371600"/>
          </a:xfrm>
          <a:prstGeom prst="roundRect">
            <a:avLst>
              <a:gd name="adj" fmla="val 5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587752"/>
            <a:ext cx="32918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dirty="0" err="1">
                <a:solidFill>
                  <a:srgbClr val="FCFDBF"/>
                </a:solidFill>
                <a:latin typeface="Courier New"/>
              </a:rPr>
              <a:t>split_operator_step</a:t>
            </a:r>
            <a:r>
              <a:rPr sz="1300" b="1" i="0" dirty="0">
                <a:solidFill>
                  <a:srgbClr val="FCFDBF"/>
                </a:solidFill>
                <a:latin typeface="Courier New"/>
              </a:rPr>
              <a:t>()</a:t>
            </a:r>
          </a:p>
          <a:p>
            <a:pPr algn="l">
              <a:spcBef>
                <a:spcPts val="600"/>
              </a:spcBef>
            </a:pPr>
            <a:r>
              <a:rPr lang="en-GB" sz="1200" dirty="0">
                <a:solidFill>
                  <a:srgbClr val="9C8FC0"/>
                </a:solidFill>
                <a:latin typeface="Calibri"/>
              </a:rPr>
              <a:t>the </a:t>
            </a:r>
            <a:r>
              <a:rPr sz="1200" b="0" i="0" dirty="0" err="1">
                <a:solidFill>
                  <a:srgbClr val="9C8FC0"/>
                </a:solidFill>
                <a:latin typeface="Calibri"/>
              </a:rPr>
              <a:t>maths</a:t>
            </a:r>
            <a:r>
              <a:rPr sz="1200" b="0" i="0" dirty="0">
                <a:solidFill>
                  <a:srgbClr val="9C8FC0"/>
                </a:solidFill>
                <a:latin typeface="Calibri"/>
              </a:rPr>
              <a:t> written 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2633472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3B0F70"/>
                </a:solidFill>
                <a:latin typeface="Courier New"/>
              </a:rPr>
              <a:t>array_namespace(psi)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64608" y="2944368"/>
            <a:ext cx="1463040" cy="201168"/>
          </a:xfrm>
          <a:prstGeom prst="rightArrow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647688" y="1901952"/>
            <a:ext cx="4709160" cy="475488"/>
          </a:xfrm>
          <a:prstGeom prst="roundRect">
            <a:avLst>
              <a:gd name="adj" fmla="val 14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0" name="Oval 9"/>
          <p:cNvSpPr/>
          <p:nvPr/>
        </p:nvSpPr>
        <p:spPr>
          <a:xfrm>
            <a:off x="6812279" y="2048256"/>
            <a:ext cx="182880" cy="182880"/>
          </a:xfrm>
          <a:prstGeom prst="ellipse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50607" y="20208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B0C41"/>
                </a:solidFill>
                <a:latin typeface="Calibri"/>
              </a:rPr>
              <a:t>NumPy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19488" y="203911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E6684"/>
                </a:solidFill>
                <a:latin typeface="Calibri"/>
              </a:rPr>
              <a:t>CPU, float64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47688" y="2468880"/>
            <a:ext cx="4709160" cy="475488"/>
          </a:xfrm>
          <a:prstGeom prst="roundRect">
            <a:avLst>
              <a:gd name="adj" fmla="val 14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12279" y="2615184"/>
            <a:ext cx="182880" cy="182880"/>
          </a:xfrm>
          <a:prstGeom prst="ellipse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50607" y="2587752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B0C41"/>
                </a:solidFill>
                <a:latin typeface="Calibri"/>
              </a:rPr>
              <a:t>PyTorch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19488" y="260604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E6684"/>
                </a:solidFill>
                <a:latin typeface="Calibri"/>
              </a:rPr>
              <a:t>CPU / MPS / CUDA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47688" y="3035808"/>
            <a:ext cx="4709160" cy="475488"/>
          </a:xfrm>
          <a:prstGeom prst="roundRect">
            <a:avLst>
              <a:gd name="adj" fmla="val 14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812279" y="3182112"/>
            <a:ext cx="182880" cy="182880"/>
          </a:xfrm>
          <a:prstGeom prst="ellipse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50607" y="31546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B0C41"/>
                </a:solidFill>
                <a:latin typeface="Calibri"/>
              </a:rPr>
              <a:t>CuPy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19488" y="3172968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E6684"/>
                </a:solidFill>
                <a:latin typeface="Calibri"/>
              </a:rPr>
              <a:t>CUDA, ROCm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47688" y="3602736"/>
            <a:ext cx="4709160" cy="475488"/>
          </a:xfrm>
          <a:prstGeom prst="roundRect">
            <a:avLst>
              <a:gd name="adj" fmla="val 14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2" name="Oval 21"/>
          <p:cNvSpPr/>
          <p:nvPr/>
        </p:nvSpPr>
        <p:spPr>
          <a:xfrm>
            <a:off x="6812279" y="3749039"/>
            <a:ext cx="182880" cy="182880"/>
          </a:xfrm>
          <a:prstGeom prst="ellipse">
            <a:avLst/>
          </a:prstGeom>
          <a:solidFill>
            <a:srgbClr val="3B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50607" y="372160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dirty="0" err="1">
                <a:solidFill>
                  <a:srgbClr val="1B0C41"/>
                </a:solidFill>
                <a:latin typeface="Calibri"/>
              </a:rPr>
              <a:t>Dask</a:t>
            </a:r>
            <a:r>
              <a:rPr sz="1350" b="1" i="0" dirty="0">
                <a:solidFill>
                  <a:srgbClr val="1B0C41"/>
                </a:solidFill>
                <a:latin typeface="Calibri"/>
              </a:rPr>
              <a:t>, JAX, </a:t>
            </a:r>
            <a:r>
              <a:rPr sz="1350" b="1" i="0" dirty="0" err="1">
                <a:solidFill>
                  <a:srgbClr val="1B0C41"/>
                </a:solidFill>
                <a:latin typeface="Calibri"/>
              </a:rPr>
              <a:t>ndonnx</a:t>
            </a:r>
            <a:r>
              <a:rPr sz="1350" b="1" i="0" dirty="0">
                <a:solidFill>
                  <a:srgbClr val="1B0C41"/>
                </a:solidFill>
                <a:latin typeface="Calibri"/>
              </a:rPr>
              <a:t>, sparse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9488" y="3739896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E6684"/>
                </a:solidFill>
                <a:latin typeface="Calibri"/>
              </a:rPr>
              <a:t>and the rest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" y="4325112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15568" y="4535424"/>
            <a:ext cx="146304" cy="14630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408176" y="4489704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B0C41"/>
                </a:solidFill>
                <a:latin typeface="Calibri"/>
              </a:rPr>
              <a:t>A common surface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4846320"/>
            <a:ext cx="28346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3A55"/>
                </a:solidFill>
                <a:latin typeface="Calibri"/>
              </a:rPr>
              <a:t>xp.exp, xp.abs, xp.fft.fft2 — the standard fixes the names and the semantics, so the algorithm reads the same everywhere.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07408" y="4325112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681728" y="4535424"/>
            <a:ext cx="146304" cy="14630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974336" y="4489704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B0C41"/>
                </a:solidFill>
                <a:latin typeface="Calibri"/>
              </a:rPr>
              <a:t>Seven backends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1728" y="4846320"/>
            <a:ext cx="28346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3A55"/>
                </a:solidFill>
                <a:latin typeface="Calibri"/>
              </a:rPr>
              <a:t>NumPy, CuPy, PyTorch, Dask, JAX, ndonnx and sparse, all wrapped against the 2024.12 version of the spec.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325112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247888" y="4535424"/>
            <a:ext cx="146304" cy="146304"/>
          </a:xfrm>
          <a:prstGeom prst="rect">
            <a:avLst/>
          </a:prstGeom>
          <a:solidFill>
            <a:srgbClr val="3B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540496" y="4489704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B0C41"/>
                </a:solidFill>
                <a:latin typeface="Calibri"/>
              </a:rPr>
              <a:t>The data decides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7888" y="4846320"/>
            <a:ext cx="28346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3A55"/>
                </a:solidFill>
                <a:latin typeface="Calibri"/>
              </a:rPr>
              <a:t>The namespace comes from the array you were handed — so there is no global backend switch to get wrong.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600" b="1" dirty="0">
                <a:solidFill>
                  <a:srgbClr val="1B0C41"/>
                </a:solidFill>
                <a:latin typeface="Cambria"/>
              </a:rPr>
              <a:t>Example — operator splitting algorithm</a:t>
            </a:r>
            <a:endParaRPr sz="2600" b="1" i="0" dirty="0">
              <a:solidFill>
                <a:srgbClr val="1B0C41"/>
              </a:solidFill>
              <a:latin typeface="Cambria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Two characters change: np becomes xp — and xp comes from the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56229"/>
            <a:ext cx="5120640" cy="3086100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975103"/>
            <a:ext cx="47183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BEFORE — NUMPY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258568"/>
            <a:ext cx="5286195" cy="20236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import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 err="1">
                <a:solidFill>
                  <a:srgbClr val="E8E1F5"/>
                </a:solidFill>
                <a:latin typeface="Courier New"/>
              </a:rPr>
              <a:t>numpy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>
                <a:solidFill>
                  <a:srgbClr val="FE9F6D"/>
                </a:solidFill>
                <a:latin typeface="Courier New"/>
              </a:rPr>
              <a:t>as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np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def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 err="1">
                <a:solidFill>
                  <a:srgbClr val="E8E1F5"/>
                </a:solidFill>
                <a:latin typeface="Courier New"/>
              </a:rPr>
              <a:t>split_operator_step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(psi, V, K, dt):</a:t>
            </a:r>
          </a:p>
          <a:p>
            <a:r>
              <a:rPr lang="en-GB" sz="1150" b="0" i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Kinetic phase shift in momentum space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# momentum space -&gt; Kinetic -&gt; position space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psi = np.fft.fft2(psi)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psi = </a:t>
            </a:r>
            <a:r>
              <a:rPr lang="en-GB" sz="1150" dirty="0" err="1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(1j * K * dt)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psi = np.fft.ifft2(psi)</a:t>
            </a:r>
          </a:p>
          <a:p>
            <a:endParaRPr lang="en-GB" sz="1150" dirty="0">
              <a:solidFill>
                <a:srgbClr val="E9E1F5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# Potential wave phase shift in real space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GB" sz="1150" dirty="0">
                <a:solidFill>
                  <a:srgbClr val="FF9F6D"/>
                </a:solidFill>
                <a:latin typeface="Courier New"/>
              </a:rPr>
              <a:t>return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psi * </a:t>
            </a:r>
            <a:r>
              <a:rPr lang="en-GB" sz="1150" dirty="0" err="1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(1j * dt * V)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856230"/>
            <a:ext cx="5120640" cy="3086100"/>
          </a:xfrm>
          <a:prstGeom prst="roundRect">
            <a:avLst>
              <a:gd name="adj" fmla="val 4000"/>
            </a:avLst>
          </a:prstGeom>
          <a:solidFill>
            <a:srgbClr val="3B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37376" y="1975103"/>
            <a:ext cx="47183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AFTER — ANY 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2258568"/>
            <a:ext cx="4718303" cy="26314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from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 err="1">
                <a:solidFill>
                  <a:srgbClr val="E8E1F5"/>
                </a:solidFill>
                <a:latin typeface="Courier New"/>
              </a:rPr>
              <a:t>array_api_compat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>
                <a:solidFill>
                  <a:srgbClr val="FE9F6D"/>
                </a:solidFill>
                <a:latin typeface="Courier New"/>
              </a:rPr>
              <a:t>import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 err="1">
                <a:solidFill>
                  <a:srgbClr val="E8E1F5"/>
                </a:solidFill>
                <a:latin typeface="Courier New"/>
              </a:rPr>
              <a:t>array_namespace</a:t>
            </a:r>
            <a:endParaRPr sz="1150" b="0" i="0" dirty="0">
              <a:solidFill>
                <a:srgbClr val="E8E1F5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def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 err="1">
                <a:solidFill>
                  <a:srgbClr val="E8E1F5"/>
                </a:solidFill>
                <a:latin typeface="Courier New"/>
              </a:rPr>
              <a:t>split_operator_step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(psi, V, K, dt):</a:t>
            </a:r>
            <a:r>
              <a:rPr lang="en-GB" sz="1150" b="0" i="0" dirty="0">
                <a:solidFill>
                  <a:srgbClr val="E8E1F5"/>
                </a:solidFill>
                <a:latin typeface="Courier New"/>
              </a:rPr>
              <a:t> </a:t>
            </a:r>
          </a:p>
          <a:p>
            <a:pPr>
              <a:spcAft>
                <a:spcPts val="150"/>
              </a:spcAft>
            </a:pPr>
            <a:r>
              <a:rPr lang="en-GB" sz="115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Get the appropriate array namespace</a:t>
            </a:r>
            <a:endParaRPr sz="1150" b="0" i="0" dirty="0">
              <a:solidFill>
                <a:srgbClr val="E9E1F5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E8E1F5"/>
                </a:solidFill>
                <a:latin typeface="Courier New"/>
              </a:rPr>
              <a:t>    </a:t>
            </a:r>
            <a:r>
              <a:rPr sz="1150" b="0" i="0" dirty="0" err="1">
                <a:solidFill>
                  <a:srgbClr val="E9E1F5"/>
                </a:solidFill>
                <a:latin typeface="Courier New"/>
              </a:rPr>
              <a:t>xp</a:t>
            </a:r>
            <a:r>
              <a:rPr sz="1150" b="0" i="0" dirty="0">
                <a:solidFill>
                  <a:srgbClr val="E9E1F5"/>
                </a:solidFill>
                <a:latin typeface="Courier New"/>
              </a:rPr>
              <a:t> = </a:t>
            </a:r>
            <a:r>
              <a:rPr sz="1150" b="0" i="0" dirty="0" err="1">
                <a:solidFill>
                  <a:srgbClr val="E9E1F5"/>
                </a:solidFill>
                <a:latin typeface="Courier New"/>
              </a:rPr>
              <a:t>array_namespace</a:t>
            </a:r>
            <a:r>
              <a:rPr sz="1150" b="0" i="0" dirty="0">
                <a:solidFill>
                  <a:srgbClr val="E9E1F5"/>
                </a:solidFill>
                <a:latin typeface="Courier New"/>
              </a:rPr>
              <a:t>(psi)</a:t>
            </a:r>
            <a:endParaRPr lang="en-GB" sz="1150" b="0" i="0" dirty="0">
              <a:solidFill>
                <a:srgbClr val="E9E1F5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endParaRPr sz="1150" b="0" i="0" dirty="0">
              <a:solidFill>
                <a:srgbClr val="E9E1F5"/>
              </a:solidFill>
              <a:latin typeface="Courier New"/>
            </a:endParaRPr>
          </a:p>
          <a:p>
            <a:r>
              <a:rPr sz="1150" b="0" i="0" dirty="0">
                <a:solidFill>
                  <a:srgbClr val="E9E1F5"/>
                </a:solidFill>
                <a:latin typeface="Courier New"/>
              </a:rPr>
              <a:t>   </a:t>
            </a:r>
            <a:r>
              <a:rPr lang="en-GB" sz="1150" b="0" i="0" dirty="0">
                <a:solidFill>
                  <a:srgbClr val="E9E1F5"/>
                </a:solidFill>
                <a:latin typeface="Courier New"/>
              </a:rPr>
              <a:t> 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Kinetic phase shift in momentum space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# momentum space -&gt; Kinetic -&gt; position space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psi = xp.fft.fft2(psi)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psi = </a:t>
            </a:r>
            <a:r>
              <a:rPr lang="en-GB" sz="1150" dirty="0" err="1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xp.exp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(1j * K * dt)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psi = xp.fft.ifft2(psi)</a:t>
            </a:r>
          </a:p>
          <a:p>
            <a:endParaRPr lang="en-GB" sz="1150" dirty="0">
              <a:solidFill>
                <a:srgbClr val="E9E1F5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# Potential wave phase shift in real space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GB" sz="1150" dirty="0">
                <a:solidFill>
                  <a:srgbClr val="FF9F6D"/>
                </a:solidFill>
                <a:latin typeface="Courier New"/>
              </a:rPr>
              <a:t>return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psi * </a:t>
            </a:r>
            <a:r>
              <a:rPr lang="en-GB" sz="1150" dirty="0" err="1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xp.exp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(1j * dt * V)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5440679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15568" y="5344667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 i="0" dirty="0">
                <a:solidFill>
                  <a:srgbClr val="413A55"/>
                </a:solidFill>
                <a:latin typeface="Calibri"/>
              </a:rPr>
              <a:t>array-</a:t>
            </a:r>
            <a:r>
              <a:rPr sz="1300" b="0" i="0" dirty="0" err="1">
                <a:solidFill>
                  <a:srgbClr val="413A55"/>
                </a:solidFill>
                <a:latin typeface="Calibri"/>
              </a:rPr>
              <a:t>api</a:t>
            </a:r>
            <a:r>
              <a:rPr sz="1300" b="0" i="0" dirty="0">
                <a:solidFill>
                  <a:srgbClr val="413A55"/>
                </a:solidFill>
                <a:latin typeface="Calibri"/>
              </a:rPr>
              <a:t>-</a:t>
            </a:r>
            <a:r>
              <a:rPr sz="1300" b="0" i="0" dirty="0" err="1">
                <a:solidFill>
                  <a:srgbClr val="413A55"/>
                </a:solidFill>
                <a:latin typeface="Calibri"/>
              </a:rPr>
              <a:t>compat</a:t>
            </a:r>
            <a:r>
              <a:rPr sz="1300" b="0" i="0" dirty="0">
                <a:solidFill>
                  <a:srgbClr val="413A55"/>
                </a:solidFill>
                <a:latin typeface="Calibri"/>
              </a:rPr>
              <a:t> ships </a:t>
            </a:r>
            <a:r>
              <a:rPr sz="1300" b="0" i="0" dirty="0" err="1">
                <a:solidFill>
                  <a:srgbClr val="413A55"/>
                </a:solidFill>
                <a:latin typeface="Calibri"/>
              </a:rPr>
              <a:t>fft</a:t>
            </a:r>
            <a:r>
              <a:rPr sz="1300" b="0" i="0" dirty="0">
                <a:solidFill>
                  <a:srgbClr val="413A55"/>
                </a:solidFill>
                <a:latin typeface="Calibri"/>
              </a:rPr>
              <a:t> wrappers for NumPy, </a:t>
            </a:r>
            <a:r>
              <a:rPr sz="1300" b="0" i="0" dirty="0" err="1">
                <a:solidFill>
                  <a:srgbClr val="413A55"/>
                </a:solidFill>
                <a:latin typeface="Calibri"/>
              </a:rPr>
              <a:t>CuPy</a:t>
            </a:r>
            <a:r>
              <a:rPr sz="1300" b="0" i="0" dirty="0">
                <a:solidFill>
                  <a:srgbClr val="413A55"/>
                </a:solidFill>
                <a:latin typeface="Calibri"/>
              </a:rPr>
              <a:t> and </a:t>
            </a:r>
            <a:r>
              <a:rPr sz="1300" b="0" i="0" dirty="0" err="1">
                <a:solidFill>
                  <a:srgbClr val="413A55"/>
                </a:solidFill>
                <a:latin typeface="Calibri"/>
              </a:rPr>
              <a:t>PyTorch</a:t>
            </a:r>
            <a:endParaRPr sz="1300" b="0" i="0" dirty="0">
              <a:solidFill>
                <a:srgbClr val="413A55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41248" y="6036309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15568" y="5940296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 i="0" dirty="0">
                <a:solidFill>
                  <a:srgbClr val="413A55"/>
                </a:solidFill>
                <a:latin typeface="Calibri"/>
              </a:rPr>
              <a:t>No if backend == … branches in the physics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Where it actually runs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314170"/>
            <a:ext cx="10113264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 dirty="0">
                <a:solidFill>
                  <a:srgbClr val="3B0F70"/>
                </a:solidFill>
                <a:latin typeface="Calibri"/>
              </a:rPr>
              <a:t>This is why torch is the GPU path on </a:t>
            </a:r>
            <a:r>
              <a:rPr lang="en-GB" sz="1400" i="1" dirty="0">
                <a:solidFill>
                  <a:srgbClr val="3B0F70"/>
                </a:solidFill>
                <a:latin typeface="Calibri"/>
              </a:rPr>
              <a:t>my Mac</a:t>
            </a:r>
            <a:r>
              <a:rPr sz="1400" b="0" i="1" dirty="0">
                <a:solidFill>
                  <a:srgbClr val="3B0F70"/>
                </a:solidFill>
                <a:latin typeface="Calibri"/>
              </a:rPr>
              <a:t>: </a:t>
            </a:r>
            <a:r>
              <a:rPr sz="1400" b="0" i="1" dirty="0" err="1">
                <a:solidFill>
                  <a:srgbClr val="3B0F70"/>
                </a:solidFill>
                <a:latin typeface="Calibri"/>
              </a:rPr>
              <a:t>CuPy</a:t>
            </a:r>
            <a:r>
              <a:rPr sz="1400" b="0" i="1" dirty="0">
                <a:solidFill>
                  <a:srgbClr val="3B0F70"/>
                </a:solidFill>
                <a:latin typeface="Calibri"/>
              </a:rPr>
              <a:t> has no Metal backend, and Metal has no float64.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856231"/>
          <a:ext cx="10515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 marL="128016" marT="36576" marB="36576" anchor="ctr">
                    <a:solidFill>
                      <a:srgbClr val="1B0C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Device</a:t>
                      </a:r>
                    </a:p>
                  </a:txBody>
                  <a:tcPr marL="128016" marT="36576" marB="36576" anchor="ctr">
                    <a:solidFill>
                      <a:srgbClr val="1B0C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28016" marT="36576" marB="36576" anchor="ctr">
                    <a:solidFill>
                      <a:srgbClr val="1B0C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On this Mac?</a:t>
                      </a:r>
                    </a:p>
                  </a:txBody>
                  <a:tcPr marL="128016" marT="36576" marB="36576" anchor="ctr">
                    <a:solidFill>
                      <a:srgbClr val="1B0C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B0C41"/>
                          </a:solidFill>
                          <a:latin typeface="Courier New"/>
                        </a:rPr>
                        <a:t>numpy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CPU, BLAS threads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complex128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Yes — the reference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B0C41"/>
                          </a:solidFill>
                          <a:latin typeface="Courier New"/>
                        </a:rPr>
                        <a:t>torch (cpu)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Multithreaded CPU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complex128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B0C41"/>
                          </a:solidFill>
                          <a:latin typeface="Courier New"/>
                        </a:rPr>
                        <a:t>torch (mps)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Apple GPU, Metal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complex64 only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Yes — the GPU path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B0C41"/>
                          </a:solidFill>
                          <a:latin typeface="Courier New"/>
                        </a:rPr>
                        <a:t>torch (cuda)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NVIDIA GPU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complex128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No — other machine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B0C41"/>
                          </a:solidFill>
                          <a:latin typeface="Courier New"/>
                        </a:rPr>
                        <a:t>cupy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NVIDIA GPU / ROCm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complex128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No — no Metal support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41248" y="4507992"/>
            <a:ext cx="6172200" cy="1051560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42416" y="4626864"/>
            <a:ext cx="576986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THE ONE GOTCHA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" y="4910328"/>
            <a:ext cx="5769864" cy="5212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E8E1F5"/>
                </a:solidFill>
                <a:latin typeface="Courier New"/>
              </a:rPr>
              <a:t># Metal has no FP64, so the Mac GPU path is single precision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E8E1F5"/>
                </a:solidFill>
                <a:latin typeface="Courier New"/>
              </a:rPr>
              <a:t>real = torch.float32 </a:t>
            </a:r>
            <a:r>
              <a:rPr sz="1150" b="0" i="0">
                <a:solidFill>
                  <a:srgbClr val="FE9F6D"/>
                </a:solidFill>
                <a:latin typeface="Courier New"/>
              </a:rPr>
              <a:t>if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 DEVICE == </a:t>
            </a:r>
            <a:r>
              <a:rPr sz="1150" b="0" i="0">
                <a:solidFill>
                  <a:srgbClr val="FCFDBF"/>
                </a:solidFill>
                <a:latin typeface="Courier New"/>
              </a:rPr>
              <a:t>"mps"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>
                <a:solidFill>
                  <a:srgbClr val="FE9F6D"/>
                </a:solidFill>
                <a:latin typeface="Courier New"/>
              </a:rPr>
              <a:t>else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 torch.float64</a:t>
            </a:r>
          </a:p>
        </p:txBody>
      </p:sp>
      <p:sp>
        <p:nvSpPr>
          <p:cNvPr id="9" name="Rectangle 8"/>
          <p:cNvSpPr/>
          <p:nvPr/>
        </p:nvSpPr>
        <p:spPr>
          <a:xfrm>
            <a:off x="7379208" y="4668012"/>
            <a:ext cx="100584" cy="100584"/>
          </a:xfrm>
          <a:prstGeom prst="rect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53528" y="4571999"/>
            <a:ext cx="3703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13A55"/>
                </a:solidFill>
                <a:latin typeface="Calibri"/>
              </a:rPr>
              <a:t>Same algorithm, same test suite, three devices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79208" y="5263641"/>
            <a:ext cx="100584" cy="100584"/>
          </a:xfrm>
          <a:prstGeom prst="rect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53528" y="5167629"/>
            <a:ext cx="3703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13A55"/>
                </a:solidFill>
                <a:latin typeface="Calibri"/>
              </a:rPr>
              <a:t>Move to a CUDA box and cupy joins the list — nothing in the physics changes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C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7772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E9F6D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105156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 dirty="0">
                <a:solidFill>
                  <a:srgbClr val="FFFFFF"/>
                </a:solidFill>
                <a:latin typeface="Cambria"/>
              </a:rPr>
              <a:t>What to </a:t>
            </a:r>
            <a:r>
              <a:rPr lang="en-GB" sz="3600" b="1" i="0" dirty="0">
                <a:solidFill>
                  <a:srgbClr val="FFFFFF"/>
                </a:solidFill>
                <a:latin typeface="Cambria"/>
              </a:rPr>
              <a:t>take</a:t>
            </a:r>
            <a:r>
              <a:rPr sz="3600" b="1" i="0" dirty="0">
                <a:solidFill>
                  <a:srgbClr val="FFFFFF"/>
                </a:solidFill>
                <a:latin typeface="Cambria"/>
              </a:rPr>
              <a:t> from this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2404872"/>
            <a:ext cx="118872" cy="118872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61288" y="228600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E9F6D"/>
                </a:solidFill>
                <a:latin typeface="Courier New"/>
              </a:rPr>
              <a:t>uv init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76088" y="2304288"/>
            <a:ext cx="5943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dirty="0">
                <a:solidFill>
                  <a:srgbClr val="D8CFEC"/>
                </a:solidFill>
                <a:latin typeface="Calibri"/>
              </a:rPr>
              <a:t>A </a:t>
            </a:r>
            <a:r>
              <a:rPr lang="en-GB" sz="1500" b="0" i="0" dirty="0">
                <a:solidFill>
                  <a:srgbClr val="D8CFEC"/>
                </a:solidFill>
                <a:latin typeface="Calibri"/>
              </a:rPr>
              <a:t>creates </a:t>
            </a:r>
            <a:r>
              <a:rPr sz="1500" b="0" i="0" dirty="0">
                <a:solidFill>
                  <a:srgbClr val="D8CFEC"/>
                </a:solidFill>
                <a:latin typeface="Calibri"/>
              </a:rPr>
              <a:t>reproducible project</a:t>
            </a:r>
            <a:r>
              <a:rPr lang="en-GB" sz="1500" b="0" i="0" dirty="0">
                <a:solidFill>
                  <a:srgbClr val="D8CFEC"/>
                </a:solidFill>
                <a:latin typeface="Calibri"/>
              </a:rPr>
              <a:t> (quickly)</a:t>
            </a:r>
            <a:r>
              <a:rPr sz="1500" b="0" i="0" dirty="0">
                <a:solidFill>
                  <a:srgbClr val="D8CFEC"/>
                </a:solidFill>
                <a:latin typeface="Calibr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063239"/>
            <a:ext cx="118872" cy="118872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61288" y="2944368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E9F6D"/>
                </a:solidFill>
                <a:latin typeface="Courier New"/>
              </a:rPr>
              <a:t>ruff + ty in pre-commit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6088" y="2962656"/>
            <a:ext cx="5943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dirty="0">
                <a:solidFill>
                  <a:srgbClr val="D8CFEC"/>
                </a:solidFill>
                <a:latin typeface="Calibri"/>
              </a:rPr>
              <a:t>The repo stays clean without </a:t>
            </a:r>
            <a:r>
              <a:rPr lang="en-GB" sz="1500" b="0" i="0" dirty="0">
                <a:solidFill>
                  <a:srgbClr val="D8CFEC"/>
                </a:solidFill>
                <a:latin typeface="Calibri"/>
              </a:rPr>
              <a:t>little effort</a:t>
            </a:r>
            <a:r>
              <a:rPr sz="1500" b="0" i="0" dirty="0">
                <a:solidFill>
                  <a:srgbClr val="D8CFEC"/>
                </a:solidFill>
                <a:latin typeface="Calibr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721607"/>
            <a:ext cx="118872" cy="118872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61288" y="3602735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E9F6D"/>
                </a:solidFill>
                <a:latin typeface="Courier New"/>
              </a:rPr>
              <a:t>xp = array_namespace(psi)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6088" y="3621023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D8CFEC"/>
                </a:solidFill>
                <a:latin typeface="Calibri"/>
              </a:rPr>
              <a:t>Your maths outlives your hardware.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5422224"/>
            <a:ext cx="10515600" cy="7848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1700" i="1" dirty="0">
                <a:solidFill>
                  <a:srgbClr val="FFFFFF"/>
                </a:solidFill>
                <a:latin typeface="Calibri"/>
              </a:rPr>
              <a:t>GitHub: </a:t>
            </a:r>
            <a:r>
              <a:rPr lang="en-GB" sz="1700" i="1" dirty="0">
                <a:solidFill>
                  <a:srgbClr val="FFFFFF"/>
                </a:solidFill>
                <a:latin typeface="Calibri"/>
                <a:hlinkClick r:id="rId2"/>
              </a:rPr>
              <a:t>https://github.com/bryceshirley/quantum-oscillator</a:t>
            </a:r>
            <a:endParaRPr lang="en-GB" sz="1700" i="1" dirty="0">
              <a:solidFill>
                <a:srgbClr val="FFFFFF"/>
              </a:solidFill>
              <a:latin typeface="Calibri"/>
            </a:endParaRPr>
          </a:p>
          <a:p>
            <a:br>
              <a:rPr lang="en-GB" sz="1700" i="1" dirty="0">
                <a:solidFill>
                  <a:srgbClr val="FFFFFF"/>
                </a:solidFill>
                <a:latin typeface="Calibri"/>
              </a:rPr>
            </a:br>
            <a:r>
              <a:rPr sz="1700" b="0" i="1" dirty="0">
                <a:solidFill>
                  <a:srgbClr val="FFFFFF"/>
                </a:solidFill>
                <a:latin typeface="Calibri"/>
              </a:rPr>
              <a:t>Questions</a:t>
            </a:r>
            <a:r>
              <a:rPr lang="en-GB" sz="1700" b="0" i="1" dirty="0">
                <a:solidFill>
                  <a:srgbClr val="FFFFFF"/>
                </a:solidFill>
                <a:latin typeface="Calibri"/>
              </a:rPr>
              <a:t>?</a:t>
            </a:r>
            <a:endParaRPr sz="1700" b="0" i="1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1B0C41"/>
                </a:solidFill>
                <a:latin typeface="Cambria"/>
              </a:rPr>
              <a:t>Method 4: Arnoldi — </a:t>
            </a:r>
            <a:r>
              <a:rPr lang="en-GB" sz="2600" b="1" i="0" dirty="0">
                <a:solidFill>
                  <a:srgbClr val="1B0C41"/>
                </a:solidFill>
                <a:latin typeface="Cambria"/>
              </a:rPr>
              <a:t>time steps at machine precision</a:t>
            </a:r>
            <a:endParaRPr sz="2600" b="1" i="0" dirty="0">
              <a:solidFill>
                <a:srgbClr val="1B0C41"/>
              </a:solidFill>
              <a:latin typeface="Cambria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Build a small subspace that already contains most of the answer, exponentiate the small matrix exactly, then project back.</a:t>
            </a:r>
          </a:p>
        </p:txBody>
      </p:sp>
      <p:pic>
        <p:nvPicPr>
          <p:cNvPr id="5" name="Picture 4" descr="fig_krylo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2148840"/>
            <a:ext cx="4114800" cy="295711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41248" y="5532120"/>
                <a:ext cx="4572000" cy="46275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>
                  <a:lnSpc>
                    <a:spcPct val="115000"/>
                  </a:lnSpc>
                </a:pPr>
                <a:r>
                  <a:rPr sz="1250" b="0" i="1" dirty="0">
                    <a:solidFill>
                      <a:srgbClr val="6E6684"/>
                    </a:solidFill>
                    <a:latin typeface="Calibri"/>
                  </a:rPr>
                  <a:t>Repeatedly applying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r>
                  <a:rPr sz="1250" b="0" i="1" dirty="0">
                    <a:solidFill>
                      <a:srgbClr val="6E6684"/>
                    </a:solidFill>
                    <a:latin typeface="Calibri"/>
                  </a:rPr>
                  <a:t> sweeps out the directions the state actually visits.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248" y="5532120"/>
                <a:ext cx="4572000" cy="462755"/>
              </a:xfrm>
              <a:prstGeom prst="rect">
                <a:avLst/>
              </a:prstGeom>
              <a:blipFill>
                <a:blip r:embed="rId3"/>
                <a:stretch>
                  <a:fillRect l="-2216" t="-5405" b="-216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5532120" y="2057400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532120" y="213055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3328" y="2093976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0C41"/>
                </a:solidFill>
                <a:latin typeface="Cambria"/>
              </a:rPr>
              <a:t>Build the basis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6053328" y="2441448"/>
                <a:ext cx="5212080" cy="345929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𝒦</m:t>
                          </m:r>
                        </m:e>
                        <m:sub>
                          <m: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000" i="1" dirty="0">
                          <a:solidFill>
                            <a:srgbClr val="3B0F7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000" i="1" dirty="0">
                          <a:solidFill>
                            <a:srgbClr val="3B0F70"/>
                          </a:solidFill>
                          <a:latin typeface="Cambria Math" panose="02040503050406030204" pitchFamily="18" charset="0"/>
                        </a:rPr>
                        <m:t>span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  <m:t>𝛹</m:t>
                              </m:r>
                            </m:e>
                            <m:sub>
                              <m: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, </m:t>
                          </m:r>
                          <m:acc>
                            <m:accPr>
                              <m:chr m:val="̂"/>
                              <m:ctrlP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sSub>
                            <m:sSubPr>
                              <m:ctrlP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  <m:t>𝛹</m:t>
                              </m:r>
                            </m:e>
                            <m:sub>
                              <m: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, </m:t>
                          </m:r>
                          <m:sSup>
                            <m:sSupPr>
                              <m:ctrlP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en-US" sz="2000" i="1" dirty="0">
                                      <a:solidFill>
                                        <a:srgbClr val="3B0F7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i="1" dirty="0">
                                      <a:solidFill>
                                        <a:srgbClr val="3B0F70"/>
                                      </a:solidFill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  <m:t>𝛹</m:t>
                              </m:r>
                            </m:e>
                            <m:sub>
                              <m: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, …, </m:t>
                          </m:r>
                          <m:sSup>
                            <m:sSupPr>
                              <m:ctrlP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en-US" sz="2000" i="1" dirty="0">
                                      <a:solidFill>
                                        <a:srgbClr val="3B0F7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i="1" dirty="0">
                                      <a:solidFill>
                                        <a:srgbClr val="3B0F70"/>
                                      </a:solidFill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  <m:t>𝛹</m:t>
                              </m:r>
                            </m:e>
                            <m:sub>
                              <m: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700" dirty="0"/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3328" y="2441448"/>
                <a:ext cx="5212080" cy="345929"/>
              </a:xfrm>
              <a:prstGeom prst="rect">
                <a:avLst/>
              </a:prstGeom>
              <a:blipFill>
                <a:blip r:embed="rId4"/>
                <a:stretch>
                  <a:fillRect l="-1699" t="-10714" b="-32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/>
          <p:cNvSpPr txBox="1"/>
          <p:nvPr/>
        </p:nvSpPr>
        <p:spPr>
          <a:xfrm>
            <a:off x="6053328" y="2990088"/>
            <a:ext cx="5212080" cy="1929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 dirty="0">
                <a:solidFill>
                  <a:srgbClr val="6E6684"/>
                </a:solidFill>
                <a:latin typeface="Calibri"/>
              </a:rPr>
              <a:t>k applications of </a:t>
            </a:r>
            <a:r>
              <a:rPr lang="en-GB" sz="1200" b="0" i="0" dirty="0">
                <a:solidFill>
                  <a:srgbClr val="6E6684"/>
                </a:solidFill>
                <a:latin typeface="Calibri"/>
              </a:rPr>
              <a:t>the </a:t>
            </a:r>
            <a:r>
              <a:rPr lang="en-GB" sz="1200" dirty="0">
                <a:solidFill>
                  <a:srgbClr val="6E6684"/>
                </a:solidFill>
                <a:latin typeface="Calibri"/>
              </a:rPr>
              <a:t>H</a:t>
            </a:r>
            <a:r>
              <a:rPr lang="en-GB" sz="1200" b="0" i="0" dirty="0">
                <a:solidFill>
                  <a:srgbClr val="6E6684"/>
                </a:solidFill>
                <a:latin typeface="Calibri"/>
              </a:rPr>
              <a:t>amiltonian</a:t>
            </a:r>
            <a:r>
              <a:rPr sz="1200" b="0" i="0" dirty="0">
                <a:solidFill>
                  <a:srgbClr val="6E6684"/>
                </a:solidFill>
                <a:latin typeface="Calibri"/>
              </a:rPr>
              <a:t> — each one is an FFT pair.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2120" y="3429000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532120" y="350215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3465576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0C41"/>
                </a:solidFill>
                <a:latin typeface="Cambria"/>
              </a:rPr>
              <a:t>Project H into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4361688"/>
            <a:ext cx="5212080" cy="1929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 dirty="0">
                <a:solidFill>
                  <a:srgbClr val="6E6684"/>
                </a:solidFill>
                <a:latin typeface="Calibri"/>
              </a:rPr>
              <a:t>A</a:t>
            </a:r>
            <a:r>
              <a:rPr lang="en-GB" sz="1200" b="0" i="0" dirty="0">
                <a:solidFill>
                  <a:srgbClr val="6E6684"/>
                </a:solidFill>
                <a:latin typeface="Calibri"/>
              </a:rPr>
              <a:t>n</a:t>
            </a:r>
            <a:r>
              <a:rPr sz="1200" b="0" i="0" dirty="0">
                <a:solidFill>
                  <a:srgbClr val="6E6684"/>
                </a:solidFill>
                <a:latin typeface="Calibri"/>
              </a:rPr>
              <a:t> </a:t>
            </a:r>
            <a:r>
              <a:rPr lang="en-GB" sz="1200" dirty="0">
                <a:solidFill>
                  <a:srgbClr val="6E6684"/>
                </a:solidFill>
                <a:latin typeface="Calibri"/>
              </a:rPr>
              <a:t>u</a:t>
            </a:r>
            <a:r>
              <a:rPr lang="en-GB" sz="1200" b="0" i="0" dirty="0">
                <a:solidFill>
                  <a:srgbClr val="6E6684"/>
                </a:solidFill>
                <a:latin typeface="Calibri"/>
              </a:rPr>
              <a:t>pper triangular</a:t>
            </a:r>
            <a:r>
              <a:rPr lang="en-GB" sz="1200" dirty="0">
                <a:solidFill>
                  <a:srgbClr val="6E6684"/>
                </a:solidFill>
                <a:latin typeface="Calibri"/>
              </a:rPr>
              <a:t> </a:t>
            </a:r>
            <a:r>
              <a:rPr lang="en-GB" sz="1200" dirty="0" err="1">
                <a:solidFill>
                  <a:srgbClr val="6E6684"/>
                </a:solidFill>
                <a:latin typeface="Calibri"/>
              </a:rPr>
              <a:t>Hessenberg</a:t>
            </a:r>
            <a:r>
              <a:rPr sz="1200" b="0" i="0" dirty="0">
                <a:solidFill>
                  <a:srgbClr val="6E6684"/>
                </a:solidFill>
                <a:latin typeface="Calibri"/>
              </a:rPr>
              <a:t> k × k matrix.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32120" y="4800600"/>
            <a:ext cx="384048" cy="384048"/>
          </a:xfrm>
          <a:prstGeom prst="roundRect">
            <a:avLst>
              <a:gd name="adj" fmla="val 20000"/>
            </a:avLst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32120" y="4873752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3328" y="4837176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B0C41"/>
                </a:solidFill>
                <a:latin typeface="Cambria"/>
              </a:rPr>
              <a:t>Exponentiate exactly, project back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6053328" y="5184648"/>
                <a:ext cx="5212080" cy="347403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2000" i="1" dirty="0" smtClean="0">
                          <a:solidFill>
                            <a:srgbClr val="3B0F70"/>
                          </a:solidFill>
                          <a:latin typeface="Cambria Math" panose="02040503050406030204" pitchFamily="18" charset="0"/>
                        </a:rPr>
                        <m:t>exp</m:t>
                      </m:r>
                      <m:d>
                        <m:dPr>
                          <m:ctrlP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𝛥</m:t>
                          </m:r>
                          <m: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acc>
                            <m:accPr>
                              <m:chr m:val="̂"/>
                              <m:ctrlP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</m:e>
                      </m:d>
                      <m:sSub>
                        <m:sSubPr>
                          <m:ctrlP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𝛹</m:t>
                          </m:r>
                        </m:e>
                        <m:sub>
                          <m: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i="1" dirty="0">
                          <a:solidFill>
                            <a:srgbClr val="3B0F70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d>
                        <m:dPr>
                          <m:begChr m:val="∥"/>
                          <m:endChr m:val="∥"/>
                          <m:ctrlP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  <m:t>𝛹</m:t>
                              </m:r>
                            </m:e>
                            <m:sub>
                              <m: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000" i="1" dirty="0">
                          <a:solidFill>
                            <a:srgbClr val="3B0F70"/>
                          </a:solidFill>
                          <a:latin typeface="Cambria Math" panose="02040503050406030204" pitchFamily="18" charset="0"/>
                        </a:rPr>
                        <m:t>exp</m:t>
                      </m:r>
                      <m:d>
                        <m:dPr>
                          <m:ctrlP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𝛥</m:t>
                          </m:r>
                          <m: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sSub>
                            <m:sSubPr>
                              <m:ctrlP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sz="2000" i="1" dirty="0">
                                  <a:solidFill>
                                    <a:srgbClr val="3B0F7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0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>
                  <a:solidFill>
                    <a:srgbClr val="3B0F70"/>
                  </a:solidFill>
                </a:endParaRPr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3328" y="5184648"/>
                <a:ext cx="5212080" cy="347403"/>
              </a:xfrm>
              <a:prstGeom prst="rect">
                <a:avLst/>
              </a:prstGeom>
              <a:blipFill>
                <a:blip r:embed="rId5"/>
                <a:stretch>
                  <a:fillRect l="-1699" t="-10714" b="-17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/>
          <p:cNvSpPr txBox="1"/>
          <p:nvPr/>
        </p:nvSpPr>
        <p:spPr>
          <a:xfrm>
            <a:off x="6053328" y="5733288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6684"/>
                </a:solidFill>
                <a:latin typeface="Calibri"/>
              </a:rPr>
              <a:t>Small enough that a dense matrix exponential is cheap and accurate.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6307C1B-34BE-E15D-73ED-83031A48AF38}"/>
                  </a:ext>
                </a:extLst>
              </p:cNvPr>
              <p:cNvSpPr txBox="1"/>
              <p:nvPr/>
            </p:nvSpPr>
            <p:spPr>
              <a:xfrm>
                <a:off x="6053328" y="3813048"/>
                <a:ext cx="5212080" cy="436851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0" indent="0" algn="l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4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400" i="1" dirty="0">
                          <a:solidFill>
                            <a:srgbClr val="3B0F7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24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4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sz="24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bSup>
                      <m:acc>
                        <m:accPr>
                          <m:chr m:val="̂"/>
                          <m:ctrlPr>
                            <a:rPr lang="en-US" sz="24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sSub>
                        <m:sSubPr>
                          <m:ctrlPr>
                            <a:rPr lang="en-US" sz="24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4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400" i="1" dirty="0">
                          <a:solidFill>
                            <a:srgbClr val="3B0F70"/>
                          </a:solidFill>
                          <a:latin typeface="Cambria Math" panose="02040503050406030204" pitchFamily="18" charset="0"/>
                        </a:rPr>
                        <m:t> </m:t>
                      </m:r>
                      <m:d>
                        <m:dPr>
                          <m:ctrlPr>
                            <a:rPr lang="en-US" sz="24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400" i="1" dirty="0">
                              <a:solidFill>
                                <a:srgbClr val="3B0F7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6307C1B-34BE-E15D-73ED-83031A48A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3328" y="3813048"/>
                <a:ext cx="5212080" cy="436851"/>
              </a:xfrm>
              <a:prstGeom prst="rect">
                <a:avLst/>
              </a:prstGeom>
              <a:blipFill>
                <a:blip r:embed="rId6"/>
                <a:stretch>
                  <a:fillRect l="-1942" t="-11429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72596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785</TotalTime>
  <Words>2532</Words>
  <Application>Microsoft Macintosh PowerPoint</Application>
  <PresentationFormat>Widescreen</PresentationFormat>
  <Paragraphs>338</Paragraphs>
  <Slides>24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Cambria</vt:lpstr>
      <vt:lpstr>Cambria Math</vt:lpstr>
      <vt:lpstr>Courier New</vt:lpstr>
      <vt:lpstr>Office Theme</vt:lpstr>
      <vt:lpstr>PowerPoint Presentation</vt:lpstr>
      <vt:lpstr>PowerPoint Presentation</vt:lpstr>
      <vt:lpstr>Our goal: turn Schrödinger's horse upside down — and back again</vt:lpstr>
      <vt:lpstr>PowerPoint Presentation</vt:lpstr>
      <vt:lpstr>PowerPoint Presentation</vt:lpstr>
      <vt:lpstr>PowerPoint Presentation</vt:lpstr>
      <vt:lpstr>Solution to equations: A rotation in phase space</vt:lpstr>
      <vt:lpstr>Solution to equations: A rotation in phase space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Bryce Shirley</dc:creator>
  <cp:lastModifiedBy>Bryce Shirley</cp:lastModifiedBy>
  <cp:revision>10</cp:revision>
  <dcterms:created xsi:type="dcterms:W3CDTF">2026-08-10T15:09:54Z</dcterms:created>
  <dcterms:modified xsi:type="dcterms:W3CDTF">2026-08-12T11:46:58Z</dcterms:modified>
</cp:coreProperties>
</file>