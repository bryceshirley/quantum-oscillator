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68" r:id="rId3"/>
    <p:sldId id="258" r:id="rId4"/>
    <p:sldId id="269" r:id="rId5"/>
    <p:sldId id="259" r:id="rId6"/>
    <p:sldId id="260" r:id="rId7"/>
    <p:sldId id="267" r:id="rId8"/>
    <p:sldId id="261" r:id="rId9"/>
    <p:sldId id="262" r:id="rId10"/>
    <p:sldId id="264" r:id="rId11"/>
    <p:sldId id="265" r:id="rId12"/>
    <p:sldId id="266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F6D"/>
    <a:srgbClr val="E9E1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1"/>
    <p:restoredTop sz="94658"/>
  </p:normalViewPr>
  <p:slideViewPr>
    <p:cSldViewPr snapToGrid="0">
      <p:cViewPr varScale="1">
        <p:scale>
          <a:sx n="120" d="100"/>
          <a:sy n="120" d="100"/>
        </p:scale>
        <p:origin x="8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39B283-0B1B-924B-8E2B-092496D70CE9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133767-D30A-024A-832D-68D048F69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926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23E53-89CB-E0CB-0EEE-D5778C4A37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253A63-2753-633E-3813-5F23706033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C635F-D551-0A66-6900-70E9F5859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EB3F2C-FD75-7544-3EC0-9BA0D1DE7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89A404-5687-A32B-F1A3-DB4A979F4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47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52A52-F8C8-344C-654A-377C4FDF7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92608"/>
            <a:ext cx="10515600" cy="841248"/>
          </a:xfrm>
        </p:spPr>
        <p:txBody>
          <a:bodyPr lIns="0" rIns="0" anchor="t">
            <a:normAutofit/>
          </a:bodyPr>
          <a:lstStyle>
            <a:lvl1pPr>
              <a:defRPr sz="2600" b="1">
                <a:solidFill>
                  <a:srgbClr val="1B0C41"/>
                </a:solidFill>
                <a:latin typeface="Cambria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D5199-BB58-C9CF-DA50-92A87373D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61416-558D-CBBB-C1D4-BD28B9B9D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7BDC2-E59C-95DA-FDD7-0EC129E30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C4802-F78D-3CCF-6720-0804B0DB2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132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E850C-48BD-EDA5-86F7-488EC4454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FB983-E97D-E0BE-A635-2AC05B1C2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AE9EF-39E8-4B6C-EB2B-3B9E8AAB2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779D1-F6A7-0A3B-D35A-437C14C04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EF78E-682E-A515-AB82-9010F4F1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375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B2404-7DA8-2737-312A-E76083EFE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1D5D6-DD53-2959-D1EB-E4C95F3FEE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4D9B5-26CD-E9F3-E65F-8E3E0FDB9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1F28B3-2E0C-962F-729B-EF4109655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C56E8F-6ECB-1A07-3F23-214449DB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21782D-9999-24FF-3A80-53B67F33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986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6AF86-7899-E5A8-AD21-A7107A251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1BC60-98B2-5547-47FC-339487414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22CEA-61FA-30DA-312E-2DE9E3736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812169-8BA8-E85C-234B-8345ADE675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87F217-037E-BA90-02D6-7A949BE6B0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C8FA26-0BD4-E63A-2806-A91ACFC0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84BF77-E57C-04FF-1880-49772D80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79B07B-28F4-A87F-F217-EFE440461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88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6F5DC-F084-C79B-4B17-0E34838BB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45BCFC-4B8B-9BA6-83A2-B4CA80A00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3FBE76-4D19-CF1F-67B0-76A1B3FA9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7836E3-8938-268A-44C6-8AC3332FA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980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57E7EC-1F2F-BC34-B0AA-D9DE8AC26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3C0DB9-3F3A-6FC3-806C-10036237E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E147F-F5A0-A455-C19A-2AE8897B0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6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612E1-3E38-EAC1-621D-44FC57716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76B83-2F47-7F77-DC2B-267F708A1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9200A6-0EB3-12BC-6EF2-C4B08FAC9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D58BE-D822-C292-A001-C51C46762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832F6-4022-B959-7489-5D4B33B4C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D3CFD-D6F0-3958-0FF3-075584299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55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B40A-CFB9-CE77-8B89-18CCE9204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5B4C64-7EE0-5DC5-B177-AC59D6F78D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6EA92B-3E03-B07E-2A22-15C3235FEA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21C2E6-ED10-C2E1-A4D0-822C461EF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2EEDB9-199C-6F8C-94E1-4E1AC2B5B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E76E9-2D43-E8B7-3041-841B32CA7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049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8D2D8-9621-110B-D005-85277E417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476DD0-2ABD-362B-C764-BA6B692BE1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9F3A4-5039-EF5E-E195-4EADBCBF5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638DF7-46D7-A510-E65A-C89C2B973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6B196-56DD-DF14-4B93-EA6DA2E2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95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9C1146-F0C9-99B5-AC65-341A71DD8F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F8E42-F646-52BF-12E8-E568A9FF3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D8CB28-5E4F-A7C7-E59D-46F44E88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0CBD88-9F45-83D0-F218-9CBDDCA75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E25E4-468F-6293-DCEE-4F2FEC4C2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663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2AF801-4DC4-C3DC-853F-52175AF9B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E27CC6-D265-9E0B-803E-CFD42999E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9B98A-2163-E176-A6C9-EA361335C1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FCF1B5-424D-5069-8C6E-54BCDC6B7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C9C0C-E460-346D-39BC-825758D23B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371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2.png"/><Relationship Id="rId12" Type="http://schemas.openxmlformats.org/officeDocument/2006/relationships/image" Target="../media/image5.png"/><Relationship Id="rId17" Type="http://schemas.openxmlformats.org/officeDocument/2006/relationships/image" Target="../media/image20.png"/><Relationship Id="rId2" Type="http://schemas.openxmlformats.org/officeDocument/2006/relationships/video" Target="../media/media2.mp4"/><Relationship Id="rId16" Type="http://schemas.openxmlformats.org/officeDocument/2006/relationships/image" Target="../media/image19.png"/><Relationship Id="rId1" Type="http://schemas.microsoft.com/office/2007/relationships/media" Target="../media/media2.mp4"/><Relationship Id="rId6" Type="http://schemas.openxmlformats.org/officeDocument/2006/relationships/image" Target="../media/image11.png"/><Relationship Id="rId11" Type="http://schemas.openxmlformats.org/officeDocument/2006/relationships/image" Target="../media/image4.png"/><Relationship Id="rId5" Type="http://schemas.openxmlformats.org/officeDocument/2006/relationships/image" Target="../media/image10.png"/><Relationship Id="rId15" Type="http://schemas.openxmlformats.org/officeDocument/2006/relationships/image" Target="../media/image18.png"/><Relationship Id="rId10" Type="http://schemas.openxmlformats.org/officeDocument/2006/relationships/image" Target="../media/image15.png"/><Relationship Id="rId19" Type="http://schemas.openxmlformats.org/officeDocument/2006/relationships/image" Target="../media/image22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" y="157276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A TOOLBOX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57400"/>
            <a:ext cx="98755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dirty="0">
                <a:solidFill>
                  <a:srgbClr val="FFFFFF"/>
                </a:solidFill>
                <a:latin typeface="Cambria"/>
              </a:rPr>
              <a:t>Useful Python tools for building a quantum harmonic oscillator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977639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E9F6D"/>
                </a:solidFill>
                <a:latin typeface="Calibri"/>
              </a:rPr>
              <a:t>… to turn an image upside down, and back up again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983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uv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ruff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ty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pre-commit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array-api-compat</a:t>
            </a:r>
          </a:p>
        </p:txBody>
      </p:sp>
    </p:spTree>
    <p:extLst>
      <p:ext uri="{BB962C8B-B14F-4D97-AF65-F5344CB8AC3E}">
        <p14:creationId xmlns:p14="http://schemas.microsoft.com/office/powerpoint/2010/main" val="1584743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Two talks in a trench coat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A small, real numerical project — used as an excuse to show the tooling that makes building it pleasant.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56231"/>
            <a:ext cx="5074920" cy="4160520"/>
          </a:xfrm>
          <a:prstGeom prst="roundRect">
            <a:avLst>
              <a:gd name="adj" fmla="val 5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61288" y="2130552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61288" y="2212848"/>
            <a:ext cx="47548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3936" y="2194560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B0C41"/>
                </a:solidFill>
                <a:latin typeface="Cambria"/>
              </a:rPr>
              <a:t>The physics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994660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289864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A 2D quantum harmonic oscillator on a periodic 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631565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63040" y="353555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Four ways to compute exp(iHt), and why three of them lose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268470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63040" y="417245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Split-operator + FFT: six lines, exactly unitary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905375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480936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The horse comes 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856231"/>
            <a:ext cx="5074920" cy="4160520"/>
          </a:xfrm>
          <a:prstGeom prst="roundRect">
            <a:avLst>
              <a:gd name="adj" fmla="val 5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601968" y="2130552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01968" y="2212848"/>
            <a:ext cx="47548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2194560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B0C41"/>
                </a:solidFill>
                <a:latin typeface="Cambria"/>
              </a:rPr>
              <a:t>The Python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2994660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03720" y="289864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uv — project, interpreter, dependencies, lockfile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3631565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03720" y="353555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ruff and ty — lint, format and type-check in Rust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4268470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03720" y="417245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pre-commit — so nobody has to remember any of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9400" y="4905375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03720" y="480936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array-api-compat — one algorithm, CPU or GPU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EAC51-9611-53EB-AF10-BD063A699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goal: turn Schrödinger's horse upside down — and back again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A913EC-A5D5-5649-E28E-F43391CE2BE6}"/>
                  </a:ext>
                </a:extLst>
              </p:cNvPr>
              <p:cNvSpPr txBox="1"/>
              <p:nvPr/>
            </p:nvSpPr>
            <p:spPr>
              <a:xfrm>
                <a:off x="838200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A913EC-A5D5-5649-E28E-F43391CE2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54159"/>
                <a:ext cx="24469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FC0891-0E31-BAB0-0B34-69BB1B5C525B}"/>
                  </a:ext>
                </a:extLst>
              </p:cNvPr>
              <p:cNvSpPr txBox="1"/>
              <p:nvPr/>
            </p:nvSpPr>
            <p:spPr>
              <a:xfrm>
                <a:off x="4758717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FC0891-0E31-BAB0-0B34-69BB1B5C5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8717" y="5254159"/>
                <a:ext cx="24469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C363C9-3E70-B2B6-F5CB-2834572D64A5}"/>
                  </a:ext>
                </a:extLst>
              </p:cNvPr>
              <p:cNvSpPr txBox="1"/>
              <p:nvPr/>
            </p:nvSpPr>
            <p:spPr>
              <a:xfrm>
                <a:off x="9025917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C363C9-3E70-B2B6-F5CB-2834572D6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5917" y="5254159"/>
                <a:ext cx="244692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DE1249F8-B1C3-CC7F-A962-7E3E003B9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880" y="2358559"/>
            <a:ext cx="2989559" cy="28458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724B12C-1FE2-17D1-7B84-AF45E878B6B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958"/>
          <a:stretch>
            <a:fillRect/>
          </a:stretch>
        </p:blipFill>
        <p:spPr>
          <a:xfrm>
            <a:off x="4541827" y="2358559"/>
            <a:ext cx="2880699" cy="2845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7B3DA65-DEF4-8C63-732E-741E18D24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97" y="2358559"/>
            <a:ext cx="2989559" cy="284583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One image, one Hamiltonian, one period: at t = π the horse is inverted; at t = 2π it is exactly back where it started.</a:t>
            </a:r>
          </a:p>
        </p:txBody>
      </p:sp>
    </p:spTree>
    <p:extLst>
      <p:ext uri="{BB962C8B-B14F-4D97-AF65-F5344CB8AC3E}">
        <p14:creationId xmlns:p14="http://schemas.microsoft.com/office/powerpoint/2010/main" val="2823532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80160" y="23317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79476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BEE4"/>
                </a:solidFill>
                <a:latin typeface="Calibri"/>
              </a:rPr>
              <a:t>One Hamiltonian, one exponential, and four increasingly good ways to compute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FAFA5-0D5C-7F16-97F9-736EAF6BA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AF665-E019-CF05-5B63-82D899581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Schrödinger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E10EBE7-4B98-997A-8AFD-3DE1738601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Solving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  <m:d>
                            <m:dPr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Hamiltonian </a:t>
                </a: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defined by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ˆ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real potential (depends on position) defined by the infinite well </a:t>
                </a: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kinetic operator (depends on momentum)  defined by</a:t>
                </a: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𝛻</m:t>
                          </m:r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initial state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(=🐴)</m:t>
                      </m:r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US" dirty="0"/>
                  <a:t>and periodic boundary conditions,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m:rPr>
                        <m:sty m:val="p"/>
                      </m:rPr>
                      <a:rPr lang="en-GB" b="1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b="1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E10EBE7-4B98-997A-8AFD-3DE1738601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  <a:blipFill>
                <a:blip r:embed="rId4"/>
                <a:stretch>
                  <a:fillRect l="-241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3d_well_sim_cat_state.mp4">
            <a:hlinkClick r:id="" action="ppaction://media"/>
            <a:extLst>
              <a:ext uri="{FF2B5EF4-FFF2-40B4-BE49-F238E27FC236}">
                <a16:creationId xmlns:a16="http://schemas.microsoft.com/office/drawing/2014/main" id="{9A3A72CD-5CE1-A0EB-CBE9-583A46C7F7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05800" y="2220433"/>
            <a:ext cx="3048000" cy="24384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Everything that follows is this one line of physics: evolve Ψ under H = T + V in a 2D harmonic well, and watch what happens to the picture.</a:t>
            </a:r>
          </a:p>
        </p:txBody>
      </p:sp>
    </p:spTree>
    <p:extLst>
      <p:ext uri="{BB962C8B-B14F-4D97-AF65-F5344CB8AC3E}">
        <p14:creationId xmlns:p14="http://schemas.microsoft.com/office/powerpoint/2010/main" val="2440924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367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8B6D5-43E9-23E1-16D3-037EA672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29F65-45A9-F9EF-0C68-5CA1B69FE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to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DE148BB-BA60-1541-547F-F55B3FEF65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Equation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Solution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Verification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LHS: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Ψ</m:t>
                        </m:r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b="0" i="1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GB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RHS: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DE148BB-BA60-1541-547F-F55B3FEF65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  <a:blipFill>
                <a:blip r:embed="rId2"/>
                <a:stretch>
                  <a:fillRect l="-844" t="-2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H does not depend on time, so the solution is a single exponential. The whole numerical problem is: how do you compute exp(iHt) on a grid?</a:t>
            </a:r>
          </a:p>
        </p:txBody>
      </p:sp>
    </p:spTree>
    <p:extLst>
      <p:ext uri="{BB962C8B-B14F-4D97-AF65-F5344CB8AC3E}">
        <p14:creationId xmlns:p14="http://schemas.microsoft.com/office/powerpoint/2010/main" val="1655473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393BE-AE1C-AB60-49D4-C3409476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0E5CD-7444-EC2A-E486-842727A5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to equations: A rotation in phase space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4D9A7-F117-5675-648B-4BE2ED9CB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904989"/>
            <a:ext cx="552926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4B6DD5-9490-F6E8-C12D-EE761AF99053}"/>
              </a:ext>
            </a:extLst>
          </p:cNvPr>
          <p:cNvCxnSpPr>
            <a:cxnSpLocks/>
            <a:stCxn id="4" idx="1"/>
            <a:endCxn id="4" idx="3"/>
          </p:cNvCxnSpPr>
          <p:nvPr/>
        </p:nvCxnSpPr>
        <p:spPr>
          <a:xfrm>
            <a:off x="841248" y="4080658"/>
            <a:ext cx="5529266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F71517-D3C6-4497-2DAF-CF535A2CB654}"/>
              </a:ext>
            </a:extLst>
          </p:cNvPr>
          <p:cNvCxnSpPr>
            <a:cxnSpLocks/>
            <a:stCxn id="4" idx="2"/>
            <a:endCxn id="4" idx="0"/>
          </p:cNvCxnSpPr>
          <p:nvPr/>
        </p:nvCxnSpPr>
        <p:spPr>
          <a:xfrm flipV="1">
            <a:off x="3605881" y="1904989"/>
            <a:ext cx="0" cy="435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5982BCA-B0E2-C4A4-B2B9-FCB8BAC13E43}"/>
              </a:ext>
            </a:extLst>
          </p:cNvPr>
          <p:cNvSpPr/>
          <p:nvPr/>
        </p:nvSpPr>
        <p:spPr>
          <a:xfrm>
            <a:off x="2659583" y="3142334"/>
            <a:ext cx="1892596" cy="187664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BAE6141-BA4D-3CA3-F5B5-F1566AD92CD7}"/>
                  </a:ext>
                </a:extLst>
              </p:cNvPr>
              <p:cNvSpPr txBox="1"/>
              <p:nvPr/>
            </p:nvSpPr>
            <p:spPr>
              <a:xfrm>
                <a:off x="6370514" y="4080657"/>
                <a:ext cx="3545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BAE6141-BA4D-3CA3-F5B5-F1566AD92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514" y="4080657"/>
                <a:ext cx="3545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420AF8-E063-9EC4-8A2B-139FE11EA162}"/>
                  </a:ext>
                </a:extLst>
              </p:cNvPr>
              <p:cNvSpPr txBox="1"/>
              <p:nvPr/>
            </p:nvSpPr>
            <p:spPr>
              <a:xfrm>
                <a:off x="3605881" y="1709928"/>
                <a:ext cx="372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420AF8-E063-9EC4-8A2B-139FE11EA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881" y="1709928"/>
                <a:ext cx="37221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DE7-2146-31B4-F7CC-C45D605EF336}"/>
              </a:ext>
            </a:extLst>
          </p:cNvPr>
          <p:cNvCxnSpPr/>
          <p:nvPr/>
        </p:nvCxnSpPr>
        <p:spPr>
          <a:xfrm flipH="1">
            <a:off x="3906540" y="2737190"/>
            <a:ext cx="481666" cy="2412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D2AD795-1F1C-7872-156B-F4CB136F4EA4}"/>
              </a:ext>
            </a:extLst>
          </p:cNvPr>
          <p:cNvSpPr txBox="1"/>
          <p:nvPr/>
        </p:nvSpPr>
        <p:spPr>
          <a:xfrm>
            <a:off x="4349116" y="2445427"/>
            <a:ext cx="187904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Pure momentum-space </a:t>
            </a:r>
          </a:p>
          <a:p>
            <a:pPr algn="ctr"/>
            <a:r>
              <a:rPr lang="en-US" sz="1100" dirty="0"/>
              <a:t>(Fourier Transform of horse)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2FFA0DB-AA60-A981-7101-C0AF0B7A26ED}"/>
              </a:ext>
            </a:extLst>
          </p:cNvPr>
          <p:cNvCxnSpPr>
            <a:cxnSpLocks/>
          </p:cNvCxnSpPr>
          <p:nvPr/>
        </p:nvCxnSpPr>
        <p:spPr>
          <a:xfrm flipH="1" flipV="1">
            <a:off x="4827161" y="4379988"/>
            <a:ext cx="292017" cy="391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41650E5-C035-9DF3-DF56-AE69D414448D}"/>
              </a:ext>
            </a:extLst>
          </p:cNvPr>
          <p:cNvSpPr txBox="1"/>
          <p:nvPr/>
        </p:nvSpPr>
        <p:spPr>
          <a:xfrm>
            <a:off x="4889986" y="4771225"/>
            <a:ext cx="143661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Pure position-space </a:t>
            </a:r>
          </a:p>
          <a:p>
            <a:pPr algn="ctr"/>
            <a:r>
              <a:rPr lang="en-US" sz="1100" dirty="0"/>
              <a:t>(horse)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7085370-5089-0425-360B-23B336AFA07A}"/>
                  </a:ext>
                </a:extLst>
              </p:cNvPr>
              <p:cNvSpPr txBox="1"/>
              <p:nvPr/>
            </p:nvSpPr>
            <p:spPr>
              <a:xfrm>
                <a:off x="4649594" y="3821178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7085370-5089-0425-360B-23B336AFA0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594" y="3821178"/>
                <a:ext cx="848882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515128-0B63-D4EB-8FB8-B3452D1E5B34}"/>
                  </a:ext>
                </a:extLst>
              </p:cNvPr>
              <p:cNvSpPr txBox="1"/>
              <p:nvPr/>
            </p:nvSpPr>
            <p:spPr>
              <a:xfrm>
                <a:off x="2623793" y="2817719"/>
                <a:ext cx="848882" cy="406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515128-0B63-D4EB-8FB8-B3452D1E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3793" y="2817719"/>
                <a:ext cx="848882" cy="4060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CC48959-3060-A4E4-96B0-BCC967BA445B}"/>
                  </a:ext>
                </a:extLst>
              </p:cNvPr>
              <p:cNvSpPr txBox="1"/>
              <p:nvPr/>
            </p:nvSpPr>
            <p:spPr>
              <a:xfrm>
                <a:off x="1880558" y="3533077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CC48959-3060-A4E4-96B0-BCC967BA4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558" y="3533077"/>
                <a:ext cx="848882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F095C0-901F-807A-74F1-C15152B9E76B}"/>
                  </a:ext>
                </a:extLst>
              </p:cNvPr>
              <p:cNvSpPr txBox="1"/>
              <p:nvPr/>
            </p:nvSpPr>
            <p:spPr>
              <a:xfrm>
                <a:off x="2615660" y="5018981"/>
                <a:ext cx="848882" cy="453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F095C0-901F-807A-74F1-C15152B9E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5660" y="5018981"/>
                <a:ext cx="848882" cy="45397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66A88-A51E-62FF-22F3-306A5F60F2E6}"/>
                  </a:ext>
                </a:extLst>
              </p:cNvPr>
              <p:cNvSpPr txBox="1"/>
              <p:nvPr/>
            </p:nvSpPr>
            <p:spPr>
              <a:xfrm>
                <a:off x="4694737" y="4060184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66A88-A51E-62FF-22F3-306A5F60F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737" y="4060184"/>
                <a:ext cx="848882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>
            <a:extLst>
              <a:ext uri="{FF2B5EF4-FFF2-40B4-BE49-F238E27FC236}">
                <a16:creationId xmlns:a16="http://schemas.microsoft.com/office/drawing/2014/main" id="{0EA5E561-BC81-E045-30BD-476122B1049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86040" y="3811600"/>
            <a:ext cx="618550" cy="58881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CF07F69B-D8AD-2A3E-86AB-9BC8DA40DE1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5958"/>
          <a:stretch>
            <a:fillRect/>
          </a:stretch>
        </p:blipFill>
        <p:spPr>
          <a:xfrm>
            <a:off x="2384601" y="3773960"/>
            <a:ext cx="634128" cy="62645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50F50DA8-331A-BB07-606E-AC7A376DD50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49656" y="2872688"/>
            <a:ext cx="557240" cy="588812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1BEF1A92-4404-D2B5-A3B5-314130E7365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39468" y="4741996"/>
            <a:ext cx="598248" cy="609913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oscillator rotates position into momentum. A quarter turn is the Fourier transform; a half turn is the image, inverted.</a:t>
            </a:r>
          </a:p>
        </p:txBody>
      </p:sp>
      <p:pic>
        <p:nvPicPr>
          <p:cNvPr id="3" name="3d_well_sim_horse.mp4">
            <a:hlinkClick r:id="" action="ppaction://media"/>
            <a:extLst>
              <a:ext uri="{FF2B5EF4-FFF2-40B4-BE49-F238E27FC236}">
                <a16:creationId xmlns:a16="http://schemas.microsoft.com/office/drawing/2014/main" id="{EBDF85FA-01DD-F35F-7207-59DC5B0950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7373732" y="2347354"/>
            <a:ext cx="4282073" cy="34256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9A2E77-A6C3-F234-10FC-E4681C0F66D5}"/>
                  </a:ext>
                </a:extLst>
              </p:cNvPr>
              <p:cNvSpPr txBox="1"/>
              <p:nvPr/>
            </p:nvSpPr>
            <p:spPr>
              <a:xfrm>
                <a:off x="4388206" y="3485923"/>
                <a:ext cx="55699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9A2E77-A6C3-F234-10FC-E4681C0F6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206" y="3485923"/>
                <a:ext cx="556994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D3C439-8CA6-3797-5F30-D7ED0D97986B}"/>
                  </a:ext>
                </a:extLst>
              </p:cNvPr>
              <p:cNvSpPr txBox="1"/>
              <p:nvPr/>
            </p:nvSpPr>
            <p:spPr>
              <a:xfrm>
                <a:off x="2886360" y="2390852"/>
                <a:ext cx="1483832" cy="318998"/>
              </a:xfrm>
              <a:prstGeom prst="rect">
                <a:avLst/>
              </a:prstGeom>
              <a:solidFill>
                <a:schemeClr val="bg1"/>
              </a:solidFill>
              <a:effectLst>
                <a:softEdge rad="31750"/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GB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GB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/2)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sz="1400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D3C439-8CA6-3797-5F30-D7ED0D979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6360" y="2390852"/>
                <a:ext cx="1483832" cy="318998"/>
              </a:xfrm>
              <a:prstGeom prst="rect">
                <a:avLst/>
              </a:prstGeom>
              <a:blipFill>
                <a:blip r:embed="rId17"/>
                <a:stretch>
                  <a:fillRect t="-11538" b="-7692"/>
                </a:stretch>
              </a:blipFill>
              <a:effectLst>
                <a:softEdge rad="3175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81E17F6-3FC1-AC61-3F2D-E41D8E0DC8CE}"/>
                  </a:ext>
                </a:extLst>
              </p:cNvPr>
              <p:cNvSpPr txBox="1"/>
              <p:nvPr/>
            </p:nvSpPr>
            <p:spPr>
              <a:xfrm>
                <a:off x="931167" y="4110702"/>
                <a:ext cx="1390609" cy="318998"/>
              </a:xfrm>
              <a:prstGeom prst="rect">
                <a:avLst/>
              </a:prstGeom>
              <a:solidFill>
                <a:schemeClr val="bg1"/>
              </a:solidFill>
              <a:effectLst>
                <a:softEdge rad="31750"/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GB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sz="1400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81E17F6-3FC1-AC61-3F2D-E41D8E0DC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167" y="4110702"/>
                <a:ext cx="1390609" cy="318998"/>
              </a:xfrm>
              <a:prstGeom prst="rect">
                <a:avLst/>
              </a:prstGeom>
              <a:blipFill>
                <a:blip r:embed="rId18"/>
                <a:stretch>
                  <a:fillRect t="-7692" b="-7692"/>
                </a:stretch>
              </a:blipFill>
              <a:effectLst>
                <a:softEdge rad="3175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F5D2022-D026-BD2A-B26A-C9E3EF017244}"/>
                  </a:ext>
                </a:extLst>
              </p:cNvPr>
              <p:cNvSpPr txBox="1"/>
              <p:nvPr/>
            </p:nvSpPr>
            <p:spPr>
              <a:xfrm>
                <a:off x="2949865" y="5553984"/>
                <a:ext cx="1390609" cy="318998"/>
              </a:xfrm>
              <a:prstGeom prst="rect">
                <a:avLst/>
              </a:prstGeom>
              <a:solidFill>
                <a:schemeClr val="bg1"/>
              </a:solidFill>
              <a:effectLst>
                <a:softEdge rad="31750"/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GB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GB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/2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sz="1400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F5D2022-D026-BD2A-B26A-C9E3EF017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865" y="5553984"/>
                <a:ext cx="1390609" cy="318998"/>
              </a:xfrm>
              <a:prstGeom prst="rect">
                <a:avLst/>
              </a:prstGeom>
              <a:blipFill>
                <a:blip r:embed="rId19"/>
                <a:stretch>
                  <a:fillRect t="-11538" b="-7692"/>
                </a:stretch>
              </a:blipFill>
              <a:effectLst>
                <a:softEdge rad="3175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0957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36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18F47-9B05-6510-F1D1-6EA9D999E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9BFD10F-9988-9506-9034-9C2C63BC45E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 Forward Euler.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9BFD10F-9988-9506-9034-9C2C63BC45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930" t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835B1EA-DB27-9A7C-1DE7-942845749A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Computing the exponential of a matrix is hard. Taking the taylor expansion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)=1+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2!</m:t>
                          </m:r>
                        </m:den>
                      </m:f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Truncating at first order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(1+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Rearranging we observe this is simply the forward Euler method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ˆ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to be sufficiently small for stability.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835B1EA-DB27-9A7C-1DE7-942845749A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  <a:blipFill>
                <a:blip r:embed="rId3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One line of code and it works — until it does not. Only conditionally stable, and it quietly leaks probability at every step.</a:t>
            </a:r>
          </a:p>
        </p:txBody>
      </p:sp>
    </p:spTree>
    <p:extLst>
      <p:ext uri="{BB962C8B-B14F-4D97-AF65-F5344CB8AC3E}">
        <p14:creationId xmlns:p14="http://schemas.microsoft.com/office/powerpoint/2010/main" val="28758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ADB29-5809-E687-5EA9-85E502970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56EF0F-8F74-CDF8-2087-3A411289EC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 Crank Nicolson.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56EF0F-8F74-CDF8-2087-3A411289EC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930" t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37BFC8-DF7F-D618-5C49-3E20513387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1"/>
                <a:ext cx="10515600" cy="4691963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dirty="0" err="1"/>
                  <a:t>taylor</a:t>
                </a:r>
                <a:r>
                  <a:rPr lang="en-US" dirty="0"/>
                  <a:t> series can be approximated using rational function know as a Pade approximant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)=1+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2!</m:t>
                          </m:r>
                        </m:den>
                      </m:f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⋯≈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gives the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Rearranging we observe this is simply the Crank Nicolson/ Cayley method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1+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is stable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but requires an implicit solve and is second order accurate.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37BFC8-DF7F-D618-5C49-3E20513387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1"/>
                <a:ext cx="10515600" cy="4691963"/>
              </a:xfrm>
              <a:blipFill>
                <a:blip r:embed="rId3"/>
                <a:stretch>
                  <a:fillRect l="-724" t="-2426" b="-5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Second-order accurate and stable at any Δt, but you pay for it: every step now needs an implicit solve.</a:t>
            </a:r>
          </a:p>
        </p:txBody>
      </p:sp>
    </p:spTree>
    <p:extLst>
      <p:ext uri="{BB962C8B-B14F-4D97-AF65-F5344CB8AC3E}">
        <p14:creationId xmlns:p14="http://schemas.microsoft.com/office/powerpoint/2010/main" val="1360351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F0D76-2CAC-FA33-3DE0-03484DBD3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1922C-ACC3-D3C6-7AFC-080D1CA7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Exponential of a diagonal operator</a:t>
            </a:r>
            <a:br>
              <a:rPr lang="en-US" dirty="0"/>
            </a:b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18957B-AC4F-55DB-B1ED-4880E45F2C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exponential of a diagonal matrix is simply the exponential of it’s diagonal components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/>
                                  <m:e/>
                                </m:mr>
                                <m:mr>
                                  <m:e/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/>
                                </m:mr>
                                <m:mr>
                                  <m:e/>
                                  <m:e/>
                                  <m:e>
                                    <m:sSub>
                                      <m:sSubPr>
                                        <m:ctrl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N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sSub>
                                  <m:sSubPr>
                                    <m:ctrl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/>
                              <m:e/>
                            </m:mr>
                            <m:mr>
                              <m:e/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/>
                            </m:mr>
                            <m:mr>
                              <m:e/>
                              <m:e/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sSub>
                                  <m:sSubPr>
                                    <m:ctrl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Hence, if we can diagonalize a matrix say via an eigenvalue decomposition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iT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iK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F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(Equivalent to Taylor series definition – can be shown via substitution).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18957B-AC4F-55DB-B1ED-4880E45F2C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  <a:blipFill>
                <a:blip r:embed="rId2"/>
                <a:stretch>
                  <a:fillRect l="-1089" t="-2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In the right basis the exponential is free — exponentiate the eigenvalues, not the matrix.</a:t>
            </a:r>
          </a:p>
        </p:txBody>
      </p:sp>
    </p:spTree>
    <p:extLst>
      <p:ext uri="{BB962C8B-B14F-4D97-AF65-F5344CB8AC3E}">
        <p14:creationId xmlns:p14="http://schemas.microsoft.com/office/powerpoint/2010/main" val="747108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166C-AFB5-D442-5741-4A6DFA86E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2BF185A-66EE-6777-A5C3-D1417F90B98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 Operator Splitting.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2BF185A-66EE-6777-A5C3-D1417F90B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930" t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DA14EB1-4431-DB76-2572-3BD404D48A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Recall our Hamiltonian </a:t>
                </a: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</m:d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Hence, we can write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acc>
                        <m:accPr>
                          <m:chr m:val="ˆ"/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1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))≈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GB" dirty="0"/>
                  <a:t>The potential operator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acts on position so is diagonal, and the kinetic operator is dense but given we applied periodic boundary condition it is diagonal in Fourier space. This method has a first order commutator error dependent on step size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 Hence, we can compute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iK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stable and unitary for all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DA14EB1-4431-DB76-2572-3BD404D48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  <a:blipFill>
                <a:blip r:embed="rId3"/>
                <a:stretch>
                  <a:fillRect l="-1089" t="-2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V is diagonal in position, T is diagonal in momentum. FFT between the two and each half is free. This is the method we actually ship.</a:t>
            </a:r>
          </a:p>
        </p:txBody>
      </p:sp>
    </p:spTree>
    <p:extLst>
      <p:ext uri="{BB962C8B-B14F-4D97-AF65-F5344CB8AC3E}">
        <p14:creationId xmlns:p14="http://schemas.microsoft.com/office/powerpoint/2010/main" val="4062326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F0EBF-281B-6729-4CA9-3C94D9B6E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9729CEE-4034-4D97-22E3-526FDF5BE18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exactly (to machine precision)? Arnoldi Iteration.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9729CEE-4034-4D97-22E3-526FDF5BE1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171" t="-2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2AC80-2408-9A60-98FC-6A5B3BF16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10512"/>
            <a:ext cx="10515600" cy="731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0" i="0" dirty="0">
                <a:solidFill>
                  <a:srgbClr val="413A55"/>
                </a:solidFill>
                <a:latin typeface="Calibri"/>
              </a:rPr>
              <a:t>We project the Hamiltonian operator into a smaller space to capture low frequency components of the operator applied to the initial state</a:t>
            </a:r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D53CADA5-30AC-958D-29FF-B484D4AB21BA}"/>
              </a:ext>
            </a:extLst>
          </p:cNvPr>
          <p:cNvGrpSpPr/>
          <p:nvPr/>
        </p:nvGrpSpPr>
        <p:grpSpPr>
          <a:xfrm>
            <a:off x="1042416" y="2707282"/>
            <a:ext cx="2682865" cy="1732617"/>
            <a:chOff x="977158" y="2707282"/>
            <a:chExt cx="4085475" cy="2778335"/>
          </a:xfrm>
        </p:grpSpPr>
        <p:pic>
          <p:nvPicPr>
            <p:cNvPr id="7" name="Picture 2 1 2" descr="organic blob shapes hand drawn illustration 9668831 PNG">
              <a:extLst>
                <a:ext uri="{FF2B5EF4-FFF2-40B4-BE49-F238E27FC236}">
                  <a16:creationId xmlns:a16="http://schemas.microsoft.com/office/drawing/2014/main" id="{B5BC9808-919D-4B85-AAE5-507D8FF7B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>
              <a:off x="2250896" y="2707282"/>
              <a:ext cx="2057546" cy="2059457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8" name="TextBox 20">
              <a:extLst>
                <a:ext uri="{FF2B5EF4-FFF2-40B4-BE49-F238E27FC236}">
                  <a16:creationId xmlns:a16="http://schemas.microsoft.com/office/drawing/2014/main" id="{46B390D1-699D-4339-B912-980352D8E601}"/>
                </a:ext>
              </a:extLst>
            </p:cNvPr>
            <p:cNvSpPr txBox="1"/>
            <p:nvPr/>
          </p:nvSpPr>
          <p:spPr>
            <a:xfrm>
              <a:off x="977158" y="5023956"/>
              <a:ext cx="4085475" cy="46166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1440" tIns="45720" rIns="91440" bIns="4572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300" b="0" i="0" u="none" strike="noStrike" kern="1200" cap="none" spc="0" baseline="0" dirty="0">
                  <a:solidFill>
                    <a:srgbClr val="6E6684"/>
                  </a:solidFill>
                  <a:uFillTx/>
                  <a:latin typeface="Calibri" pitchFamily="2"/>
                  <a:ea typeface="CMU Bright" pitchFamily="2"/>
                  <a:cs typeface="CMU Bright" pitchFamily="2"/>
                </a:rPr>
                <a:t>All possible states</a:t>
              </a:r>
              <a:endParaRPr lang="nl-NL" sz="2400" b="0" i="0" u="none" strike="noStrike" kern="1200" cap="none" spc="0" baseline="0" dirty="0">
                <a:solidFill>
                  <a:srgbClr val="000000"/>
                </a:solidFill>
                <a:uFillTx/>
                <a:latin typeface="CMU Bright" pitchFamily="2"/>
                <a:ea typeface="CMU Bright" pitchFamily="2"/>
                <a:cs typeface="CMU Bright" pitchFamily="2"/>
              </a:endParaRPr>
            </a:p>
          </p:txBody>
        </p:sp>
        <p:pic>
          <p:nvPicPr>
            <p:cNvPr id="9" name="Picture 23">
              <a:extLst>
                <a:ext uri="{FF2B5EF4-FFF2-40B4-BE49-F238E27FC236}">
                  <a16:creationId xmlns:a16="http://schemas.microsoft.com/office/drawing/2014/main" id="{2E1349FE-0D22-3405-B881-DBC5D2C95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82644" y="3459522"/>
              <a:ext cx="594039" cy="365567"/>
            </a:xfrm>
            <a:prstGeom prst="rect">
              <a:avLst/>
            </a:prstGeom>
            <a:noFill/>
            <a:ln cap="flat">
              <a:noFill/>
            </a:ln>
          </p:spPr>
        </p:pic>
      </p:grpSp>
      <p:sp>
        <p:nvSpPr>
          <p:cNvPr id="10" name="TextBox 25">
            <a:extLst>
              <a:ext uri="{FF2B5EF4-FFF2-40B4-BE49-F238E27FC236}">
                <a16:creationId xmlns:a16="http://schemas.microsoft.com/office/drawing/2014/main" id="{E2D4E5D6-F426-A265-D452-077B78AA9965}"/>
              </a:ext>
            </a:extLst>
          </p:cNvPr>
          <p:cNvSpPr txBox="1"/>
          <p:nvPr/>
        </p:nvSpPr>
        <p:spPr>
          <a:xfrm>
            <a:off x="3443674" y="4122009"/>
            <a:ext cx="2652326" cy="29238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u="none" strike="noStrike" kern="1200" cap="none" spc="0" baseline="0" dirty="0">
                <a:solidFill>
                  <a:srgbClr val="6E6684"/>
                </a:solidFill>
                <a:uFillTx/>
                <a:latin typeface="Calibri" pitchFamily="2"/>
                <a:ea typeface="CMU Bright" pitchFamily="2"/>
                <a:cs typeface="CMU Bright" pitchFamily="2"/>
              </a:rPr>
              <a:t>A subset</a:t>
            </a:r>
            <a:r>
              <a:rPr lang="en-US" sz="1300" b="0" i="0" u="none" strike="noStrike" kern="1200" cap="none" spc="0" dirty="0">
                <a:solidFill>
                  <a:srgbClr val="6E6684"/>
                </a:solidFill>
                <a:uFillTx/>
                <a:latin typeface="Calibri" pitchFamily="2"/>
                <a:ea typeface="CMU Bright" pitchFamily="2"/>
                <a:cs typeface="CMU Bright" pitchFamily="2"/>
              </a:rPr>
              <a:t> of low frequency states</a:t>
            </a:r>
            <a:endParaRPr lang="en-US" sz="1300" kern="0" dirty="0">
              <a:solidFill>
                <a:srgbClr val="6E6684"/>
              </a:solidFill>
              <a:latin typeface="Calibri" pitchFamily="2"/>
              <a:ea typeface="CMU Bright" pitchFamily="2"/>
              <a:cs typeface="CMU Bright" pitchFamily="2"/>
            </a:endParaRPr>
          </a:p>
        </p:txBody>
      </p:sp>
      <p:grpSp>
        <p:nvGrpSpPr>
          <p:cNvPr id="11" name="Group 5">
            <a:extLst>
              <a:ext uri="{FF2B5EF4-FFF2-40B4-BE49-F238E27FC236}">
                <a16:creationId xmlns:a16="http://schemas.microsoft.com/office/drawing/2014/main" id="{04AF971E-6CAC-F317-E37B-A426E265C439}"/>
              </a:ext>
            </a:extLst>
          </p:cNvPr>
          <p:cNvGrpSpPr/>
          <p:nvPr/>
        </p:nvGrpSpPr>
        <p:grpSpPr>
          <a:xfrm>
            <a:off x="4039560" y="2782403"/>
            <a:ext cx="1356399" cy="1284312"/>
            <a:chOff x="7876193" y="2707282"/>
            <a:chExt cx="2057546" cy="2059457"/>
          </a:xfrm>
        </p:grpSpPr>
        <p:pic>
          <p:nvPicPr>
            <p:cNvPr id="12" name="Picture 2 1 1" descr="organic blob shapes hand drawn illustration 9668831 PNG">
              <a:extLst>
                <a:ext uri="{FF2B5EF4-FFF2-40B4-BE49-F238E27FC236}">
                  <a16:creationId xmlns:a16="http://schemas.microsoft.com/office/drawing/2014/main" id="{FEC95126-C3AA-6194-4C71-773CC1382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>
              <a:off x="7876193" y="2707282"/>
              <a:ext cx="2057546" cy="2059457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13" name="Picture 2 3" descr="organic blob shapes hand drawn illustration 9668831 PNG">
              <a:extLst>
                <a:ext uri="{FF2B5EF4-FFF2-40B4-BE49-F238E27FC236}">
                  <a16:creationId xmlns:a16="http://schemas.microsoft.com/office/drawing/2014/main" id="{77B130DD-0D95-DE79-A93E-4F1D24A41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>
            <a:xfrm rot="6207436">
              <a:off x="8085998" y="3750269"/>
              <a:ext cx="895636" cy="896468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14" name="Picture 41">
              <a:extLst>
                <a:ext uri="{FF2B5EF4-FFF2-40B4-BE49-F238E27FC236}">
                  <a16:creationId xmlns:a16="http://schemas.microsoft.com/office/drawing/2014/main" id="{BD6B3404-619C-6F8E-058D-FB86C81F9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340416" y="4033500"/>
              <a:ext cx="433846" cy="329997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15" name="Picture 37">
              <a:extLst>
                <a:ext uri="{FF2B5EF4-FFF2-40B4-BE49-F238E27FC236}">
                  <a16:creationId xmlns:a16="http://schemas.microsoft.com/office/drawing/2014/main" id="{0D6D9A50-3FD6-E105-8EA8-CE28C9FD4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11379" y="3060670"/>
              <a:ext cx="594039" cy="365567"/>
            </a:xfrm>
            <a:prstGeom prst="rect">
              <a:avLst/>
            </a:prstGeom>
            <a:noFill/>
            <a:ln cap="flat">
              <a:noFill/>
            </a:ln>
          </p:spPr>
        </p:pic>
      </p:grpSp>
      <p:sp>
        <p:nvSpPr>
          <p:cNvPr id="16" name="Rounded Rectangle 15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Build a small Krylov basis, exponentiate the little matrix exactly, project back. Accuracy without shrinking Δt.</a:t>
            </a:r>
          </a:p>
        </p:txBody>
      </p:sp>
    </p:spTree>
    <p:extLst>
      <p:ext uri="{BB962C8B-B14F-4D97-AF65-F5344CB8AC3E}">
        <p14:creationId xmlns:p14="http://schemas.microsoft.com/office/powerpoint/2010/main" val="3937620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80160" y="23317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PART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Python toolbox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79476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BEE4"/>
                </a:solidFill>
                <a:latin typeface="Calibri"/>
              </a:rPr>
              <a:t>uv · ruff · ty · pre-commit · array-api-compat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The toolchain at a glance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Four of these keep the repo honest. The fifth is what lets the same maths run on a laptop CPU and on a GPU.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920240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" y="2093976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42416" y="2176272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206654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uv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235000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Project, interpreter, dependencies, lockfile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3448" y="2176272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uv sync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2416" y="2944368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42416" y="3026664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29169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ruff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8488" y="32004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Linter and formatter — replaces flake8, isort, 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3448" y="3026664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ruff check --fix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621024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2416" y="3794760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3877056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1B0C41"/>
                </a:solidFill>
                <a:latin typeface="Cambria"/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37673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8488" y="405079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Type checker, same team, same speed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877056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ty check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471416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42416" y="4645152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6" y="4727448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8488" y="46177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pre-commit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8488" y="4901184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Runs all of the above on every commit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4727448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pre-commit install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321808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42416" y="5495544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2416" y="5577840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18488" y="5468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array-api-compat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18488" y="575157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One algorithm; NumPy, PyTorch or CuPy underneath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3448" y="557784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xp = array_namespace(psi)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uv — the project, the Python, and the lockfile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git clone → uv sync → running. One binary replaces pip, pip-tools, pipx, virtualenv, pyenv and poetry.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720840" cy="260604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6318503" cy="15004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init</a:t>
            </a:r>
            <a:r>
              <a:rPr lang="en-GB" sz="1250" dirty="0">
                <a:solidFill>
                  <a:srgbClr val="E8E1F5"/>
                </a:solidFill>
                <a:latin typeface="Courier New"/>
              </a:rPr>
              <a:t> --package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toolbox-talk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# </a:t>
            </a:r>
            <a:r>
              <a:rPr sz="1250" b="0" i="0" dirty="0" err="1">
                <a:solidFill>
                  <a:srgbClr val="9C8FC0"/>
                </a:solidFill>
                <a:latin typeface="Courier New"/>
              </a:rPr>
              <a:t>pyproject.toml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, .</a:t>
            </a:r>
            <a:r>
              <a:rPr sz="1250" b="0" i="0" dirty="0" err="1">
                <a:solidFill>
                  <a:srgbClr val="9C8FC0"/>
                </a:solidFill>
                <a:latin typeface="Courier New"/>
              </a:rPr>
              <a:t>venv</a:t>
            </a:r>
            <a:endParaRPr sz="1250" b="0" i="0" dirty="0">
              <a:solidFill>
                <a:srgbClr val="9C8FC0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endParaRPr lang="en-GB" sz="1250" b="0" i="0" dirty="0">
              <a:solidFill>
                <a:srgbClr val="DE4968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add 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numpy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matplotlib array-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api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-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compat</a:t>
            </a:r>
            <a:endParaRPr sz="12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add --dev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ty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pre-commit</a:t>
            </a:r>
          </a:p>
          <a:p>
            <a:pPr>
              <a:spcAft>
                <a:spcPts val="150"/>
              </a:spcAft>
            </a:pPr>
            <a:r>
              <a:rPr lang="en-GB" sz="1250" dirty="0">
                <a:solidFill>
                  <a:srgbClr val="DE4968"/>
                </a:solidFill>
                <a:latin typeface="Courier New"/>
              </a:rPr>
              <a:t>$</a:t>
            </a:r>
            <a:endParaRPr sz="12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sync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             # exact env from </a:t>
            </a:r>
            <a:r>
              <a:rPr sz="1250" b="0" i="0" dirty="0" err="1">
                <a:solidFill>
                  <a:srgbClr val="9C8FC0"/>
                </a:solidFill>
                <a:latin typeface="Courier New"/>
              </a:rPr>
              <a:t>uv.lock</a:t>
            </a:r>
            <a:endParaRPr sz="1250" b="0" i="0" dirty="0">
              <a:solidFill>
                <a:srgbClr val="9C8FC0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check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</a:t>
            </a:r>
            <a:r>
              <a:rPr lang="en-GB" sz="1250" b="0" i="0" dirty="0">
                <a:solidFill>
                  <a:srgbClr val="9C8FC0"/>
                </a:solidFill>
                <a:latin typeface="Courier New"/>
              </a:rPr>
              <a:t>.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     # run a tool, install nothing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553712"/>
            <a:ext cx="6720840" cy="160020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6" y="46725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pyproject.toml — written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4956048"/>
            <a:ext cx="6318503" cy="1069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[project]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dependencies = [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"numpy"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"matplotlib"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"array-api-compat"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]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[dependency-groups]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dev = [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"ruff"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"ty"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"pre-commit"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7848" y="1970532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02168" y="18745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Resolves and installs 10–100× faster than pip — fast enough that deleting .venv stops being scary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7848" y="3048762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02168" y="295275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uv.lock is universal: the same resolution on my Mac and on the CI runner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7848" y="3912679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381666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uv run activates nothing and forgets nothing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7848" y="4562284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02168" y="44662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It manages the interpreter too, so “which Python?” stops being a question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ruff — lint and format in one pass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formatter is not configurable enough to argue about, which is the entire point.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035040" cy="214884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56327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pyproject.toml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5632703" cy="1618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FE9F6D"/>
                </a:solidFill>
                <a:latin typeface="Courier New"/>
              </a:rPr>
              <a:t>[tool.ruff]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line-length = 88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target-version =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"py313"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FE9F6D"/>
                </a:solidFill>
                <a:latin typeface="Courier New"/>
              </a:rPr>
              <a:t>[tool.ruff.lint]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select = [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"E"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"F"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"I"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"UP"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"B"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"NPY"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"SIM"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187952"/>
            <a:ext cx="6035040" cy="118872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6" y="4306824"/>
            <a:ext cx="56327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TERMINAL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4590288"/>
            <a:ext cx="5632703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check</a:t>
            </a:r>
            <a:r>
              <a:rPr lang="en-GB" sz="1250" b="0" i="0" dirty="0">
                <a:solidFill>
                  <a:srgbClr val="E8E1F5"/>
                </a:solidFill>
                <a:latin typeface="Courier New"/>
              </a:rPr>
              <a:t> .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--fix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# lint, and fix what it can</a:t>
            </a: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format</a:t>
            </a:r>
            <a:r>
              <a:rPr lang="en-GB" sz="1250" b="0" i="0" dirty="0">
                <a:solidFill>
                  <a:srgbClr val="E8E1F5"/>
                </a:solidFill>
                <a:latin typeface="Courier New"/>
              </a:rPr>
              <a:t> .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  # formatting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2048" y="1970532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16368" y="187452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One tool instead of flake8 + isort + pyupgrade + pydocstyle + black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42048" y="2620137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16368" y="2524125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B0F70"/>
                </a:solidFill>
                <a:latin typeface="Calibri"/>
              </a:rPr>
              <a:t>NPY</a:t>
            </a:r>
            <a:r>
              <a:rPr sz="1350" b="0" i="0">
                <a:solidFill>
                  <a:srgbClr val="413A55"/>
                </a:solidFill>
                <a:latin typeface="Calibri"/>
              </a:rPr>
              <a:t> rules catch legacy NumPy patterns — useful when half the repo is array 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42048" y="3484054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16368" y="3388042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Fixes are applied, not just reported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4133659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16368" y="4037647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Fast enough to run on save, so the diff never contains formatting noise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ty — type checking without the wait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Types are documentation the machine checks — most valuable exactly where the array type has become a moving target.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720840" cy="242316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6318503" cy="1892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DE4968"/>
                </a:solidFill>
                <a:latin typeface="Courier New"/>
              </a:rPr>
              <a:t>$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E9F6D"/>
                </a:solidFill>
                <a:latin typeface="Courier New"/>
              </a:rPr>
              <a:t>uv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add --dev </a:t>
            </a:r>
            <a:r>
              <a:rPr sz="1200" b="0" i="0">
                <a:solidFill>
                  <a:srgbClr val="FE9F6D"/>
                </a:solidFill>
                <a:latin typeface="Courier New"/>
              </a:rPr>
              <a:t>ty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DE4968"/>
                </a:solidFill>
                <a:latin typeface="Courier New"/>
              </a:rPr>
              <a:t>$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E9F6D"/>
                </a:solidFill>
                <a:latin typeface="Courier New"/>
              </a:rPr>
              <a:t>ty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check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error[invalid-argument-type]: argument to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 `split_operator_step` is incorrect: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 expected `Array`, found `ndarray | None`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--&gt; src/toolbox_talk/physics.py:48:22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7848" y="1970532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02168" y="18745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Rust-based, 10–100× faster than mypy on a cold check, and incremental in the editor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7848" y="2834449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02168" y="273843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Beta on the 0.x line — pin the version anywhere it gates 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7848" y="3484054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02168" y="338804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Checks unannotated function bodies by default, unlike mypy: expect a pile of findings on day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7848" y="4562284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02168" y="44662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Gradual guarantee — annotating working code should not invent new errors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pre-commit — make it all automatic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point is not the hooks. The point is that nobody has to remember: the rules run themselves.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720840" cy="365760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.pre-commit-config.yaml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6318503" cy="3127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repos: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  - repo: https://github.com/astral-sh/ruff-pre-commit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    rev: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v0.x.y</a:t>
            </a:r>
            <a:r>
              <a:rPr sz="1150" b="0" i="0">
                <a:solidFill>
                  <a:srgbClr val="9C8FC0"/>
                </a:solidFill>
                <a:latin typeface="Courier New"/>
              </a:rPr>
              <a:t>          # pre-commit autoupdate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    hooks: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      - id: ruff-check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        args: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[--fix]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      - id: ruff-format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  - repo: local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    hooks: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      - id: ty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        name: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ty check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        entry: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uv run ty check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        language: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system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        types: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[python]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7848" y="1970532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02168" y="18745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B0F70"/>
                </a:solidFill>
                <a:latin typeface="Calibri"/>
              </a:rPr>
              <a:t>pre-commit install</a:t>
            </a:r>
            <a:r>
              <a:rPr sz="1350" b="0" i="0">
                <a:solidFill>
                  <a:srgbClr val="413A55"/>
                </a:solidFill>
                <a:latin typeface="Calibri"/>
              </a:rPr>
              <a:t> once — then every commit is linted, formatted and type-checked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7848" y="2834449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02168" y="273843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B0F70"/>
                </a:solidFill>
                <a:latin typeface="Calibri"/>
              </a:rPr>
              <a:t>pre-commit run --all-files</a:t>
            </a:r>
            <a:r>
              <a:rPr sz="1350" b="0" i="0">
                <a:solidFill>
                  <a:srgbClr val="413A55"/>
                </a:solidFill>
                <a:latin typeface="Calibri"/>
              </a:rPr>
              <a:t> for the first, big cleanup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7848" y="3484054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02168" y="338804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The same config runs in CI, so local and CI cannot disagree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7848" y="4133659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02168" y="403764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autoupdate bumps the pinned tool versions for you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array-api-compat — one algorithm, every backend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maths never changes. Only the array you hand it does.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13432"/>
            <a:ext cx="3749039" cy="1371600"/>
          </a:xfrm>
          <a:prstGeom prst="roundRect">
            <a:avLst>
              <a:gd name="adj" fmla="val 5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587752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CFDBF"/>
                </a:solidFill>
                <a:latin typeface="Courier New"/>
              </a:rPr>
              <a:t>split_operator_step()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9C8FC0"/>
                </a:solidFill>
                <a:latin typeface="Calibri"/>
              </a:rPr>
              <a:t>your maths, written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263347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3B0F70"/>
                </a:solidFill>
                <a:latin typeface="Courier New"/>
              </a:rPr>
              <a:t>array_namespace(psi)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64608" y="2944368"/>
            <a:ext cx="1463040" cy="201168"/>
          </a:xfrm>
          <a:prstGeom prst="rightArrow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647688" y="1901952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6812279" y="2048256"/>
            <a:ext cx="182880" cy="182880"/>
          </a:xfrm>
          <a:prstGeom prst="ellipse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50607" y="20208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NumPy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9488" y="203911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CPU, float64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47688" y="2468880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12279" y="2615184"/>
            <a:ext cx="182880" cy="182880"/>
          </a:xfrm>
          <a:prstGeom prst="ellipse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50607" y="25877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PyTorch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9488" y="26060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CPU / MPS / CUDA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47688" y="3035808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12279" y="3182112"/>
            <a:ext cx="182880" cy="182880"/>
          </a:xfrm>
          <a:prstGeom prst="ellipse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50607" y="31546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CuPy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9488" y="317296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CUDA, ROCm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47688" y="3602736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12279" y="3749039"/>
            <a:ext cx="182880" cy="182880"/>
          </a:xfrm>
          <a:prstGeom prst="ellipse">
            <a:avLst/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50607" y="372160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Dask, JAX, ndonnx, sparse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3739896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and the rest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325112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15568" y="4535424"/>
            <a:ext cx="146304" cy="14630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08176" y="448970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0C41"/>
                </a:solidFill>
                <a:latin typeface="Calibri"/>
              </a:rPr>
              <a:t>A common surface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4846320"/>
            <a:ext cx="28346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3A55"/>
                </a:solidFill>
                <a:latin typeface="Calibri"/>
              </a:rPr>
              <a:t>xp.exp, xp.abs, xp.fft.fft2 — the standard fixes the names and the semantics, so the algorithm reads the same everywhere.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07408" y="4325112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681728" y="4535424"/>
            <a:ext cx="146304" cy="14630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74336" y="448970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0C41"/>
                </a:solidFill>
                <a:latin typeface="Calibri"/>
              </a:rPr>
              <a:t>Seven backends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4846320"/>
            <a:ext cx="28346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3A55"/>
                </a:solidFill>
                <a:latin typeface="Calibri"/>
              </a:rPr>
              <a:t>NumPy, CuPy, PyTorch, Dask, JAX, ndonnx and sparse, all wrapped against the 2024.12 version of the spec.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325112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47888" y="4535424"/>
            <a:ext cx="146304" cy="146304"/>
          </a:xfrm>
          <a:prstGeom prst="rect">
            <a:avLst/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540496" y="448970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0C41"/>
                </a:solidFill>
                <a:latin typeface="Calibri"/>
              </a:rPr>
              <a:t>The data decides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846320"/>
            <a:ext cx="28346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3A55"/>
                </a:solidFill>
                <a:latin typeface="Calibri"/>
              </a:rPr>
              <a:t>The namespace comes from the array you were handed — so there is no global backend switch to get wrong.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The same step function, everywhere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Two characters change: np becomes xp — and xp comes from the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56229"/>
            <a:ext cx="5120640" cy="2903221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75103"/>
            <a:ext cx="47183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BEFORE — NUMPY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58568"/>
            <a:ext cx="5286195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import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numpy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>
                <a:solidFill>
                  <a:srgbClr val="FE9F6D"/>
                </a:solidFill>
                <a:latin typeface="Courier New"/>
              </a:rPr>
              <a:t>as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np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def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split_operator_step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(psi, V, K, dt):</a:t>
            </a:r>
          </a:p>
          <a:p>
            <a:r>
              <a:rPr lang="en-GB" sz="1150" b="0" i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Kinetic phase shift in momentum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psi = np.fft.ifft2(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(-1j * K * dt) 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* np.fft.fft2(psi))</a:t>
            </a:r>
          </a:p>
          <a:p>
            <a:endParaRPr lang="en-GB" sz="1150" dirty="0">
              <a:solidFill>
                <a:srgbClr val="E9E1F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Potential wave phase shift in real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FF9F6D"/>
                </a:solidFill>
                <a:latin typeface="Courier New"/>
              </a:rPr>
              <a:t>return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psi *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(1j * dt * V)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856230"/>
            <a:ext cx="5120640" cy="2903222"/>
          </a:xfrm>
          <a:prstGeom prst="roundRect">
            <a:avLst>
              <a:gd name="adj" fmla="val 4000"/>
            </a:avLst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37376" y="1975103"/>
            <a:ext cx="47183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AFTER — ANY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258568"/>
            <a:ext cx="4718303" cy="24545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from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array_api_compat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>
                <a:solidFill>
                  <a:srgbClr val="FE9F6D"/>
                </a:solidFill>
                <a:latin typeface="Courier New"/>
              </a:rPr>
              <a:t>import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array_namespace</a:t>
            </a:r>
            <a:endParaRPr sz="11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def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split_operator_step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(psi, V, K, dt):</a:t>
            </a:r>
            <a:r>
              <a:rPr lang="en-GB"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>
              <a:spcAft>
                <a:spcPts val="150"/>
              </a:spcAft>
            </a:pPr>
            <a:r>
              <a:rPr lang="en-GB" sz="11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Get the appropriate array namespace</a:t>
            </a:r>
            <a:endParaRPr sz="1150" b="0" i="0" dirty="0">
              <a:solidFill>
                <a:srgbClr val="E9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  </a:t>
            </a:r>
            <a:r>
              <a:rPr sz="1150" b="0" i="0" dirty="0" err="1">
                <a:solidFill>
                  <a:srgbClr val="E9E1F5"/>
                </a:solidFill>
                <a:latin typeface="Courier New"/>
              </a:rPr>
              <a:t>xp</a:t>
            </a:r>
            <a:r>
              <a:rPr sz="1150" b="0" i="0" dirty="0">
                <a:solidFill>
                  <a:srgbClr val="E9E1F5"/>
                </a:solidFill>
                <a:latin typeface="Courier New"/>
              </a:rPr>
              <a:t> = </a:t>
            </a:r>
            <a:r>
              <a:rPr sz="1150" b="0" i="0" dirty="0" err="1">
                <a:solidFill>
                  <a:srgbClr val="E9E1F5"/>
                </a:solidFill>
                <a:latin typeface="Courier New"/>
              </a:rPr>
              <a:t>array_namespace</a:t>
            </a:r>
            <a:r>
              <a:rPr sz="1150" b="0" i="0" dirty="0">
                <a:solidFill>
                  <a:srgbClr val="E9E1F5"/>
                </a:solidFill>
                <a:latin typeface="Courier New"/>
              </a:rPr>
              <a:t>(psi)</a:t>
            </a:r>
            <a:endParaRPr lang="en-GB" sz="1150" b="0" i="0" dirty="0">
              <a:solidFill>
                <a:srgbClr val="E9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endParaRPr sz="1150" b="0" i="0" dirty="0">
              <a:solidFill>
                <a:srgbClr val="E9E1F5"/>
              </a:solidFill>
              <a:latin typeface="Courier New"/>
            </a:endParaRPr>
          </a:p>
          <a:p>
            <a:r>
              <a:rPr sz="1150" b="0" i="0" dirty="0">
                <a:solidFill>
                  <a:srgbClr val="E9E1F5"/>
                </a:solidFill>
                <a:latin typeface="Courier New"/>
              </a:rPr>
              <a:t>    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Kinetic phase shift in momentum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psi = xp.fft.ifft2(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(-1j * K * dt) 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* xp.fft.fft2(psi))</a:t>
            </a:r>
          </a:p>
          <a:p>
            <a:endParaRPr lang="en-GB" sz="1150" dirty="0">
              <a:solidFill>
                <a:srgbClr val="E9E1F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Potential wave phase shift in real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FF9F6D"/>
                </a:solidFill>
                <a:latin typeface="Courier New"/>
              </a:rPr>
              <a:t>return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psi *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(1j * dt * V)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5038342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15568" y="494233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array-api-compat ships fft wrappers for NumPy, CuPy and PyTorch — which is the whole ballgame for a split-operator 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5633972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15568" y="5537959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 dirty="0">
                <a:solidFill>
                  <a:srgbClr val="413A55"/>
                </a:solidFill>
                <a:latin typeface="Calibri"/>
              </a:rPr>
              <a:t>No if backend == … branches in the physics: the backend lives at the edges, in 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get_initial_state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() and 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to_host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()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Where it actually runs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This is why torch is the GPU path on this laptop: CuPy has no Metal backend, and Metal has no float64.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856231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Device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On this Mac?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numpy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CPU, BLAS threads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Yes — the reference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torch (cpu)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Multithreaded CPU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torch (mps)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Apple GPU, Metal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complex64 only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Yes — the GPU path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torch (cuda)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NVIDIA GPU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No — other machine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cupy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NVIDIA GPU / ROCm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No — no Metal support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1248" y="4507992"/>
            <a:ext cx="6172200" cy="105156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42416" y="4626864"/>
            <a:ext cx="57698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THE ONE GOTCHA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4910328"/>
            <a:ext cx="5769864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# Metal has no FP64, so the Mac GPU path is single precision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real = torch.float32 </a:t>
            </a:r>
            <a:r>
              <a:rPr sz="1150" b="0" i="0">
                <a:solidFill>
                  <a:srgbClr val="FE9F6D"/>
                </a:solidFill>
                <a:latin typeface="Courier New"/>
              </a:rPr>
              <a:t>if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DEVICE ==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"mps"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>
                <a:solidFill>
                  <a:srgbClr val="FE9F6D"/>
                </a:solidFill>
                <a:latin typeface="Courier New"/>
              </a:rPr>
              <a:t>else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torch.float64</a:t>
            </a:r>
          </a:p>
        </p:txBody>
      </p:sp>
      <p:sp>
        <p:nvSpPr>
          <p:cNvPr id="9" name="Rectangle 8"/>
          <p:cNvSpPr/>
          <p:nvPr/>
        </p:nvSpPr>
        <p:spPr>
          <a:xfrm>
            <a:off x="7379208" y="4668012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53528" y="4571999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Same algorithm, same test suite, three devices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79208" y="5263641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53528" y="5167629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Move to a CUDA box and cupy joins the list — nothing in the physics changes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7772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10515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FFFFFF"/>
                </a:solidFill>
                <a:latin typeface="Cambria"/>
              </a:rPr>
              <a:t>What to </a:t>
            </a:r>
            <a:r>
              <a:rPr lang="en-GB" sz="3600" b="1" i="0" dirty="0">
                <a:solidFill>
                  <a:srgbClr val="FFFFFF"/>
                </a:solidFill>
                <a:latin typeface="Cambria"/>
              </a:rPr>
              <a:t>take</a:t>
            </a:r>
            <a:r>
              <a:rPr sz="3600" b="1" i="0" dirty="0">
                <a:solidFill>
                  <a:srgbClr val="FFFFFF"/>
                </a:solidFill>
                <a:latin typeface="Cambria"/>
              </a:rPr>
              <a:t> from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404872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61288" y="22860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uv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6088" y="2304288"/>
            <a:ext cx="5943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D8CFEC"/>
                </a:solidFill>
                <a:latin typeface="Calibri"/>
              </a:rPr>
              <a:t>A </a:t>
            </a:r>
            <a:r>
              <a:rPr lang="en-GB" sz="1500" b="0" i="0" dirty="0">
                <a:solidFill>
                  <a:srgbClr val="D8CFEC"/>
                </a:solidFill>
                <a:latin typeface="Calibri"/>
              </a:rPr>
              <a:t>creates </a:t>
            </a:r>
            <a:r>
              <a:rPr sz="1500" b="0" i="0" dirty="0">
                <a:solidFill>
                  <a:srgbClr val="D8CFEC"/>
                </a:solidFill>
                <a:latin typeface="Calibri"/>
              </a:rPr>
              <a:t>reproducible project</a:t>
            </a:r>
            <a:r>
              <a:rPr lang="en-GB" sz="1500" b="0" i="0" dirty="0">
                <a:solidFill>
                  <a:srgbClr val="D8CFEC"/>
                </a:solidFill>
                <a:latin typeface="Calibri"/>
              </a:rPr>
              <a:t> (quickly)</a:t>
            </a:r>
            <a:r>
              <a:rPr sz="1500" b="0" i="0" dirty="0">
                <a:solidFill>
                  <a:srgbClr val="D8CFEC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063239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61288" y="2944368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ruff + ty in pre-commit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088" y="2962656"/>
            <a:ext cx="5943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D8CFEC"/>
                </a:solidFill>
                <a:latin typeface="Calibri"/>
              </a:rPr>
              <a:t>The repo stays clean without </a:t>
            </a:r>
            <a:r>
              <a:rPr lang="en-GB" sz="1500" b="0" i="0" dirty="0">
                <a:solidFill>
                  <a:srgbClr val="D8CFEC"/>
                </a:solidFill>
                <a:latin typeface="Calibri"/>
              </a:rPr>
              <a:t>little effort</a:t>
            </a:r>
            <a:r>
              <a:rPr sz="1500" b="0" i="0" dirty="0">
                <a:solidFill>
                  <a:srgbClr val="D8CFEC"/>
                </a:solidFill>
                <a:latin typeface="Calibr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721607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61288" y="3602735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xp = array_namespace(psi)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088" y="3621023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D8CFEC"/>
                </a:solidFill>
                <a:latin typeface="Calibri"/>
              </a:rPr>
              <a:t>Your maths outlives your hardware.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379975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61288" y="4261103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Split-operator + FFT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4279391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D8CFEC"/>
                </a:solidFill>
                <a:latin typeface="Calibri"/>
              </a:rPr>
              <a:t>Six lines, exactly unitary, and the horse comes back.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6235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  <a:latin typeface="Calibri"/>
              </a:rPr>
              <a:t>Questions — and the repo is yours to clone.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</TotalTime>
  <Words>2462</Words>
  <Application>Microsoft Macintosh PowerPoint</Application>
  <PresentationFormat>Widescreen</PresentationFormat>
  <Paragraphs>302</Paragraphs>
  <Slides>22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</vt:lpstr>
      <vt:lpstr>Cambria Math</vt:lpstr>
      <vt:lpstr>CMU Bright</vt:lpstr>
      <vt:lpstr>Courier New</vt:lpstr>
      <vt:lpstr>Office Theme</vt:lpstr>
      <vt:lpstr>PowerPoint Presentation</vt:lpstr>
      <vt:lpstr>PowerPoint Presentation</vt:lpstr>
      <vt:lpstr>Our goal: turn Schrödinger's horse upside down — and back again</vt:lpstr>
      <vt:lpstr>PowerPoint Presentation</vt:lpstr>
      <vt:lpstr>Using the Schrödinger Equation</vt:lpstr>
      <vt:lpstr>Solution to equations</vt:lpstr>
      <vt:lpstr>Solution to equations: A rotation in phase space</vt:lpstr>
      <vt:lpstr>How to compute exp(iH ˆt)? Forward Euler. </vt:lpstr>
      <vt:lpstr>How to compute exp(iH ˆt)? Crank Nicolson. </vt:lpstr>
      <vt:lpstr>Exponential of a diagonal operator </vt:lpstr>
      <vt:lpstr>How to compute exp(iH ˆt)? Operator Splitting. </vt:lpstr>
      <vt:lpstr>How to compute exp(iH ˆt)exactly (to machine precision)? Arnoldi Iteration.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Bryce Shirley</dc:creator>
  <cp:lastModifiedBy>Bryce Shirley</cp:lastModifiedBy>
  <cp:revision>2</cp:revision>
  <dcterms:created xsi:type="dcterms:W3CDTF">2026-08-10T15:09:54Z</dcterms:created>
  <dcterms:modified xsi:type="dcterms:W3CDTF">2026-08-10T22:32:57Z</dcterms:modified>
</cp:coreProperties>
</file>